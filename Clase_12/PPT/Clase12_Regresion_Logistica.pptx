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46"/>
    <p:restoredTop sz="94610"/>
  </p:normalViewPr>
  <p:slideViewPr>
    <p:cSldViewPr snapToGrid="0" snapToObjects="1">
      <p:cViewPr varScale="1">
        <p:scale>
          <a:sx n="226" d="100"/>
          <a:sy n="226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3388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Arranca con la conexión: 'la clase pasada predijimos cuántos días. Hoy predecimos sí o no: ¿entra en mora? ¿es fraude? ¿sobrevivió?'. Y menciona de entrada que este es el modelo de los scorecards, porque engancha a cualquiera que trabaje en riesgo. Avisa también de que los datos de hoy son los del proyecto final, así que conviene conocerlos bien.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tabla se lee de arriba abajo en un minuto. La fila que hay que subrayar es la última: en la regresión lineal no había nada que decidir; aquí sí, y esa decisión es de negocio. Es el bloque 4 y el más importante de la sesión.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vas retrasado, el bloque 5 (ROC) se puede comprimir a tres minutos: basta con el número del AUC y su interpretación. El bloque 4 no se toca.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tasas crudas son el ancla de toda la clase: 74 contra 19 es una diferencia enorme y se ve sin estadística. Pregunta al grupo por qué creen que pasó eso: sale solo lo de 'mujeres y niños primero', y sirve para recordar que el modelo describe lo que pasó, no explica por qué.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Empieza preguntando: '¿por qué no usamos simplemente la recta de la clase pasada? Survived vale 0 o 1, es un número'. Es una pregunta razonable y merece una respuesta concreta, no un 'porque no se hace'. El caso del hombre de 74 años con probabilidad −14 % es el argumento. Y el remate importa: en la Clase 10 el problema aparecía al extrapolar; aquí aparece con datos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importante conceptualmente: la parte de z es la MISMA recta de la clase pasada. Lo único nuevo es la función que la envuelve. Si alguien pregunta de dónde sale la fórmula, la respuesta honesta para esta clase es: es la función más simple que cumple las tres propiedades de abajo. La derivación formal viene de las odds, y se ve en la slide siguiente.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odds son la idea que cuesta, y la analogía de las apuestas ayuda: en el fútbol se dice '3 a 1', no '75 %'. Es la misma información expresada distinto. La tarjeta de abajo hay que decirla despacio y con las dos frases en voz alta: la diferencia entre 12 veces más odds y 12 veces más probable es enorme, y se confunde constantemente en informes.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OR de 12.4 para el sexo es el número que se van a llevar de la clase. La nota del pie es importante porque van a comparar con statsmodels en algún momento y no van a cuadrar: sklearn aplica regularización L2 por defecto y encoge un poco los coeficientes. Con penalty=None se obtienen los mismos que statsmodels.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Dibuja la matriz en la pizarra antes de mostrarla: las cuatro casillas y qué significa cada una. La tarjeta magenta es la más importante de la slide y la que más se olvida en informes: una exactitud del 77 % suena bien hasta que sabes que la regla trivial da 62 %. En problemas desbalanceados —fraude, mora— eso es aún más brutal: si el 2 % es fraude, decir 'no es fraude' siempre acierta el 98 %.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 las dos últimas columnas con el puntero, de arriba abajo: una baja, la otra sube. Siempre. Y después la pregunta que abre el debate: '¿cuál elegirían ustedes?'. La respuesta correcta es 'depende', y la slide siguiente lo aterriza con dos escenarios de su trabajo.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es la que más conecta con su trabajo. Pregunta si alguien tiene un umbral en producción y si sabe quién lo eligió y con qué criterio. Casi siempre la respuesta es que se heredó, igual que las pruebas de la Clase 6. La frase final es la que quiero que se lleven: el analista aporta la curva, el negocio elige el punto. Eso también protege al analista: la elección del umbral no debería ser suya en solitario.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más valioso del AUC es su interpretación probabilística, que casi nadie conoce: es la probabilidad de que el modelo ordene correctamente a un par al azar. Y la ventaja práctica: NO depende del umbral, así que sirve para comparar modelos entre sí. Sobre el '&gt; 0.9 sospechoso': con datos reales de riesgo, un AUC de 0.95 casi siempre significa que se coló una variable que no debería estar, algo que ya contiene la respuesta.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primero merece énfasis extra con un ejemplo de su mundo: en detección de fraude el desbalance es de 1 a 50 o peor, así que la exactitud es una métrica engañosa por construcción. Por eso en fraude se reportan recall y precisión, no exactitud.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paso 3 es el que más se salta: mucha gente usa predict() directamente y se pierde el control del umbral. predict() es equivalente a predict_proba con umbral 0.5, y eso hay que saberlo. El paso 6 va en magenta porque es el único que no es técnico.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apéndice de iris es opcional y se puede dejar como tarea: son 5 minutos y muestra que la logística también hace multiclase. Recorre el aula durante el bloque 2: las odds son lo que más cuesta, y el paso de coeficiente a odds ratio con exp() se olvida.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números del día y después presenta el proyecto final con detalle: es el momento de explicarlo, porque acaban de trabajar con esos datos y saben exactamente qué se les pide. El punto de los 177 faltantes es el que más discusión genera: hoy usamos la mediana por simplicidad y en el proyecto tienen que pensar si eso es aceptable.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7516" y="4351690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96835" y="4351000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6154" y="4350222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75474" y="4349347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14793" y="4348360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54112" y="4347249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93431" y="4345997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32750" y="4344587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72070" y="4343000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11389" y="4341214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0708" y="4339203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90027" y="4336940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29346" y="4334394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68666" y="4331531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07985" y="4328312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47304" y="4324694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6623" y="4320628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5942" y="4316063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65262" y="4310940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04581" y="4305191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43900" y="4298747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83219" y="4291528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22538" y="4283446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61858" y="4274408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01177" y="4264309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40496" y="4253037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79815" y="4240473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19134" y="4226486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58454" y="4210941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97773" y="4193692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37092" y="4174589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76411" y="4153476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15730" y="4130198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55050" y="4104595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94369" y="40765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33688" y="4045815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73007" y="4012361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12326" y="3976038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51646" y="3936758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090965" y="3894463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30284" y="3849130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69603" y="3800782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208922" y="3749490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248242" y="3695380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87561" y="3638632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326880" y="3579488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366199" y="3518241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405518" y="3455241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444838" y="3390881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484157" y="3325594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523476" y="3259836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562795" y="3194078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602114" y="3128791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641434" y="3064431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680753" y="3001431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720072" y="2940184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759391" y="2881040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798710" y="2824292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838030" y="2770182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877349" y="2718890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916668" y="2670542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955987" y="2625209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995306" y="2582914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034626" y="2543634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073945" y="2507311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113264" y="2473857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152583" y="2443156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191902" y="2415077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231222" y="2389474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270541" y="2366196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309860" y="2345083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349179" y="2325980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388498" y="2308731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427818" y="2293186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467137" y="2279199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506456" y="2266635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545775" y="2255363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585094" y="2245264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624414" y="2236226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663733" y="2228144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703052" y="2220925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742371" y="2214481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781690" y="2208732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821010" y="2203609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860329" y="2199044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899648" y="2194978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938967" y="2191360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978286" y="2188141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017606" y="2185278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056925" y="2182732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096244" y="2180469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135563" y="2178458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174882" y="2176672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214202" y="2175085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253521" y="2173675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292840" y="2172423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1332159" y="2171312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1371478" y="2170325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1410798" y="2169450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450117" y="2168672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589520" y="4389120"/>
            <a:ext cx="3931920" cy="0"/>
          </a:xfrm>
          <a:prstGeom prst="line">
            <a:avLst/>
          </a:prstGeom>
          <a:noFill/>
          <a:ln w="12700">
            <a:solidFill>
              <a:srgbClr val="2E5AA8"/>
            </a:solidFill>
            <a:prstDash val="dash"/>
          </a:ln>
        </p:spPr>
      </p:sp>
      <p:sp>
        <p:nvSpPr>
          <p:cNvPr id="103" name="Shape 101"/>
          <p:cNvSpPr/>
          <p:nvPr/>
        </p:nvSpPr>
        <p:spPr>
          <a:xfrm>
            <a:off x="7589520" y="2194560"/>
            <a:ext cx="3931920" cy="0"/>
          </a:xfrm>
          <a:prstGeom prst="line">
            <a:avLst/>
          </a:prstGeom>
          <a:noFill/>
          <a:ln w="12700">
            <a:solidFill>
              <a:srgbClr val="2E5AA8"/>
            </a:solidFill>
            <a:prstDash val="dash"/>
          </a:ln>
        </p:spPr>
      </p:sp>
      <p:sp>
        <p:nvSpPr>
          <p:cNvPr id="104" name="Text 102"/>
          <p:cNvSpPr/>
          <p:nvPr/>
        </p:nvSpPr>
        <p:spPr>
          <a:xfrm>
            <a:off x="7269480" y="207568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5" name="Text 103"/>
          <p:cNvSpPr/>
          <p:nvPr/>
        </p:nvSpPr>
        <p:spPr>
          <a:xfrm>
            <a:off x="7269480" y="427024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06" name="Text 104"/>
          <p:cNvSpPr/>
          <p:nvPr/>
        </p:nvSpPr>
        <p:spPr>
          <a:xfrm>
            <a:off x="7589520" y="4526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probabilidad nunca sale de [0, 1]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685800" y="1188720"/>
            <a:ext cx="283464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85800" y="11887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CLASE 12</a:t>
            </a:r>
            <a:endParaRPr lang="en-US" sz="1150" dirty="0"/>
          </a:p>
        </p:txBody>
      </p:sp>
      <p:sp>
        <p:nvSpPr>
          <p:cNvPr id="109" name="Text 107"/>
          <p:cNvSpPr/>
          <p:nvPr/>
        </p:nvSpPr>
        <p:spPr>
          <a:xfrm>
            <a:off x="685800" y="173736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</a:t>
            </a:r>
            <a:endParaRPr lang="en-US" sz="42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sí o un no</a:t>
            </a:r>
            <a:endParaRPr lang="en-US" sz="4200" dirty="0"/>
          </a:p>
        </p:txBody>
      </p:sp>
      <p:sp>
        <p:nvSpPr>
          <p:cNvPr id="110" name="Text 108"/>
          <p:cNvSpPr/>
          <p:nvPr/>
        </p:nvSpPr>
        <p:spPr>
          <a:xfrm>
            <a:off x="713232" y="356616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 y validación de modelos de clasificación.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que está detrás de casi todo scorecard de crédito.</a:t>
            </a:r>
            <a:endParaRPr lang="en-US" sz="1500" dirty="0"/>
          </a:p>
        </p:txBody>
      </p:sp>
      <p:sp>
        <p:nvSpPr>
          <p:cNvPr id="111" name="Text 109"/>
          <p:cNvSpPr/>
          <p:nvPr/>
        </p:nvSpPr>
        <p:spPr>
          <a:xfrm>
            <a:off x="713232" y="5029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</a:t>
            </a:r>
            <a:endParaRPr lang="en-US" sz="1700" dirty="0"/>
          </a:p>
        </p:txBody>
      </p:sp>
      <p:sp>
        <p:nvSpPr>
          <p:cNvPr id="112" name="Text 110"/>
          <p:cNvSpPr/>
          <p:nvPr/>
        </p:nvSpPr>
        <p:spPr>
          <a:xfrm>
            <a:off x="713232" y="5394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sesión</a:t>
            </a:r>
            <a:endParaRPr lang="en-US" sz="1100" dirty="0"/>
          </a:p>
        </p:txBody>
      </p:sp>
      <p:sp>
        <p:nvSpPr>
          <p:cNvPr id="113" name="Text 111"/>
          <p:cNvSpPr/>
          <p:nvPr/>
        </p:nvSpPr>
        <p:spPr>
          <a:xfrm>
            <a:off x="3044952" y="5029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891 pasajeros</a:t>
            </a:r>
            <a:endParaRPr lang="en-US" sz="1700" dirty="0"/>
          </a:p>
        </p:txBody>
      </p:sp>
      <p:sp>
        <p:nvSpPr>
          <p:cNvPr id="114" name="Text 112"/>
          <p:cNvSpPr/>
          <p:nvPr/>
        </p:nvSpPr>
        <p:spPr>
          <a:xfrm>
            <a:off x="3044952" y="5394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Titanic</a:t>
            </a:r>
            <a:endParaRPr lang="en-US" sz="1100" dirty="0"/>
          </a:p>
        </p:txBody>
      </p:sp>
      <p:sp>
        <p:nvSpPr>
          <p:cNvPr id="115" name="Text 113"/>
          <p:cNvSpPr/>
          <p:nvPr/>
        </p:nvSpPr>
        <p:spPr>
          <a:xfrm>
            <a:off x="5376672" y="5029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umbral</a:t>
            </a:r>
            <a:endParaRPr lang="en-US" sz="1700" dirty="0"/>
          </a:p>
        </p:txBody>
      </p:sp>
      <p:sp>
        <p:nvSpPr>
          <p:cNvPr id="116" name="Text 114"/>
          <p:cNvSpPr/>
          <p:nvPr/>
        </p:nvSpPr>
        <p:spPr>
          <a:xfrm>
            <a:off x="5376672" y="5394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decisión de negocio</a:t>
            </a:r>
            <a:endParaRPr lang="en-US" sz="1100" dirty="0"/>
          </a:p>
        </p:txBody>
      </p:sp>
      <p:sp>
        <p:nvSpPr>
          <p:cNvPr id="117" name="Text 115"/>
          <p:cNvSpPr/>
          <p:nvPr/>
        </p:nvSpPr>
        <p:spPr>
          <a:xfrm>
            <a:off x="713232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Descriptiva e Inferencial · 37 horas académicas · 14 sesiones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ESTAMOS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predecir números a predecir etiquetas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de fondo es la misma. Cambian la forma del modelo y, sobre todo, cómo se valida.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2743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7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11 · regresión lineal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12 · regresión logística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que predice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número: días, soles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PROBABILIDAD de 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forma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recta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curva en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coeficientes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cambio directo en 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odds ratio, con exp()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valida con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RMSE, R²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matriz de confusión, 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 que decidir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UMBRAL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2356" y="4831147"/>
            <a:ext cx="5468112" cy="1481328"/>
          </a:xfrm>
          <a:prstGeom prst="roundRect">
            <a:avLst>
              <a:gd name="adj" fmla="val 370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497433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416" y="487375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 en tu trabajo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" y="523951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todo lo que se decide en riesgo es un sí o un no: aprobar o rechazar, alertar o no alertar, bloquear o dejar pasar.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todo eso se modela con lo de hoy.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61534" y="4841195"/>
            <a:ext cx="5468112" cy="1481328"/>
          </a:xfrm>
          <a:prstGeom prst="roundRect">
            <a:avLst>
              <a:gd name="adj" fmla="val 3704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19088" y="497433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6832" y="487375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de hoy: el Titanic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19088" y="523951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891 pasajeros, y sabemos quiénes sobrevivieron. Sobrevivió el 38.4 %.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los mismos datos del proyecto final, así que conviene conocerlos bien.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repartimos los 120 minutos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formato de las últimas clases: se ve el problema, se entiende la idea, y se comprueba con código.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6766560" cy="32918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datos y las tasas crudas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qué la recta no sirve · la curva en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Odds, odds ratio y los coeficientes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matriz de confusión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umbral lo cambia todo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Curva ROC y 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Laboratorio en Colab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 y proyecto final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543800" y="2011680"/>
            <a:ext cx="4096512" cy="1965960"/>
          </a:xfrm>
          <a:prstGeom prst="roundRect">
            <a:avLst>
              <a:gd name="adj" fmla="val 2791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90688" y="231343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28432" y="2212848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te llevas hoy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90688" y="260604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e interpretar una logística.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coeficientes como odds ratio.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una matriz de confusión.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un umbral con criterio.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543800" y="4160520"/>
            <a:ext cx="4096512" cy="2029968"/>
          </a:xfrm>
          <a:prstGeom prst="roundRect">
            <a:avLst>
              <a:gd name="adj" fmla="val 2703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90688" y="442569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28432" y="4325112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bloque 4 es el importante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90688" y="4690872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bloques 1 a 3 son técnica: se aprenden y se aplican.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4 es criterio, y es el que separa a un analista de una biblioteca de Python: el umbral no lo decide el modelo.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891 pasajeros, y sabemos quiénes sobrevivieron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modelar nada, mira las tasas crudas: ya cuentan casi toda la historia.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38.4 %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26700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sobrevivió en total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342 de 891 pasajeros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97680" y="210312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74.2 %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297680" y="2670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mujeres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314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589520" y="210312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18.9 %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7589520" y="2670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hombres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577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520440"/>
            <a:ext cx="10607040" cy="0"/>
          </a:xfrm>
          <a:prstGeom prst="line">
            <a:avLst/>
          </a:prstGeom>
          <a:noFill/>
          <a:ln w="12700">
            <a:solidFill>
              <a:srgbClr val="D2DB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703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por clase del billete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04164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clase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463040" y="4041648"/>
            <a:ext cx="2880360" cy="384048"/>
          </a:xfrm>
          <a:prstGeom prst="rect">
            <a:avLst/>
          </a:prstGeom>
          <a:solidFill>
            <a:srgbClr val="12B8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53128" y="40416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63.0 %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59028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clase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463040" y="4590288"/>
            <a:ext cx="2162556" cy="384048"/>
          </a:xfrm>
          <a:prstGeom prst="rect">
            <a:avLst/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5324" y="45902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47.3 %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138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3ª clase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463040" y="5138928"/>
            <a:ext cx="1106424" cy="384048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79192" y="513892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24.2 %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49440" y="3703320"/>
            <a:ext cx="4690872" cy="1463040"/>
          </a:xfrm>
          <a:prstGeom prst="roundRect">
            <a:avLst>
              <a:gd name="adj" fmla="val 375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96328" y="396849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34072" y="3867912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ya se ve sin modelar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96328" y="4233672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sexo separa muchísimo: 74 % contra 19 %.</a:t>
            </a:r>
            <a:endParaRPr lang="en-US" sz="11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también: de 63 % a 24 %.</a:t>
            </a:r>
            <a:endParaRPr lang="en-US" sz="1150" dirty="0"/>
          </a:p>
          <a:p>
            <a:pPr marL="0" indent="0" algn="l">
              <a:lnSpc>
                <a:spcPct val="114000"/>
              </a:lnSpc>
              <a:buNone/>
            </a:pPr>
            <a:endParaRPr lang="en-US" sz="11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tiene que, como mínimo, capturar esto.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949440" y="5303520"/>
            <a:ext cx="4690872" cy="868680"/>
          </a:xfrm>
          <a:prstGeom prst="roundRect">
            <a:avLst>
              <a:gd name="adj" fmla="val 6316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96328" y="55229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34072" y="5422392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un detalle para el proyecto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96328" y="5715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edad tiene 177 valores faltantes de 891. Hoy los rellenamos con la mediana; en el proyecto habrá que pensarlo mejor.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usamos la recta de la clase pasada?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Probémoslo: Survived vale 0 o 1, así que en principio se podría ajustar una recta.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468112" cy="1737360"/>
          </a:xfrm>
          <a:prstGeom prst="roundRect">
            <a:avLst>
              <a:gd name="adj" fmla="val 3158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3225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22199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devuelve la regresión lineal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260604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mínima  =  −0.143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máxima  =  1.087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331012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de los 891 pasajeros reciben una probabilidad fuera del rango [0, 1].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2057400"/>
            <a:ext cx="5468112" cy="1737360"/>
          </a:xfrm>
          <a:prstGeom prst="roundRect">
            <a:avLst>
              <a:gd name="adj" fmla="val 3158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9088" y="23225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222199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19088" y="260604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FF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prediciendo una PROBABILIDAD, y una probabilidad tiene que estar entre 0 y 1.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FF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recta no lo sabe: sigue subiendo y bajando sin límite.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422452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4123944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más extremo de nuestros datos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" y="447141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hombre de tercera clase, de 74 años: la recta le asigna una probabilidad de sobrevivir de −14.3 %. Una probabilidad negativa no significa absolutamente nada.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541324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2416" y="5312664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ojo con esto, que es peor de lo que parece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" y="566013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mismo problema de extrapolar que vimos en la Clase 10 con los tiempos negativos. Pero aquí no aparece fuera del rango de los datos: aparece DENTRO, con pasajeros que existieron de verdad.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LA SOLUCIÓN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función que aplasta cualquier número al rango [0, 1]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llama sigmoide o función logística, y es todo lo que distingue a este modelo del anterior.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029200" cy="914400"/>
          </a:xfrm>
          <a:prstGeom prst="roundRect">
            <a:avLst>
              <a:gd name="adj" fmla="val 6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 =  1 / ( 1 + e⁻ᶻ 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29443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z = a + b₁x₁ + b₂x₂ + …  es exactamente la recta de la Clase 11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527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4343400"/>
            <a:ext cx="5605272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87568" y="423367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3154680"/>
            <a:ext cx="5605272" cy="0"/>
          </a:xfrm>
          <a:prstGeom prst="line">
            <a:avLst/>
          </a:prstGeom>
          <a:noFill/>
          <a:ln w="19050">
            <a:solidFill>
              <a:srgbClr val="E6115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687568" y="30449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965960"/>
            <a:ext cx="5605272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185623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837676" y="1965960"/>
            <a:ext cx="0" cy="2377440"/>
          </a:xfrm>
          <a:prstGeom prst="line">
            <a:avLst/>
          </a:prstGeom>
          <a:noFill/>
          <a:ln w="19050">
            <a:solidFill>
              <a:srgbClr val="E6115E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005779" y="430826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52490" y="4307644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99200" y="4306963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45911" y="430621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2622" y="4305380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39332" y="4304463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86043" y="4303450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2753" y="430233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79464" y="4301096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26175" y="4299732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72885" y="4298227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19596" y="4296566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66306" y="4294733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13017" y="429271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59728" y="4290479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06438" y="4288018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53149" y="4285305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99859" y="4282313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46570" y="4279015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93281" y="427538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39991" y="4271378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86702" y="4266970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33412" y="4262118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80123" y="4256779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26834" y="4250906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73544" y="424445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20255" y="4237359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66965" y="422957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13676" y="4221025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60387" y="4211654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07097" y="4201387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453808" y="4190147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00518" y="4177854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47229" y="4164424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593940" y="4149767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640650" y="413379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687361" y="411640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34071" y="4097500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80782" y="4076988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827493" y="4054768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874203" y="403074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920914" y="4004814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967624" y="3976897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14335" y="3946907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061046" y="3914773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107756" y="3880433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154467" y="3843843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01177" y="3804975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247888" y="376382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294599" y="3720398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341309" y="3674747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388020" y="3626939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434730" y="3577072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481441" y="3525276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528152" y="3471708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574862" y="3416559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621573" y="3360043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668283" y="3302402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714994" y="3243897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761705" y="3184806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808415" y="3125419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855126" y="3066033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901836" y="3006942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948547" y="2948437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995258" y="2890795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041968" y="2834279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088679" y="2779130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135389" y="2725563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182100" y="2673766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228811" y="2623899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275521" y="257609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322232" y="253044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368942" y="2487018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415653" y="2445864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462364" y="2406995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509074" y="2370405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555785" y="2336065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602495" y="230393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649206" y="2273942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695917" y="2246024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742627" y="2220097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789338" y="2196070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836048" y="2173850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882759" y="2153339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929470" y="2134437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976180" y="2117047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022891" y="2101072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069601" y="2086415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116312" y="2072984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163023" y="206069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209733" y="204945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256444" y="2039184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303154" y="2029813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0349865" y="2021268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396576" y="2013480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0443286" y="2006387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0489997" y="1999932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0536707" y="1994060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0583418" y="198872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0630129" y="1983868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676839" y="1979460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0723550" y="1975457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0770260" y="1971824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0816971" y="1968526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863682" y="1965534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0910392" y="1962820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957103" y="1960359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1003813" y="1958128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1050524" y="1956105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1097235" y="1954272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1143945" y="195261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1190656" y="1951106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1237366" y="1949743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1284077" y="1948507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1330788" y="1947389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1377498" y="1946376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1424209" y="1945458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1470919" y="1944628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1517630" y="1943875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1564341" y="1943194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1611051" y="1942578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8563356" y="43982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000" dirty="0"/>
          </a:p>
        </p:txBody>
      </p:sp>
      <p:graphicFrame>
        <p:nvGraphicFramePr>
          <p:cNvPr id="1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01568"/>
          <a:ext cx="5029200" cy="1536192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1/(1+e⁻ᶻ)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se lee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casi seguro que 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punto medio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casi seguro que 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0" name="Shape 137"/>
          <p:cNvSpPr/>
          <p:nvPr/>
        </p:nvSpPr>
        <p:spPr>
          <a:xfrm>
            <a:off x="548640" y="5074920"/>
            <a:ext cx="11091672" cy="1143000"/>
          </a:xfrm>
          <a:prstGeom prst="roundRect">
            <a:avLst>
              <a:gd name="adj" fmla="val 48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804672" y="532180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42" name="Text 139"/>
          <p:cNvSpPr/>
          <p:nvPr/>
        </p:nvSpPr>
        <p:spPr>
          <a:xfrm>
            <a:off x="1042416" y="5221224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propiedades que hacen que funcione</a:t>
            </a:r>
            <a:endParaRPr lang="en-US" sz="1400" dirty="0"/>
          </a:p>
        </p:txBody>
      </p:sp>
      <p:sp>
        <p:nvSpPr>
          <p:cNvPr id="143" name="Text 140"/>
          <p:cNvSpPr/>
          <p:nvPr/>
        </p:nvSpPr>
        <p:spPr>
          <a:xfrm>
            <a:off x="804672" y="556869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0 da exactamente 0.5, el punto medio.   ·   z muy negativo se acerca a 0 pero nunca llega.   ·   z muy positivo se acerca a 1 pero nunca llega.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la probabilidad siempre queda dentro del rango: por construcción, no por suerte.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Odds: la forma en que este modelo mide las cosas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interpretar los coeficientes hace falta esta idea, que viene de las apuestas.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029200" cy="822960"/>
          </a:xfrm>
          <a:prstGeom prst="roundRect">
            <a:avLst>
              <a:gd name="adj" fmla="val 6667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odds  =  p / (1 − p)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5029200" cy="153619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lee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uno a uno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tres a uno a favor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uno a cuatro en contra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965960"/>
          <a:ext cx="5605272" cy="131673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mujeres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2.8765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hombres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035040" y="3474720"/>
            <a:ext cx="5605272" cy="1051560"/>
          </a:xfrm>
          <a:prstGeom prst="roundRect">
            <a:avLst>
              <a:gd name="adj" fmla="val 5217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263640" y="347472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  =  2.88 / 0.23  =  12.3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48640" y="4663440"/>
            <a:ext cx="11091672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04672" y="491032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42416" y="4809744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aquí está el error más común del tema</a:t>
            </a:r>
            <a:endParaRPr lang="en-US" sz="1500" dirty="0"/>
          </a:p>
        </p:txBody>
      </p:sp>
      <p:sp>
        <p:nvSpPr>
          <p:cNvPr id="9" name="Text 11"/>
          <p:cNvSpPr/>
          <p:nvPr/>
        </p:nvSpPr>
        <p:spPr>
          <a:xfrm>
            <a:off x="804672" y="5157216"/>
            <a:ext cx="10515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«Las mujeres tenían 12 veces más ODDS de sobrevivir.»   ← correcto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«Las mujeres tenían 12 veces más PROBABILIDAD de sobrevivir.»   ← falso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probabilidad era solo 3.9 veces mayor: 74 % contra 19 %. Odds y probabilidad no son lo mismo.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coeficientes se leen con exp()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Vienen en escala de log-odds, que no dice nada. Al exponenciarlos se vuelven odds ratio.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odds ratio  =  e ^ coeficiente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11091672" cy="190195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Odds ratio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se lee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Efecto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mujer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 mujer multiplica las odds por 12.4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mucho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clase peor las divide por 3.1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año las reduce un 3.6 %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poco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6"/>
          <p:cNvSpPr/>
          <p:nvPr/>
        </p:nvSpPr>
        <p:spPr>
          <a:xfrm>
            <a:off x="551689" y="4932133"/>
            <a:ext cx="5468112" cy="960120"/>
          </a:xfrm>
          <a:prstGeom prst="roundRect">
            <a:avLst>
              <a:gd name="adj" fmla="val 5714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7721" y="5151589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5465" y="5051005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 lectura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07721" y="5343613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&gt; 1 aumenta las odds  ·  OR = 1 no cambia nada  ·  OR &lt; 1 las reduce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38673" y="4932133"/>
            <a:ext cx="5468112" cy="960120"/>
          </a:xfrm>
          <a:prstGeom prst="roundRect">
            <a:avLst>
              <a:gd name="adj" fmla="val 571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85561" y="5151589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23305" y="5051005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vuelve la frase de la Clase 11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85561" y="5343613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«…manteniendo constantes las demás variables». Misma idea, ahora en escala de odds.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50164" y="5996354"/>
            <a:ext cx="1109167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4484" y="5996354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el OR crudo del sexo era 12.35 y el del modelo es 12.43. Difieren porque el del modelo controla clase y edad — y porque scikit-learn regulariza por defecto.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resultados posibles, y dos de ellos son errores distintos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Entrenamos con 623 pasajeros y evaluamos con los 268 que el modelo nunca vio. Umbral: 0.5.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20208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predijo MURIÓ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0" y="20208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predijo VIVIÓ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371600" y="2331720"/>
            <a:ext cx="17830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realmente MURIÓ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371600" y="3108960"/>
            <a:ext cx="17830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realmente VIVIÓ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2331720"/>
            <a:ext cx="2286000" cy="777240"/>
          </a:xfrm>
          <a:prstGeom prst="rect">
            <a:avLst/>
          </a:prstGeom>
          <a:solidFill>
            <a:srgbClr val="E3F5EC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3865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00400" y="28072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2331720"/>
            <a:ext cx="2286000" cy="777240"/>
          </a:xfrm>
          <a:prstGeom prst="rect">
            <a:avLst/>
          </a:prstGeom>
          <a:solidFill>
            <a:srgbClr val="FFE9F1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23865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0" y="28072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3108960"/>
            <a:ext cx="2286000" cy="777240"/>
          </a:xfrm>
          <a:prstGeom prst="rect">
            <a:avLst/>
          </a:prstGeom>
          <a:solidFill>
            <a:srgbClr val="FFE9F1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31638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200400" y="35844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0" y="3108960"/>
            <a:ext cx="2286000" cy="777240"/>
          </a:xfrm>
          <a:prstGeom prst="rect">
            <a:avLst/>
          </a:prstGeom>
          <a:solidFill>
            <a:srgbClr val="E3F5EC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31638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486400" y="35844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59436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187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86000" y="418795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0.7724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91840" y="41879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todo lo que predije, cuánto acerté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681728"/>
            <a:ext cx="5943600" cy="493776"/>
          </a:xfrm>
          <a:prstGeom prst="roundRect">
            <a:avLst>
              <a:gd name="adj" fmla="val 11111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7548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286000" y="47548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0.6875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91840" y="47548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que dije que vivían, cuántos vivieron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5248656"/>
            <a:ext cx="59436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3218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286000" y="53218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0.7476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91840" y="53218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que vivieron, a cuántos detecté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20840" y="4114800"/>
            <a:ext cx="4919472" cy="1060704"/>
          </a:xfrm>
          <a:prstGeom prst="roundRect">
            <a:avLst>
              <a:gd name="adj" fmla="val 5172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67728" y="436168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05472" y="4261104"/>
            <a:ext cx="4242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errores NO son iguales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67728" y="459028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falsos positivos y 26 falsos negativos. En el Titanic da igual; en fraude o en crédito, uno de los dos cuesta mucho más.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720840" y="5285232"/>
            <a:ext cx="4919472" cy="914400"/>
          </a:xfrm>
          <a:prstGeom prst="roundRect">
            <a:avLst>
              <a:gd name="adj" fmla="val 6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67728" y="550468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05472" y="5404104"/>
            <a:ext cx="4242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comparación que nunca hay que olvidar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967728" y="5696712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«murió» para todos acertaría el 61.6 %. El modelo acierta 77.2 %: la mejora real son 15.7 puntos.</a:t>
            </a:r>
            <a:endParaRPr lang="en-US" sz="1100" dirty="0"/>
          </a:p>
        </p:txBody>
      </p:sp>
      <p:pic>
        <p:nvPicPr>
          <p:cNvPr id="42" name="Picture 41" descr="Confusion matrix with the formulas of precision, recall, accuracy and f1-score">
            <a:extLst>
              <a:ext uri="{FF2B5EF4-FFF2-40B4-BE49-F238E27FC236}">
                <a16:creationId xmlns:a16="http://schemas.microsoft.com/office/drawing/2014/main" id="{17335434-E5D1-61CA-E1CF-25F2145F8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154" y="2406762"/>
            <a:ext cx="3693726" cy="14226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10896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EL CLÍMAX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0.5 no tiene nada de sagrado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solo el valor por defecto. Y moverlo cambia por completo el tipo de errores que comete el modelo.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241401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36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928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Umbral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Exactitud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A2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A2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A2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0.4854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526280"/>
            <a:ext cx="5468112" cy="1143000"/>
          </a:xfrm>
          <a:prstGeom prst="roundRect">
            <a:avLst>
              <a:gd name="adj" fmla="val 48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477316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416" y="4672584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últimas columnas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5001768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recall BAJA de 0.83 a 0.49.</a:t>
            </a:r>
            <a:endParaRPr lang="en-US" sz="11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precisión SUBE de 0.64 a 0.88.</a:t>
            </a:r>
            <a:endParaRPr lang="en-US" sz="11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se mueven en direcciones opuestas.</a:t>
            </a:r>
            <a:endParaRPr lang="en-US" sz="1150" dirty="0"/>
          </a:p>
        </p:txBody>
      </p:sp>
      <p:sp>
        <p:nvSpPr>
          <p:cNvPr id="6" name="Shape 8"/>
          <p:cNvSpPr/>
          <p:nvPr/>
        </p:nvSpPr>
        <p:spPr>
          <a:xfrm>
            <a:off x="6172200" y="4526280"/>
            <a:ext cx="5468112" cy="1143000"/>
          </a:xfrm>
          <a:prstGeom prst="roundRect">
            <a:avLst>
              <a:gd name="adj" fmla="val 48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19088" y="477316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6832" y="4672584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 inevitable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19088" y="5001768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bajo: dice «sí» con facilidad, detecta a casi todos pero se equivoca mucho.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alto: solo dice «sí» cuando está seguro, casi no se equivoca pero se le escapan muchos.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5779008"/>
            <a:ext cx="11091672" cy="621792"/>
          </a:xfrm>
          <a:prstGeom prst="roundRect">
            <a:avLst>
              <a:gd name="adj" fmla="val 8824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5779008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 umbral «correcto». Existe el umbral adecuado para tu problema, y eso depende de cuál de los dos errores cuesta más.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escenarios de tu trabajo, dos umbrales opuestos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datos, el mismo modelo. Lo único que cambia es cuánto cuesta cada error.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422392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1284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2B8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21945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fraude para revisión humana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27889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falso negativo (fraude que se escapa) cuesta miles de soles.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falso positivo (alerta en vano) cuesta 10 minutos de un analista.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3657600"/>
            <a:ext cx="4937760" cy="548640"/>
          </a:xfrm>
          <a:prstGeom prst="roundRect">
            <a:avLst>
              <a:gd name="adj" fmla="val 11667"/>
            </a:avLst>
          </a:prstGeom>
          <a:solidFill>
            <a:srgbClr val="12B8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657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BAJO  ·  0.3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431596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Prefiero revisar de más. Recall alto, aunque la precisión baje.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2011680"/>
            <a:ext cx="5422392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221284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040880" y="21945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automático de tarjetas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46520" y="27889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falso positivo bloquea la tarjeta de un cliente legítimo en el supermercado.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furioso, y quizá se va del banco.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46520" y="3657600"/>
            <a:ext cx="4937760" cy="548640"/>
          </a:xfrm>
          <a:prstGeom prst="roundRect">
            <a:avLst>
              <a:gd name="adj" fmla="val 11667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657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ALTO  ·  0.7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46520" y="431596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bloqueo cuando estoy muy seguro. Precisión alta, aunque se escapen algunos.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39496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5623560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2416" y="5522976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central de la clase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04672" y="58521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umbral no es una decisión estadística: es una decisión de negocio. El analista aporta la CURVA de opciones; el negocio elige el PUNTO.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cómo evalúo el modelo sin depender de un umbral?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Probándolos todos. Eso es la curva ROC, y el AUC la resume en un número.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2148840"/>
            <a:ext cx="3200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5349240"/>
            <a:ext cx="3200400" cy="0"/>
          </a:xfrm>
          <a:prstGeom prst="line">
            <a:avLst/>
          </a:prstGeom>
          <a:noFill/>
          <a:ln w="25400">
            <a:solidFill>
              <a:srgbClr val="E6115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005840" y="5349240"/>
            <a:ext cx="134417" cy="0"/>
          </a:xfrm>
          <a:prstGeom prst="line">
            <a:avLst/>
          </a:prstGeom>
          <a:noFill/>
          <a:ln w="38100">
            <a:solidFill>
              <a:srgbClr val="1A56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0257" y="3733038"/>
            <a:ext cx="249631" cy="0"/>
          </a:xfrm>
          <a:prstGeom prst="line">
            <a:avLst/>
          </a:prstGeom>
          <a:noFill/>
          <a:ln w="38100">
            <a:solidFill>
              <a:srgbClr val="1A56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3172968"/>
            <a:ext cx="294437" cy="0"/>
          </a:xfrm>
          <a:prstGeom prst="line">
            <a:avLst/>
          </a:prstGeom>
          <a:noFill/>
          <a:ln w="38100">
            <a:solidFill>
              <a:srgbClr val="1A56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84325" y="2955341"/>
            <a:ext cx="272034" cy="0"/>
          </a:xfrm>
          <a:prstGeom prst="line">
            <a:avLst/>
          </a:prstGeom>
          <a:noFill/>
          <a:ln w="38100">
            <a:solidFill>
              <a:srgbClr val="1A56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56359" y="2676906"/>
            <a:ext cx="489661" cy="0"/>
          </a:xfrm>
          <a:prstGeom prst="line">
            <a:avLst/>
          </a:prstGeom>
          <a:noFill/>
          <a:ln w="38100">
            <a:solidFill>
              <a:srgbClr val="1A56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46020" y="2404872"/>
            <a:ext cx="800100" cy="0"/>
          </a:xfrm>
          <a:prstGeom prst="line">
            <a:avLst/>
          </a:prstGeom>
          <a:noFill/>
          <a:ln w="38100">
            <a:solidFill>
              <a:srgbClr val="1A56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2244852"/>
            <a:ext cx="960120" cy="0"/>
          </a:xfrm>
          <a:prstGeom prst="line">
            <a:avLst/>
          </a:prstGeom>
          <a:noFill/>
          <a:ln w="38100">
            <a:solidFill>
              <a:srgbClr val="1A56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74063" y="259461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12B88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84375" y="255803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02029" y="2873045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12341" y="2836469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57961" y="365074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9A6B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68273" y="361416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54223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positivos →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8600" y="36301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19456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0.838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4846320" y="27614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en prueba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bajo la curva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46320" y="3520440"/>
            <a:ext cx="6793992" cy="1234440"/>
          </a:xfrm>
          <a:prstGeom prst="roundRect">
            <a:avLst>
              <a:gd name="adj" fmla="val 444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93208" y="378561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30952" y="3685032"/>
            <a:ext cx="6071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interpreta, que es lo bonito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93208" y="4032504"/>
            <a:ext cx="6263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tomas al azar un pasajero que sobrevivió y otro que murió, hay un 83.8 % de probabilidad de que el modelo le asigne mayor probabilidad al que sobrevivió.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4892040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E9EE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4892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55080" y="489204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azar puro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46320" y="5276088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E9EE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52760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 – 0.8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55080" y="527608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aceptable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846320" y="5660136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56601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– 0.9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355080" y="56601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bueno ← el nuestro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846320" y="6044184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E9EE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604418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0.9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55080" y="604418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excelente, y sospechoso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" y="5623560"/>
            <a:ext cx="4114800" cy="685800"/>
          </a:xfrm>
          <a:prstGeom prst="roundRect">
            <a:avLst>
              <a:gd name="adj" fmla="val 80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562356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punto de la curva es un umbral. Moverte por ella es el trade-off del bloque 4, dibujado.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29184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LABORATORIO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errores que evita esta clase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aparecen en informes reales, todo el tiempo.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2585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258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89888" y="22219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solo la exactitud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0" y="225856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95 % de las transacciones son legítimas, un modelo que diga «legítima» siempre acierta el 95 %. Y es completamente inútil. Compara siempre contra la regla trivial.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36301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630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89888" y="35935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odds ratio con probabilidad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363016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OR de 12 no significa 12 veces más probable. En nuestros datos la probabilidad solo era 3.9 veces mayor: 74 % contra 19 %.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50017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5001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89888" y="49651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 el umbral 0.5 sin pensarlo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0" y="500176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valor por defecto, no una decisión. Y la decisión depende de cuánto cuesta cada tipo de error, que es información del negocio, no del modelo.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26364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primero es el más grave en riesgo y fraude, precisamente porque esos problemas suelen estar muy desbalanceados.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CHULETA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completo, y el código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es la slide que vas a fotografiar.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91672" cy="612648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396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39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61872" y="204825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los datos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749040" y="20848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stratify para mantener la proporción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720840" y="208483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train_test_split(X, y, test_size=0.3, stratify=y)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11091672" cy="612648"/>
          </a:xfrm>
          <a:prstGeom prst="roundRect">
            <a:avLst>
              <a:gd name="adj" fmla="val 8955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8254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825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61872" y="273405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749040" y="27706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que la lineal, otra clase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720840" y="277063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LogisticRegression(max_iter=1000).fit(X_train, y_train)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11091672" cy="612648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5112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61872" y="341985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Saca probabilidades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749040" y="34564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predicciones: probabilidades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20840" y="345643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modelo.predict_proba(X_test)[:, 1]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" y="4069080"/>
            <a:ext cx="11091672" cy="612648"/>
          </a:xfrm>
          <a:prstGeom prst="roundRect">
            <a:avLst>
              <a:gd name="adj" fmla="val 8955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1970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261872" y="410565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749040" y="41422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exp() para pasar a odds ratio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20840" y="414223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np.exp(modelo.coef_[0])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" y="4754880"/>
            <a:ext cx="11091672" cy="612648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48828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882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261872" y="479145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749040" y="48280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Matriz, métricas y AUC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20840" y="482803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confusion_matrix(...) · roc_auc_score(...)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8640" y="5440680"/>
            <a:ext cx="11091672" cy="612648"/>
          </a:xfrm>
          <a:prstGeom prst="roundRect">
            <a:avLst>
              <a:gd name="adj" fmla="val 8955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55686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568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261872" y="547725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el umbral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3749040" y="55138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negocio, no solo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720840" y="551383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(prob &gt;= umbral).astype(int)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8640" y="617220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61722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pregunta que va antes de reportar:  ¿mi exactitud es mejor que predecir siempre la clase mayoritaria?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· 55 MIN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cinco bloques y un apéndice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se leen directo del repo del curso: no hay que descargar nada.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1109167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1284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61872" y="212140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falla la recta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43400" y="2121408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303520" y="2157984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 predicciones de probabilidad negativas y construyes la sigmoide.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779776"/>
            <a:ext cx="11091672" cy="621792"/>
          </a:xfrm>
          <a:prstGeom prst="roundRect">
            <a:avLst>
              <a:gd name="adj" fmla="val 8824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90779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61872" y="281635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y odds ratio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43400" y="2816352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min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303520" y="2852928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Calculas las odds a mano y después lees los coeficientes del modelo.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1109167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60273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61872" y="351129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confusión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343400" y="3511296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303520" y="354787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Separas, entrenas y cuentas los cuatro tipos de resultado.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169664"/>
            <a:ext cx="11091672" cy="621792"/>
          </a:xfrm>
          <a:prstGeom prst="roundRect">
            <a:avLst>
              <a:gd name="adj" fmla="val 8824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2976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261872" y="420624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umbral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343400" y="4206240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303520" y="4242816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Recorres cinco umbrales y decides cuál usarías en dos escenarios de riesgo.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4864608"/>
            <a:ext cx="1109167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49926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992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261872" y="490118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y AUC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343400" y="4901184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303520" y="49377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Dibujas la curva y ubicas en ella los umbrales del bloque anterior.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559552"/>
            <a:ext cx="11091672" cy="621792"/>
          </a:xfrm>
          <a:prstGeom prst="roundRect">
            <a:avLst>
              <a:gd name="adj" fmla="val 8824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568756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5B6B87"/>
          </a:solidFill>
          <a:ln w="12700">
            <a:solidFill>
              <a:srgbClr val="5B6B8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687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261872" y="559612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Apéndice: iris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343400" y="5596128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303520" y="5632704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clases en vez de dos. Qué cambia y qué no.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8640" y="6309360"/>
            <a:ext cx="11091672" cy="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01277" y="2028858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4195" y="2028280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67114" y="2027588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00032" y="2026762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32950" y="2025774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65869" y="2024593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98787" y="2023183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31706" y="2021499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64624" y="2019489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97542" y="2017092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0461" y="2014235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63379" y="2010832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96298" y="2006785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29216" y="2001975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62134" y="1996270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95053" y="1989513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27971" y="1981526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60890" y="1972110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93808" y="1961039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26726" y="1948067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59645" y="1932928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92563" y="1915339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25482" y="1895015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0" y="1871673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91318" y="1845054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124237" y="1814944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157155" y="1781193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90074" y="1743746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222992" y="1702666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255910" y="1658158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88829" y="1610581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321747" y="1560449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354666" y="1508420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387584" y="1455262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420502" y="1401818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453421" y="1348945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486339" y="1297468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519258" y="1248121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552176" y="1201517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85094" y="1158120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618013" y="1118236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650931" y="1082020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683850" y="1049494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716768" y="1020568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749686" y="995068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782605" y="972762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815523" y="953382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848442" y="936641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881360" y="922255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914278" y="909946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947197" y="899453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980115" y="890537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013034" y="882981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045952" y="876593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078870" y="871203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111789" y="866661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144707" y="862841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177626" y="859630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210544" y="856935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243462" y="854675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276381" y="852780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309299" y="851192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342218" y="849863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375136" y="848751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408054" y="847820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440973" y="847041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473891" y="846390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8640" y="45720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8640" y="4572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· 8 MIN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54864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 llevas una sola cosa</a:t>
            </a:r>
            <a:endParaRPr lang="en-US" sz="3400" dirty="0"/>
          </a:p>
        </p:txBody>
      </p:sp>
      <p:sp>
        <p:nvSpPr>
          <p:cNvPr id="72" name="Text 70"/>
          <p:cNvSpPr/>
          <p:nvPr/>
        </p:nvSpPr>
        <p:spPr>
          <a:xfrm>
            <a:off x="548640" y="157276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te da una probabilidad. Convertirla en una decisión es elegir un umbral, y eso no lo decide la estadística: lo decide cuánto cuesta cada error.</a:t>
            </a:r>
            <a:endParaRPr lang="en-US" sz="1500" dirty="0"/>
          </a:p>
        </p:txBody>
      </p:sp>
      <p:sp>
        <p:nvSpPr>
          <p:cNvPr id="73" name="Shape 71"/>
          <p:cNvSpPr/>
          <p:nvPr/>
        </p:nvSpPr>
        <p:spPr>
          <a:xfrm>
            <a:off x="548640" y="2212848"/>
            <a:ext cx="5468112" cy="2377440"/>
          </a:xfrm>
          <a:prstGeom prst="roundRect">
            <a:avLst>
              <a:gd name="adj" fmla="val 2308"/>
            </a:avLst>
          </a:prstGeom>
          <a:solidFill>
            <a:srgbClr val="061834"/>
          </a:solidFill>
          <a:ln w="12700">
            <a:solidFill>
              <a:srgbClr val="1A3B7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04672" y="249631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42416" y="2395728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números del día</a:t>
            </a:r>
            <a:endParaRPr lang="en-US" sz="1500" dirty="0"/>
          </a:p>
        </p:txBody>
      </p:sp>
      <p:sp>
        <p:nvSpPr>
          <p:cNvPr id="76" name="Text 74"/>
          <p:cNvSpPr/>
          <p:nvPr/>
        </p:nvSpPr>
        <p:spPr>
          <a:xfrm>
            <a:off x="804672" y="27980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Supervivencia general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3931920" y="27980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38.4 %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804672" y="30998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Mujeres / hombres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3931920" y="3099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74.2 % / 18.9 %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804672" y="34015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 del sexo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393192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04672" y="3703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en prueba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393192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0.838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804672" y="40050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 / trivial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3931920" y="40050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0.772 / 0.616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804672" y="43068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umbral 0.3 → 0.7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3931920" y="43068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 → 0.49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6172200" y="2212848"/>
            <a:ext cx="5468112" cy="2377440"/>
          </a:xfrm>
          <a:prstGeom prst="roundRect">
            <a:avLst>
              <a:gd name="adj" fmla="val 2308"/>
            </a:avLst>
          </a:prstGeom>
          <a:solidFill>
            <a:srgbClr val="061834"/>
          </a:solidFill>
          <a:ln w="12700">
            <a:solidFill>
              <a:srgbClr val="1A3B7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419088" y="249631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656832" y="2395728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final</a:t>
            </a:r>
            <a:endParaRPr lang="en-US" sz="1500" dirty="0"/>
          </a:p>
        </p:txBody>
      </p:sp>
      <p:sp>
        <p:nvSpPr>
          <p:cNvPr id="91" name="Text 89"/>
          <p:cNvSpPr/>
          <p:nvPr/>
        </p:nvSpPr>
        <p:spPr>
          <a:xfrm>
            <a:off x="6419088" y="2798064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con ESTOS MISMOS datos, pero completo. Hoy usamos tres variables y rellenamos las edades con la mediana.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proyecto tendrás que decidir de verdad qué hacer con los 177 faltantes, construir variables nuevas a partir de Name y Cabin, comparar modelos, fijar un umbral con criterio y escribir el informe.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aprendiste el método. Allí lo aplicas solo.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548640" y="48006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061834"/>
          </a:solidFill>
          <a:ln w="12700">
            <a:solidFill>
              <a:srgbClr val="1A3B7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04672" y="50657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042416" y="4965192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 esto cierras el Módulo 4</a:t>
            </a:r>
            <a:endParaRPr lang="en-US" sz="1500" dirty="0"/>
          </a:p>
        </p:txBody>
      </p:sp>
      <p:sp>
        <p:nvSpPr>
          <p:cNvPr id="95" name="Text 93"/>
          <p:cNvSpPr/>
          <p:nvPr/>
        </p:nvSpPr>
        <p:spPr>
          <a:xfrm>
            <a:off x="804672" y="53309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sabes modelar un número (Clase 11) y una etiqueta (Clase 12), y validar los dos casos. Entre las dos clases cubres la mayor parte de los modelos que vas a encontrar en riesgo, fraude y crédito — incluido lo que hay debajo de un scorecard.</a:t>
            </a:r>
            <a:endParaRPr lang="en-US" sz="1250" dirty="0"/>
          </a:p>
        </p:txBody>
      </p:sp>
      <p:sp>
        <p:nvSpPr>
          <p:cNvPr id="96" name="Text 94"/>
          <p:cNvSpPr/>
          <p:nvPr/>
        </p:nvSpPr>
        <p:spPr>
          <a:xfrm>
            <a:off x="54864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Descriptiva e Inferencial · Módulo 4 · Clase 12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3531</Words>
  <Application>Microsoft Macintosh PowerPoint</Application>
  <PresentationFormat>Widescreen</PresentationFormat>
  <Paragraphs>449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12 — Regresión logística</dc:title>
  <dc:subject>PptxGenJS Presentation</dc:subject>
  <dc:creator>Rodrigo</dc:creator>
  <cp:lastModifiedBy>Josef Rodriguez</cp:lastModifiedBy>
  <cp:revision>4</cp:revision>
  <dcterms:created xsi:type="dcterms:W3CDTF">2026-08-28T16:12:39Z</dcterms:created>
  <dcterms:modified xsi:type="dcterms:W3CDTF">2026-08-29T01:48:39Z</dcterms:modified>
</cp:coreProperties>
</file>