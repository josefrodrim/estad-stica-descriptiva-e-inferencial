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 de t si H₀ fuera verdadera  (t con ν = 39)</c:v>
                </c:pt>
              </c:strCache>
            </c:strRef>
          </c:tx>
          <c:spPr>
            <a:solidFill>
              <a:srgbClr val="C9D8F5">
                <a:alpha val="85000"/>
              </a:srgbClr>
            </a:solidFill>
            <a:effectLst/>
          </c:spPr>
          <c:cat>
            <c:strRef>
              <c:f>Sheet1!$A$2:$A$46</c:f>
              <c:strCache>
                <c:ptCount val="45"/>
                <c:pt idx="2">
                  <c:v>-4</c:v>
                </c:pt>
                <c:pt idx="7">
                  <c:v>-3</c:v>
                </c:pt>
                <c:pt idx="12">
                  <c:v>-2</c:v>
                </c:pt>
                <c:pt idx="17">
                  <c:v>-1</c:v>
                </c:pt>
                <c:pt idx="22">
                  <c:v>0</c:v>
                </c:pt>
                <c:pt idx="27">
                  <c:v>1</c:v>
                </c:pt>
                <c:pt idx="32">
                  <c:v>2</c:v>
                </c:pt>
                <c:pt idx="37">
                  <c:v>3</c:v>
                </c:pt>
                <c:pt idx="42">
                  <c:v>4</c:v>
                </c:pt>
              </c:strCache>
            </c:strRef>
          </c:cat>
          <c:val>
            <c:numRef>
              <c:f>Sheet1!$B$2:$B$46</c:f>
              <c:numCache>
                <c:formatCode>General</c:formatCode>
                <c:ptCount val="45"/>
                <c:pt idx="0">
                  <c:v>1.2505841144484726E-4</c:v>
                </c:pt>
                <c:pt idx="1">
                  <c:v>2.2748547838905299E-4</c:v>
                </c:pt>
                <c:pt idx="2">
                  <c:v>4.0941597302371802E-4</c:v>
                </c:pt>
                <c:pt idx="3">
                  <c:v>7.2792994068158275E-4</c:v>
                </c:pt>
                <c:pt idx="4">
                  <c:v>1.2765438103295211E-3</c:v>
                </c:pt>
                <c:pt idx="5">
                  <c:v>2.2043333267809254E-3</c:v>
                </c:pt>
                <c:pt idx="6">
                  <c:v>3.7416028438765556E-3</c:v>
                </c:pt>
                <c:pt idx="7">
                  <c:v>6.2315175814656697E-3</c:v>
                </c:pt>
                <c:pt idx="8">
                  <c:v>1.0164378857716835E-2</c:v>
                </c:pt>
                <c:pt idx="9">
                  <c:v>1.6206836710712817E-2</c:v>
                </c:pt>
                <c:pt idx="10">
                  <c:v>2.5212564081914166E-2</c:v>
                </c:pt>
                <c:pt idx="11">
                  <c:v>3.8195100989066276E-2</c:v>
                </c:pt>
                <c:pt idx="12">
                  <c:v>5.6240537232369901E-2</c:v>
                </c:pt>
                <c:pt idx="13">
                  <c:v>8.0341582467156891E-2</c:v>
                </c:pt>
                <c:pt idx="14">
                  <c:v>0.11114957193918909</c:v>
                </c:pt>
                <c:pt idx="15">
                  <c:v>0.14866872361014177</c:v>
                </c:pt>
                <c:pt idx="16">
                  <c:v>0.19195332255498007</c:v>
                </c:pt>
                <c:pt idx="17">
                  <c:v>0.23890142796056199</c:v>
                </c:pt>
                <c:pt idx="18">
                  <c:v>0.28625010583229776</c:v>
                </c:pt>
                <c:pt idx="19">
                  <c:v>0.32985021917682544</c:v>
                </c:pt>
                <c:pt idx="20">
                  <c:v>0.3652287101786193</c:v>
                </c:pt>
                <c:pt idx="21">
                  <c:v>0.3883491798291423</c:v>
                </c:pt>
                <c:pt idx="22">
                  <c:v>0.39639341536517159</c:v>
                </c:pt>
                <c:pt idx="23">
                  <c:v>0.3883491798291423</c:v>
                </c:pt>
                <c:pt idx="24">
                  <c:v>0.3652287101786193</c:v>
                </c:pt>
                <c:pt idx="25">
                  <c:v>0.32985021917682544</c:v>
                </c:pt>
                <c:pt idx="26">
                  <c:v>0.28625010583229776</c:v>
                </c:pt>
                <c:pt idx="27">
                  <c:v>0.23890142796056199</c:v>
                </c:pt>
                <c:pt idx="28">
                  <c:v>0.19195332255498007</c:v>
                </c:pt>
                <c:pt idx="29">
                  <c:v>0.14866872361014177</c:v>
                </c:pt>
                <c:pt idx="30">
                  <c:v>0.11114957193918909</c:v>
                </c:pt>
                <c:pt idx="31">
                  <c:v>8.0341582467156891E-2</c:v>
                </c:pt>
                <c:pt idx="32">
                  <c:v>5.6240537232369901E-2</c:v>
                </c:pt>
                <c:pt idx="33">
                  <c:v>3.8195100989066276E-2</c:v>
                </c:pt>
                <c:pt idx="34">
                  <c:v>2.5212564081914166E-2</c:v>
                </c:pt>
                <c:pt idx="35">
                  <c:v>1.6206836710712817E-2</c:v>
                </c:pt>
                <c:pt idx="36">
                  <c:v>1.0164378857716835E-2</c:v>
                </c:pt>
                <c:pt idx="37">
                  <c:v>6.2315175814656697E-3</c:v>
                </c:pt>
                <c:pt idx="38">
                  <c:v>3.7416028438765556E-3</c:v>
                </c:pt>
                <c:pt idx="39">
                  <c:v>2.2043333267809254E-3</c:v>
                </c:pt>
                <c:pt idx="40">
                  <c:v>1.2765438103295211E-3</c:v>
                </c:pt>
                <c:pt idx="41">
                  <c:v>7.2792994068158275E-4</c:v>
                </c:pt>
                <c:pt idx="42">
                  <c:v>4.0941597302371802E-4</c:v>
                </c:pt>
                <c:pt idx="43">
                  <c:v>2.2748547838905299E-4</c:v>
                </c:pt>
                <c:pt idx="44">
                  <c:v>1.2505841144484726E-4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52-574A-96BD-7BA85CBAAC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El p-valor: las dos colas más allá de t = ±2.361</c:v>
                </c:pt>
              </c:strCache>
            </c:strRef>
          </c:tx>
          <c:spPr>
            <a:solidFill>
              <a:srgbClr val="E6115E">
                <a:alpha val="85000"/>
              </a:srgbClr>
            </a:solidFill>
            <a:effectLst/>
          </c:spPr>
          <c:cat>
            <c:strRef>
              <c:f>Sheet1!$A$2:$A$46</c:f>
              <c:strCache>
                <c:ptCount val="45"/>
                <c:pt idx="2">
                  <c:v>-4</c:v>
                </c:pt>
                <c:pt idx="7">
                  <c:v>-3</c:v>
                </c:pt>
                <c:pt idx="12">
                  <c:v>-2</c:v>
                </c:pt>
                <c:pt idx="17">
                  <c:v>-1</c:v>
                </c:pt>
                <c:pt idx="22">
                  <c:v>0</c:v>
                </c:pt>
                <c:pt idx="27">
                  <c:v>1</c:v>
                </c:pt>
                <c:pt idx="32">
                  <c:v>2</c:v>
                </c:pt>
                <c:pt idx="37">
                  <c:v>3</c:v>
                </c:pt>
                <c:pt idx="42">
                  <c:v>4</c:v>
                </c:pt>
              </c:strCache>
            </c:strRef>
          </c:cat>
          <c:val>
            <c:numRef>
              <c:f>Sheet1!$C$2:$C$46</c:f>
              <c:numCache>
                <c:formatCode>General</c:formatCode>
                <c:ptCount val="45"/>
                <c:pt idx="0">
                  <c:v>1.2505841144484726E-4</c:v>
                </c:pt>
                <c:pt idx="1">
                  <c:v>2.2748547838905299E-4</c:v>
                </c:pt>
                <c:pt idx="2">
                  <c:v>4.0941597302371802E-4</c:v>
                </c:pt>
                <c:pt idx="3">
                  <c:v>7.2792994068158275E-4</c:v>
                </c:pt>
                <c:pt idx="4">
                  <c:v>1.2765438103295211E-3</c:v>
                </c:pt>
                <c:pt idx="5">
                  <c:v>2.2043333267809254E-3</c:v>
                </c:pt>
                <c:pt idx="6">
                  <c:v>3.7416028438765556E-3</c:v>
                </c:pt>
                <c:pt idx="7">
                  <c:v>6.2315175814656697E-3</c:v>
                </c:pt>
                <c:pt idx="8">
                  <c:v>1.0164378857716835E-2</c:v>
                </c:pt>
                <c:pt idx="9">
                  <c:v>1.6206836710712817E-2</c:v>
                </c:pt>
                <c:pt idx="10">
                  <c:v>2.5212564081914166E-2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2.5212564081914166E-2</c:v>
                </c:pt>
                <c:pt idx="35">
                  <c:v>1.6206836710712817E-2</c:v>
                </c:pt>
                <c:pt idx="36">
                  <c:v>1.0164378857716835E-2</c:v>
                </c:pt>
                <c:pt idx="37">
                  <c:v>6.2315175814656697E-3</c:v>
                </c:pt>
                <c:pt idx="38">
                  <c:v>3.7416028438765556E-3</c:v>
                </c:pt>
                <c:pt idx="39">
                  <c:v>2.2043333267809254E-3</c:v>
                </c:pt>
                <c:pt idx="40">
                  <c:v>1.2765438103295211E-3</c:v>
                </c:pt>
                <c:pt idx="41">
                  <c:v>7.2792994068158275E-4</c:v>
                </c:pt>
                <c:pt idx="42">
                  <c:v>4.0941597302371802E-4</c:v>
                </c:pt>
                <c:pt idx="43">
                  <c:v>2.2748547838905299E-4</c:v>
                </c:pt>
                <c:pt idx="44">
                  <c:v>1.2505841144484726E-4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52-574A-96BD-7BA85CBAAC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7"/>
                    </a:solidFill>
                    <a:latin typeface="Arial"/>
                  </a:rPr>
                  <a:t>valores del estadístico 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8F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C3A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efecto grande  (d = 0.8)</c:v>
                </c:pt>
              </c:strCache>
            </c:strRef>
          </c:tx>
          <c:spPr>
            <a:ln w="38100" cap="flat">
              <a:solidFill>
                <a:srgbClr val="12B88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2B886"/>
              </a:solidFill>
              <a:ln w="9525" cap="flat">
                <a:solidFill>
                  <a:srgbClr val="12B88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  <c:pt idx="5">
                  <c:v>80</c:v>
                </c:pt>
                <c:pt idx="6">
                  <c:v>120</c:v>
                </c:pt>
                <c:pt idx="7">
                  <c:v>200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28.1</c:v>
                </c:pt>
                <c:pt idx="1">
                  <c:v>61.6</c:v>
                </c:pt>
                <c:pt idx="2">
                  <c:v>92.4</c:v>
                </c:pt>
                <c:pt idx="3">
                  <c:v>98.8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411-3247-8073-0D96ADACFB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efecto mediano (d = 0.5)</c:v>
                </c:pt>
              </c:strCache>
            </c:strRef>
          </c:tx>
          <c:spPr>
            <a:ln w="38100" cap="flat">
              <a:solidFill>
                <a:srgbClr val="1A56E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56E8"/>
              </a:solidFill>
              <a:ln w="9525" cap="flat">
                <a:solidFill>
                  <a:srgbClr val="1A56E8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  <c:pt idx="5">
                  <c:v>80</c:v>
                </c:pt>
                <c:pt idx="6">
                  <c:v>120</c:v>
                </c:pt>
                <c:pt idx="7">
                  <c:v>200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14.1</c:v>
                </c:pt>
                <c:pt idx="1">
                  <c:v>29.3</c:v>
                </c:pt>
                <c:pt idx="2">
                  <c:v>56.5</c:v>
                </c:pt>
                <c:pt idx="3">
                  <c:v>75.400000000000006</c:v>
                </c:pt>
                <c:pt idx="4">
                  <c:v>93.4</c:v>
                </c:pt>
                <c:pt idx="5">
                  <c:v>99.3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411-3247-8073-0D96ADACFB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efecto pequeño (d = 0.2)</c:v>
                </c:pt>
              </c:strCache>
            </c:strRef>
          </c:tx>
          <c:spPr>
            <a:ln w="38100" cap="flat">
              <a:solidFill>
                <a:srgbClr val="E611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115E"/>
              </a:solidFill>
              <a:ln w="9525" cap="flat">
                <a:solidFill>
                  <a:srgbClr val="E6115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  <c:pt idx="5">
                  <c:v>80</c:v>
                </c:pt>
                <c:pt idx="6">
                  <c:v>120</c:v>
                </c:pt>
                <c:pt idx="7">
                  <c:v>200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6.4</c:v>
                </c:pt>
                <c:pt idx="1">
                  <c:v>8.8000000000000007</c:v>
                </c:pt>
                <c:pt idx="2">
                  <c:v>13.6</c:v>
                </c:pt>
                <c:pt idx="3">
                  <c:v>18.5</c:v>
                </c:pt>
                <c:pt idx="4">
                  <c:v>28.4</c:v>
                </c:pt>
                <c:pt idx="5">
                  <c:v>42.4</c:v>
                </c:pt>
                <c:pt idx="6">
                  <c:v>58.4</c:v>
                </c:pt>
                <c:pt idx="7">
                  <c:v>80.400000000000006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1411-3247-8073-0D96ADACFB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7"/>
                    </a:solidFill>
                    <a:latin typeface="Arial"/>
                  </a:rPr>
                  <a:t>tamaño de la muestra (n)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C3A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l"/>
        <c:majorGridlines>
          <c:spPr>
            <a:ln w="12700" cap="flat">
              <a:solidFill>
                <a:srgbClr val="E1E8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7"/>
                    </a:solidFill>
                    <a:latin typeface="Arial"/>
                  </a:rPr>
                  <a:t>potencia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C3A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P(al menos un falso positivo)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0A2559"/>
                    </a:solidFill>
                    <a:latin typeface="Arial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50</c:v>
                </c:pt>
                <c:pt idx="6">
                  <c:v>100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9.8000000000000007</c:v>
                </c:pt>
                <c:pt idx="2">
                  <c:v>22.6</c:v>
                </c:pt>
                <c:pt idx="3">
                  <c:v>40.1</c:v>
                </c:pt>
                <c:pt idx="4">
                  <c:v>64.2</c:v>
                </c:pt>
                <c:pt idx="5">
                  <c:v>92.3</c:v>
                </c:pt>
                <c:pt idx="6">
                  <c:v>99.4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A9-3644-9C82-8E8D9AD2D6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7"/>
                    </a:solidFill>
                    <a:latin typeface="Arial"/>
                  </a:rPr>
                  <a:t>número de pruebas independientes al 5 %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3A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1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48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 con la promesa del cierre de la Clase 4: 'hoy van a ver que el intervalo de la clase pasada y la prueba de hoy son la misma cosa dicha con distinta gramática'. Y con la advertencia: 'el p-valor es el número más usado y peor entendido de toda la estadística. No vamos a aprender a calcularlo — eso es una línea de código. Vamos a aprender a no decir tonterías con él.'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 en que no es un tema nuevo. Muchos cursos presentan IC y pruebas como capítulos separados y los alumnos nunca conectan. Aquí la conexión es el eje: la slide 8 la demuestra con los mismos números de la clase pasada. La tarjeta oscura es el caso que resolveremos tres veces a lo largo de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bloque 4 es el que se comprime si vienen retrasados. Los bloques 2 y 3 no se tocan: la dualidad IC-prueba y la potencia son lo que distingue esta clase de un tutorial de scipy.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leas las ocho. Lee H₀, H₁ y p-valor, y di que las otras cinco están ahí para volver durante el laboratorio. La regla del pie es la más útil de la slide y hay que decirla mirando al grupo: H₀ es siempre lo aburrido. «El tratamiento no funciona», «la tasa no cambió», «los dos grupos son iguales». Si tu H₀ suena interesante, la invertiste.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analogía del juicio funciona en cualquier grupo y vale los 90 segundos. Lo importante es el remate: absuelto ≠ inocente. Las tres tarjetas de abajo son las frases que van a leer en informes reales, incluidos los suyos. Si el grupo es de riesgo: la frase 'el modelo no muestra sesgo' suele significar 'no lo detectamos con la muestra que usamos', y son cosas muy distintas ante un regulador.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los cinco con el puntero y detente en el 5: 'decide Y REDACTA'. El paso que todos omiten es reportar el efecto y el intervalo. Un informe que dice solo 'p &lt; 0.05' es un informe incompleto y hoy aprenden por qué. La tarjeta oscura del final es la semilla del p-hacking; anúnciala y déjala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Haz el cálculo del segundo caso en la pizarra: (3125 − 2300) / 349.43 = 2.361. Es la misma aritmética del z de la Clase 3. El punto de la tabla: la muestra es idéntica en las dos filas. El p-valor no es una propiedad de tus datos, es una propiedad de la pareja (datos, hipótesis). Mucha gente habla del p-valor como si midiera la calidad de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la que hace que la clase valga la pena para quien ya vio pruebas de hipótesis. Muéstrala en silencio unos segundos y luego recorre la recta con el puntero: el verde está dentro, el magenta está fuera. Después lee la tarjeta oscura despejando la desigualdad en voz alta. Consecuencia práctica que vale decir: si reportas el intervalo, ya reportaste el resultado de TODAS las pruebas posibles, y encima informas del tamaño del efecto. Por eso muchas revistas exigen intervalos y no p-valores.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la tarjeta oscura literalmente y luego repite: 'todo lo que no está en esa frase, no es el p-valor'. Es el gancho para la slide 10. Señala el área magenta: es diminuta, y eso es lo que significa 2.3 %. La tarjeta del ×2 es donde se hace trampa con más frecuencia: elegir una cola después de ver el signo del efecto duplica tu tasa de falsos positivos sin que se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1 merece 90 segundos y la analogía del test médico del pie, que lo hace evidente: si una enfermedad afecta a 1 en 10 000 y el test tiene 99 % de sensibilidad y especificidad, un positivo da apenas ~1 % de probabilidad de estar enfermo. Mismo error de invertir el condicional. El error 3 es el que produce daño en empresas con muchos datos, y es la slide 14. El error 4: pide que a partir de hoy reporten p = 0.043, no 'p &lt; 0.05'.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minutos. El dato que engancha es el institucional: una asociación profesional emitiendo su primera declaración sobre un método en más de siglo y medio. Eso comunica la magnitud del problema mejor que cualquier argumento técnico. La tarjeta oscura final es la que hay que decir despacio, porque es la traducción a su trabajo: el sesgo de publicación existe dentro de las empresas y ahí nadie replica nada. Si preguntan por los números exactos de las replicaciones, no los inventes: di que las cifras varían por campo y por criterio de replicación, y que lo relevante es el orden de magnitud del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2×2 es estándar; el valor está en los dos ejemplos y en la tarjeta final. Pregunta al grupo: '¿cuál de los dos errores les cuesta más en su trabajo?'. En fraude la respuesta suele ser el tipo II, y sin embargo todos los controles están puestos sobre el tipo I. Esa contradicción es el punto de la slide. Y remata: bajar α sube β. No se pueden minimizar los dos a la vez con la misma n; lo único que rompe el trade-off es más muestra.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la curva magenta: con n=30 y un efecto pequeño la potencia es del 18.5 %. Es decir, 4 de cada 5 veces el estudio no vería el efecto aunque exista. Y el investigador escribiría 'no encontramos diferencias'. Ese es el diagnóstico de una parte enorme de la literatura y de los análisis internos que verán. La tabla de la derecha es la herramienta operativa: 15, 34, 199. Vale que anoten esos tres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la columna del p-valor de arriba abajo y detente en n = 400: es ahí donde cruza. Pregunta: '¿cambió el efecto entre la fila 1 y la fila 6?'. No: sigue siendo 0.10. Lo único que cambió fue n. Con sus 40 000 filas, todo va a salir significativo, y por eso el p-valor casi no les sirve como criterio de decisión. La frase de cierre: la pregunta correcta es cuántos soles, no si p es menor que 0.05.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minutos. La fuerza del caso es que el método quedó descrito por el propio investigador en un texto público: no hay que interpretar intenciones. Las cuatro tarjetas de abajo son el contenido operativo: pide que levanten la mano quienes hayan hecho la número 4 (buscar subgrupos). Se levantan muchas manos, y sin mala intención. Ese es el punto: el p-hacking no requiere deshonestidad, solo requiere curiosidad sin registro previo. Si preguntan por el número exacto de retractaciones, di que fueron más de una decena y que la cifra siguió moviéndose; no inventes un número redondo.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 'slide para fotografiar' y da 20 segundos de silencio. Después señala solo dos filas: la t de Welch (porque el default de scipy es el equivocado y casi nadie lo cambia) y la última (no paramétricas). La tarjeta oscura es el cierre conceptual: muchas pruebas en informes corporativos no responden ninguna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gráfico habla solo: con 20 pruebas la probabilidad de al menos un falso positivo es del 64 %, no del 5 %. La tarjeta de abajo a la izquierda es la que les toca: el dashboard de 30 métricas produce un falso hallazgo y medio cada mes, y alguien lo va a presentar como tendencia. De las tres correcciones, la única que hay que recordar como default es Holm; FDR cuando son cientos. Bonferroni se nombra porque es la que todos conocen.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1 es el más frecuente en informes internos; el 2 es el más frecuente cuando hay muchos datos, que es su caso. Si el tiempo aprieta, di el 1 y el 4 y pasa al Colab: los cuatro están escritos.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Reparte el enlace acá, no antes. Trabajan en parejas. Recorre el aula durante el bloque 2: la dualidad se entiende cuando la ven salir de su propio código, y ahí es donde se traban con el bucle sobre μ₀. El bloque 5 es el que van a recordar en un año.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la más práctica de la sesión y la que más rápido cambia su trabajo. Lee las dos versiones en voz alta, una después de la otra: el contraste convence sin argumentar. Y remata: el sexto punto ('cuántas pruebas corriste') es el que casi nadie escribe y el único que permite a un tercero juzgar si el resultado es creíble.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el checklist y pide pulgares en cada punto. El punto crítico es el segundo: si no pueden enunciar qué dice un p-valor, vuelve 20 segundos a la tarjeta oscura de la slide 9 y repítela. El reto es de campo y va a producir la mejor conversación de la Clase 6: casi nadie va a poder contestar las tres preguntas, y descubrir eso sobre informes de su propia organización es más persuasivo que cualquier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74459" y="6125882"/>
            <a:ext cx="58522" cy="59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32752" y="6125592"/>
            <a:ext cx="58522" cy="88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91045" y="6125175"/>
            <a:ext cx="58522" cy="130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9338" y="6124581"/>
            <a:ext cx="58522" cy="189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07631" y="6123745"/>
            <a:ext cx="58522" cy="273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65924" y="6122580"/>
            <a:ext cx="58522" cy="3900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4217" y="6120973"/>
            <a:ext cx="58522" cy="550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2510" y="6118781"/>
            <a:ext cx="58522" cy="769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0803" y="6115824"/>
            <a:ext cx="58522" cy="1065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99096" y="6111879"/>
            <a:ext cx="58522" cy="14601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7389" y="6106672"/>
            <a:ext cx="58522" cy="1980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15682" y="6099875"/>
            <a:ext cx="58522" cy="2660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73975" y="6091102"/>
            <a:ext cx="58522" cy="3537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2268" y="6079903"/>
            <a:ext cx="58522" cy="4657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90561" y="6065771"/>
            <a:ext cx="58522" cy="6070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48854" y="6048137"/>
            <a:ext cx="58522" cy="78343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07147" y="6026387"/>
            <a:ext cx="58522" cy="100093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5440" y="5999872"/>
            <a:ext cx="58522" cy="12660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23733" y="5967926"/>
            <a:ext cx="58522" cy="158554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82026" y="5929894"/>
            <a:ext cx="58522" cy="19658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0319" y="5885166"/>
            <a:ext cx="58522" cy="241314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8612" y="5833209"/>
            <a:ext cx="58522" cy="293271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6905" y="5773611"/>
            <a:ext cx="58522" cy="352869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15198" y="5706126"/>
            <a:ext cx="58522" cy="42035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3491" y="5630717"/>
            <a:ext cx="58522" cy="49576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1784" y="5547599"/>
            <a:ext cx="58522" cy="578881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90077" y="5457270"/>
            <a:ext cx="58522" cy="66921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48370" y="5360545"/>
            <a:ext cx="58522" cy="76593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6663" y="5258562"/>
            <a:ext cx="58522" cy="867918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64956" y="5152786"/>
            <a:ext cx="58522" cy="97369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3249" y="5044987"/>
            <a:ext cx="58522" cy="108149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1542" y="4937207"/>
            <a:ext cx="58522" cy="118927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39835" y="4831698"/>
            <a:ext cx="58522" cy="1294782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98128" y="4730855"/>
            <a:ext cx="58522" cy="139562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6421" y="4637126"/>
            <a:ext cx="58522" cy="148935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14714" y="4552917"/>
            <a:ext cx="58522" cy="157356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73007" y="4480490"/>
            <a:ext cx="58522" cy="164599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31300" y="4421860"/>
            <a:ext cx="58522" cy="170462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89593" y="4378707"/>
            <a:ext cx="58522" cy="174777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7886" y="4352293"/>
            <a:ext cx="58522" cy="1774187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06179" y="4343400"/>
            <a:ext cx="58522" cy="178308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64472" y="4352293"/>
            <a:ext cx="58522" cy="1774187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22765" y="4378707"/>
            <a:ext cx="58522" cy="174777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81058" y="4421860"/>
            <a:ext cx="58522" cy="170462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39351" y="4480490"/>
            <a:ext cx="58522" cy="164599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97644" y="4552917"/>
            <a:ext cx="58522" cy="157356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55937" y="4637126"/>
            <a:ext cx="58522" cy="148935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14230" y="4730855"/>
            <a:ext cx="58522" cy="139562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672523" y="4831698"/>
            <a:ext cx="58522" cy="1294782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30816" y="4937207"/>
            <a:ext cx="58522" cy="118927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789109" y="5044987"/>
            <a:ext cx="58522" cy="108149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847402" y="5152786"/>
            <a:ext cx="58522" cy="97369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05695" y="5258562"/>
            <a:ext cx="58522" cy="867918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63988" y="5360545"/>
            <a:ext cx="58522" cy="76593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022281" y="5457270"/>
            <a:ext cx="58522" cy="66921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80574" y="5547599"/>
            <a:ext cx="58522" cy="578881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38867" y="5630717"/>
            <a:ext cx="58522" cy="49576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197160" y="5706126"/>
            <a:ext cx="58522" cy="42035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55453" y="5773611"/>
            <a:ext cx="58522" cy="352869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313746" y="5833209"/>
            <a:ext cx="58522" cy="293271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72039" y="5885166"/>
            <a:ext cx="58522" cy="241314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430332" y="5929894"/>
            <a:ext cx="58522" cy="19658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88625" y="5967926"/>
            <a:ext cx="58522" cy="158554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546918" y="5999872"/>
            <a:ext cx="58522" cy="12660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605211" y="6026387"/>
            <a:ext cx="58522" cy="100093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663504" y="6048137"/>
            <a:ext cx="58522" cy="78343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721797" y="6065771"/>
            <a:ext cx="58522" cy="6070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780090" y="6079903"/>
            <a:ext cx="58522" cy="4657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838383" y="6091102"/>
            <a:ext cx="58522" cy="3537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896676" y="6099875"/>
            <a:ext cx="58522" cy="2660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954969" y="6106672"/>
            <a:ext cx="58522" cy="1980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013262" y="6111879"/>
            <a:ext cx="58522" cy="14601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071555" y="6115824"/>
            <a:ext cx="58522" cy="1065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129848" y="6118781"/>
            <a:ext cx="58522" cy="769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188141" y="6120973"/>
            <a:ext cx="58522" cy="550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246434" y="6122580"/>
            <a:ext cx="58522" cy="3900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304727" y="6123745"/>
            <a:ext cx="58522" cy="273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363020" y="6124581"/>
            <a:ext cx="58522" cy="189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421313" y="6125175"/>
            <a:ext cx="58522" cy="130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479606" y="6125592"/>
            <a:ext cx="58522" cy="88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537899" y="6125882"/>
            <a:ext cx="58522" cy="59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903720" y="6126480"/>
            <a:ext cx="4663440" cy="0"/>
          </a:xfrm>
          <a:prstGeom prst="line">
            <a:avLst/>
          </a:prstGeom>
          <a:noFill/>
          <a:ln w="12700">
            <a:solidFill>
              <a:srgbClr val="3A6BB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903720" y="61996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colas: el p-valor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685800" y="118872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580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CLASE 5</a:t>
            </a:r>
            <a:endParaRPr lang="en-US" sz="1150" dirty="0"/>
          </a:p>
        </p:txBody>
      </p:sp>
      <p:sp>
        <p:nvSpPr>
          <p:cNvPr id="87" name="Text 85"/>
          <p:cNvSpPr/>
          <p:nvPr/>
        </p:nvSpPr>
        <p:spPr>
          <a:xfrm>
            <a:off x="685800" y="17373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gramática</a:t>
            </a:r>
            <a:endParaRPr lang="en-US" sz="4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duda</a:t>
            </a:r>
            <a:endParaRPr lang="en-US" sz="4400" dirty="0"/>
          </a:p>
        </p:txBody>
      </p:sp>
      <p:sp>
        <p:nvSpPr>
          <p:cNvPr id="88" name="Text 86"/>
          <p:cNvSpPr/>
          <p:nvPr/>
        </p:nvSpPr>
        <p:spPr>
          <a:xfrm>
            <a:off x="713232" y="35661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hipótesis, el p-valor, los errores tipo I y II,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potencia y el problema de hacer muchas pruebas a la vez.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713232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713232" y="5394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sesión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3502152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bloques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3502152" y="5394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laboratorio en Colab</a:t>
            </a:r>
            <a:endParaRPr lang="en-US" sz="1150" dirty="0"/>
          </a:p>
        </p:txBody>
      </p:sp>
      <p:sp>
        <p:nvSpPr>
          <p:cNvPr id="93" name="Text 91"/>
          <p:cNvSpPr/>
          <p:nvPr/>
        </p:nvSpPr>
        <p:spPr>
          <a:xfrm>
            <a:off x="6291072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= 42</a:t>
            </a:r>
            <a:endParaRPr lang="en-US" sz="2000" dirty="0"/>
          </a:p>
        </p:txBody>
      </p:sp>
      <p:sp>
        <p:nvSpPr>
          <p:cNvPr id="94" name="Text 92"/>
          <p:cNvSpPr/>
          <p:nvPr/>
        </p:nvSpPr>
        <p:spPr>
          <a:xfrm>
            <a:off x="6291072" y="5394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y notebook coinciden</a:t>
            </a:r>
            <a:endParaRPr lang="en-US" sz="1150" dirty="0"/>
          </a:p>
        </p:txBody>
      </p:sp>
      <p:sp>
        <p:nvSpPr>
          <p:cNvPr id="95" name="Text 93"/>
          <p:cNvSpPr/>
          <p:nvPr/>
        </p:nvSpPr>
        <p:spPr>
          <a:xfrm>
            <a:off x="713232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37 horas académicas · 14 sesiones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pregunta, otra gramática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intervalo de la Clase 4 y la prueba de hoy no son dos temas: son dos formas de decir lo mismo.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22392" cy="1664208"/>
          </a:xfrm>
          <a:prstGeom prst="roundRect">
            <a:avLst>
              <a:gd name="adj" fmla="val 329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57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4323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intervalo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28346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promedio del mes está entre S/ 2 418 y S/ 3 832.»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Respondes con un rango de valores compatibles con tus datos.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22392" cy="1664208"/>
          </a:xfrm>
          <a:prstGeom prst="roundRect">
            <a:avLst>
              <a:gd name="adj" fmla="val 329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2157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73952" y="24323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73952" y="28346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«¿Es compatible mi muestra con que el promedio sea S/ 2 300?»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Respondes sí o no a un valor concreto que alguien propuso.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13632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7880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4078224"/>
            <a:ext cx="1027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equivalencia exacta, que verás demostrada en la slide 8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4439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valor está fuera de tu intervalo de confianza al 95 % ⟺ ese valor se rechaza en una prueba bilateral al 5 %. No es una analogía ni una regla mnemotécnica: es la misma desigualdad despejada de dos maneras.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91672" cy="987552"/>
          </a:xfrm>
          <a:prstGeom prst="roundRect">
            <a:avLst>
              <a:gd name="adj" fmla="val 555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4589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5358384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abre la clase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70585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comité afirma que el monto promedio del mes fue S/ 2 300. Tú revisaste 40 transacciones y te salió S/ 3 125. ¿Tienes evidencia suficiente para contradecirlos, o tu diferencia cabe dentro de lo que el azar del muestreo explica?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de construcción conceptual · 65 min de laboratorio en Colab · 10 min de cierre.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315200" cy="2688336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lógica de la prueba y los cinco pasos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estadístico, la dualidad con el IC y el p-valor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 + 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tipo I y II · potencia · tamaño del efecto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Comparaciones múltiples y qué prueba usar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Laboratorio guiado en Colab (5 bloques)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Cierre, checklist y reto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64608"/>
            <a:ext cx="7315200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5111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5010912"/>
            <a:ext cx="6528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 honesta sobre esta clase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37667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un p-valor es una línea de código y lo dominarás en el bloque 1 del Colab. El resto de la sesión trata de algo más difícil: no decir tonterías con él. La mitad de las slides de hoy son sobre lo que el p-valor NO dice.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92440" y="2011680"/>
            <a:ext cx="3547872" cy="2697480"/>
          </a:xfrm>
          <a:prstGeom prst="roundRect">
            <a:avLst>
              <a:gd name="adj" fmla="val 203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39328" y="23134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77072" y="221284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339328" y="260604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Plantear H₀ y H₁ sin equivocarte de dirección.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un p-valor con precisión de auditoría.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la potencia antes de correr el estudio.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«significativo» de «importante».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cuando haces muchas pruebas.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92440" y="4864608"/>
            <a:ext cx="3547872" cy="1316736"/>
          </a:xfrm>
          <a:prstGeom prst="roundRect">
            <a:avLst>
              <a:gd name="adj" fmla="val 416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39328" y="512978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77072" y="502920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Prerrequisito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39328" y="54132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4: el error estándar, la t y qué significa «95 %». Sin eso, el p-valor de hoy es magia.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bloques 1 a 4 suman 45 min de exposición efectiva; el material extra de las slides queda como apoyo de estudio.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FÓRMULA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Diccionario: ocho términos y ninguno es opcional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aparece hoy en una frase que podrías tener que defender ante un auditor.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75104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2121408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12140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12264" y="209397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«hache cero»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12264" y="233172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hipótesis nula. Lo que se asume verdadero hasta que la evidencia diga lo contrario. Siempre contiene una igualdad.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975104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64224" y="2121408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212140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81544" y="209397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«hache uno»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81544" y="233172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hipótesis alternativa. Lo que sostienes tú. Es la que quieres demostrar y la que nunca se «prueba», solo se apoya.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3191256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191256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12264" y="316382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«alfa»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12264" y="3401568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rechazar H₀ siendo verdadera. La eliges tú antes de ver los datos. Casi siempre 0.05.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044952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64224" y="3191256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3191256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81544" y="316382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«beta»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81544" y="3401568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NO rechazar H₀ siendo falsa. Casi nadie la calcula, y ahí está el problema.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" y="4261104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426110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112264" y="42336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β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12264" y="4471416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detectar un efecto que sí existe. El estándar profesional es 80 % o más.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114800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64224" y="4261104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4224" y="426110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81544" y="42336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«pe»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81544" y="4471416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H₀ fuera verdadera, la probabilidad de ver datos así de extremos o más. Nada más que eso.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184648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" y="5330952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53309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112264" y="53035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t, z, χ², F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112264" y="5541264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que resume tu muestra en una sola cifra comparable con una distribución conocida.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5184648"/>
            <a:ext cx="54223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64224" y="5330952"/>
            <a:ext cx="1298448" cy="640080"/>
          </a:xfrm>
          <a:prstGeom prst="roundRect">
            <a:avLst>
              <a:gd name="adj" fmla="val 8571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4224" y="533095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781544" y="53035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de Cohen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81544" y="5541264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 la diferencia, en desviaciones estándar. Es lo que el p-valor NO te dice.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que evita el 90 % de los errores de planteamiento: H₀ es siempre la hipótesis del «no pasa nada». Si tu H₀ es interesante, la planteaste al revés.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argumenta al revés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prueba de hipótesis no demuestra lo que quieres. Intenta hacer insostenible lo contrario.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68112" cy="2286000"/>
          </a:xfrm>
          <a:prstGeom prst="roundRect">
            <a:avLst>
              <a:gd name="adj" fmla="val 24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4942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148840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analogía del juicio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542032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es el acusado y entra con presunción de inocencia. Tú eres el fiscal: presentas evidencia (tus datos) e intentas mostrar que es implausible bajo esa presunción.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evidencia es fuerte, se rechaza H₀. Si no lo es, H₀ queda absuelta.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ahí está el detalle que casi nadie respeta: absuelto no significa inocente, significa que no hubo evidencia suficiente.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46811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224942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2148840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frases que sí puedes escribir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9088" y="257860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rechazas H₀: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19088" y="2798064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«Los datos son incompatibles con que la tasa no haya cambiado (p = 0.02).»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325526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NO rechazas H₀: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19088" y="347472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encontramos evidencia suficiente de un cambio (p = 0.36). Con n = 40 y esta variabilidad, solo podríamos haber detectado diferencias mayores a X.»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0740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572000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5720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08176" y="4553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«Demostramos que H₀ es verdadera»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9808" y="49926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rechazar no es demostrar. Una muestra chica no rechaza casi nada.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440740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98848" y="4572000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98848" y="45720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57216" y="4553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hay diferencia»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498848" y="49926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Correcto: no la detectaste. Con esa n, quizá no podías.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440740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888" y="4572000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888" y="45720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06256" y="4553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efecto es cero»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47888" y="49926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estimaste que fuera cero; solo no descartaste que lo sea.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8887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asimetría es deliberada: el método está construido para controlar el error de afirmar algo falso, no el de no darse cuenta de algo verdadero. Ese segundo error es la slide 12.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pasos de cualquier prueba de hipótesis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prueba que verás en tu vida — t, χ², F, Mann-Whitney — es esta misma receta con otro estadístico.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762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07568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 H₀ y H₁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931920" y="21031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mirar los datos. H₀ lleva la igualdad; H₁ es lo que sostienes.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89720" y="204825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H₀: μ = 2 300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H₁: μ ≠ 2 300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99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28986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α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93192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antes. Es tu tolerancia a equivocarte afirmando. Cambiarla después es trampa.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89720" y="287121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0.05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3931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8221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37216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estadístico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931920" y="374904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la muestra en un número comparable con una distribución conocida.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89720" y="369417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2.361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6227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645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454456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Obtén el p-valor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931920" y="457200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ver algo así de extremo si H₀ fuera verdadera.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89720" y="451713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0.0233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28523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4681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98448" y="53675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y redacta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931920" y="539496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α → rechazas. Y reportas siempre el efecto y el intervalo, no solo el veredicto.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89720" y="534009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61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&lt; 0.05 → se rechaza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144768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61447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1 y 2 van ANTES de ver los datos. Si los decides después, el p-valor deja de significar lo que dice significar — y eso es la slide 15.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ESTADÍSTICO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número: ¿a cuántos errores estándar estoy de H₀?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z de la Clase 3, con dos cambios: el centro lo pone H₀ y el denominador es el error estándar.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38528"/>
            <a:ext cx="11091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 =  ( x̄  −  μ₀ )  /  ( s / √n 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07008" y="3163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x̄ − μ₀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35844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que observaste. μ₀ es el valor que H₀ propone, no un dato tuyo.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2999232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98848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56048" y="3163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/ √n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8848" y="35844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estándar de la Clase 4. Convierte la diferencia en «unidades de ruido muestral».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2999232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47888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05088" y="3163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cociente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47888" y="35844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«Mi diferencia vale 2.36 errores estándar.» Comparable con la t, sin importar la unidad original.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11091672" cy="126187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H₀ propone que μ₀ =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 observada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bilateral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 a α =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2 800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325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rechaza H₀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2 300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825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rechaza H₀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48640" y="587044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5870448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muestra (n = 40, x̄ = S/ 3 125, s = S/ 2 210, EE = 349.43) y dos veredictos opuestos. Lo único que cambió fue la afirmación que estábamos poniendo a prueba.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EQUIVALENCIA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intervalo de la Clase 4 ya contenía todas las pruebas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intervalo de confianza es el conjunto de todos los valores que una prueba NO rechazaría.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3035808"/>
            <a:ext cx="10241280" cy="0"/>
          </a:xfrm>
          <a:prstGeom prst="line">
            <a:avLst/>
          </a:prstGeom>
          <a:noFill/>
          <a:ln w="19050">
            <a:solidFill>
              <a:srgbClr val="5B6B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2 000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36865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1105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2 200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67891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2131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2 400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98916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33156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2 600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9942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4182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2 800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0967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95207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3 000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91993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6233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3 200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23018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7258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3 400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454044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88284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3 600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85069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19309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3 800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316095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50335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4 000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1247120" y="3035808"/>
            <a:ext cx="0" cy="1005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881360" y="3154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4 200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52635" y="2633472"/>
            <a:ext cx="6580446" cy="402336"/>
          </a:xfrm>
          <a:prstGeom prst="rect">
            <a:avLst/>
          </a:prstGeom>
          <a:solidFill>
            <a:srgbClr val="C9D8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52635" y="2633472"/>
            <a:ext cx="65804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confianza al 95 %  ·  zona de NO rechazo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952635" y="2523744"/>
            <a:ext cx="0" cy="512064"/>
          </a:xfrm>
          <a:prstGeom prst="line">
            <a:avLst/>
          </a:prstGeom>
          <a:noFill/>
          <a:ln w="31750">
            <a:solidFill>
              <a:srgbClr val="1A56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49715" y="22494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2 418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533081" y="2523744"/>
            <a:ext cx="0" cy="512064"/>
          </a:xfrm>
          <a:prstGeom prst="line">
            <a:avLst/>
          </a:prstGeom>
          <a:noFill/>
          <a:ln w="31750">
            <a:solidFill>
              <a:srgbClr val="1A56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30161" y="22494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3 832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4278" y="296722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7058" y="19933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= 3 125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42858" y="2249424"/>
            <a:ext cx="0" cy="256032"/>
          </a:xfrm>
          <a:prstGeom prst="line">
            <a:avLst/>
          </a:prstGeom>
          <a:noFill/>
          <a:ln w="12700">
            <a:solidFill>
              <a:srgbClr val="0A2559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729942" y="2944368"/>
            <a:ext cx="0" cy="18288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29942" y="3438144"/>
            <a:ext cx="0" cy="512064"/>
          </a:xfrm>
          <a:prstGeom prst="line">
            <a:avLst/>
          </a:prstGeom>
          <a:noFill/>
          <a:ln w="28575">
            <a:solidFill>
              <a:srgbClr val="12B886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3769822" y="39684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μ₀ = 2 800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0.3581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402378" y="2944368"/>
            <a:ext cx="0" cy="182880"/>
          </a:xfrm>
          <a:prstGeom prst="line">
            <a:avLst/>
          </a:prstGeom>
          <a:noFill/>
          <a:ln w="28575">
            <a:solidFill>
              <a:srgbClr val="E611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02378" y="3438144"/>
            <a:ext cx="0" cy="512064"/>
          </a:xfrm>
          <a:prstGeom prst="line">
            <a:avLst/>
          </a:prstGeom>
          <a:noFill/>
          <a:ln w="28575">
            <a:solidFill>
              <a:srgbClr val="E6115E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442258" y="39684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μ₀ = 2 300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0.0233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645152"/>
            <a:ext cx="5422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6384" y="47914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156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μ₀ = 2 800 cae DENTRO del intervalo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86384" y="504748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prueba da p = 0.3581, que es mayor que 0.05: no se rechaza. Las dos herramientas dicen lo mismo.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17920" y="4645152"/>
            <a:ext cx="542239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55664" y="47914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μ₀ = 2 300 cae FUERA del intervalo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455664" y="504748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prueba da p = 0.0233, que es menor que 0.05: se rechaza. Otra vez coinciden, y no por casualidad.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5870448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4672" y="608076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2416" y="5980176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 la misma desigualdad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04672" y="629107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Rechazas cuando |x̄ − μ₀| / EE &gt; t crítico, es decir cuando |x̄ − μ₀| &gt; t·EE. El intervalo es exactamente x̄ ± t·EE. Así que «μ₀ fuera del intervalo» y «se rechaza H₀» son la misma condición escrita de dos maneras.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exactamente, dibujado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área de las colas de la distribución que tendrías SI H₀ fuera verdadera.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938528"/>
          <a:ext cx="72694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532120" y="340156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área, y su gemela de la</a:t>
            </a:r>
            <a:endParaRPr lang="en-US" sz="10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izquierda, son el p-valor  ↓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046720" y="1938528"/>
            <a:ext cx="3593592" cy="1572768"/>
          </a:xfrm>
          <a:prstGeom prst="roundRect">
            <a:avLst>
              <a:gd name="adj" fmla="val 3488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93608" y="22037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31352" y="210312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definición, completa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93608" y="2468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Suponiendo que H₀ es verdadera, la probabilidad de obtener un estadístico igual o más extremo que el que obtuviste.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no está en esa frase, no es el p-valor.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0" y="3611880"/>
            <a:ext cx="359359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93608" y="38679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31352" y="376732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nuestros números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93608" y="4114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observado = 2.361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derecha = 0.01166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 (es bilateral) = 0.0233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área magenta vale 2.33 % del total.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321808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" y="555040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42416" y="5449824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multiplica por dos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04672" y="57790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H₁ dice «μ ≠ 2 300», no «μ &gt; 2 300». Una diferencia igual de grande en la otra dirección también contaría como evidencia. Si tu hipótesis tiene dirección (μ &gt; 2 300), usas una sola cola y el p-valor se parte a la mitad — pero la dirección se declara ANTES, nunca después de ver el signo.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 CHICA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cosas que el p-valor no 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aparecen en informes revisados por pares. Vale memorizar la diferencia.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5422392" cy="1901952"/>
          </a:xfrm>
          <a:prstGeom prst="roundRect">
            <a:avLst>
              <a:gd name="adj" fmla="val 288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17627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1762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45920" y="213969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que H₀ sea verdadera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67919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se calcula ASUMIENDO H₀. No puede a la vez medir su probabilidad. Es P(datos | H₀), no P(H₀ | datos). Invertir un condicional es el error lógico más caro de la estadística aplicada.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993392"/>
            <a:ext cx="5422392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17627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1762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0" y="213969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haberse equivocado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9088" y="267919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0.03 no significa «hay 3 % de chance de que mi conclusión sea falsa». La proporción de conclusiones falsas depende también de cuántas hipótesis falsas estabas probando y de la potencia.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5422392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26110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26110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645920" y="422452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medida del tamaño del efecto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476402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 diminuto puede venir de un efecto irrelevante medido con n enorme. Con n = 25 600, una diferencia de 0.1 desviaciones da p &lt; 0.000001. La slide 14.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4078224"/>
            <a:ext cx="5422392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9088" y="426110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426110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0" y="422452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umbral con sentido físico en 0.05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19088" y="476402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0.049 y p = 0.051 son evidencia prácticamente idéntica. El 0.05 es una convención de Fisher, no una frontera de la naturaleza. Reporta el valor, no solo si cruzó.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primero es el que importa: P(datos | H₀) ≠ P(H₀ | datos). Un test médico con 99 % de sensibilidad no da 99 % de probabilidad de enfermedad — es el mismo error de inversión.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· 2016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asociación de estadísticos tuvo que salir a aclarar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177 años de historia, la American Statistical Association nunca había emitido una declaración sobre un método. Con el p-valor lo hizo.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8580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50392" y="2112264"/>
            <a:ext cx="7315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039112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9432" y="2322576"/>
            <a:ext cx="6355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2015 la llamada crisis de replicación ya era imposible de ignorar: proyectos de replicación a gran escala en psicología y en biomedicina encontraron que una fracción importante de resultados publicados y «estadísticamente significativos» no se reproducía al repetir los experimentos.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2016 la ASA publicó una declaración formal sobre el uso del p-valor. Sus puntos centrales son, en resumen: el p-valor no mide la probabilidad de que la hipótesis estudiada sea verdadera; no mide el tamaño ni la importancia de un efecto; y las decisiones científicas o de negocio no deberían basarse solo en si cruza un umbral.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decir: la profesión tuvo que escribir en un documento oficial exactamente lo que acabas de ver en la slide anterior.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43800" y="1965960"/>
            <a:ext cx="4096512" cy="1143000"/>
          </a:xfrm>
          <a:prstGeom prst="roundRect">
            <a:avLst>
              <a:gd name="adj" fmla="val 48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90688" y="22128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28432" y="2112264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dijo la ASA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90688" y="245973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dijo que el p-valor esté mal ni que haya que abandonarlo. Dijo que se usa mal y solo.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43800" y="3200400"/>
            <a:ext cx="4096512" cy="1143000"/>
          </a:xfrm>
          <a:prstGeom prst="roundRect">
            <a:avLst>
              <a:gd name="adj" fmla="val 48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90688" y="344728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8432" y="3346704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qué recomendó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90688" y="369417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el tamaño del efecto, el intervalo de confianza, la potencia y todo lo que probaste — no solo lo que salió significativo.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91672" cy="1481328"/>
          </a:xfrm>
          <a:prstGeom prst="roundRect">
            <a:avLst>
              <a:gd name="adj" fmla="val 370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47914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4690872"/>
            <a:ext cx="1027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 te toca aunque no publiques papers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4672" y="5056632"/>
            <a:ext cx="10515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mecanismo que rompió la literatura científica es el mismo que opera en un equipo de datos: probar muchas cosas, reportar las que salieron significativas y no mencionar las que no. En un paper eso se llama sesgo de publicación; en una empresa se llama «el dashboard de la iniciativa que funcionó».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es que en ciencia alguien intenta replicar. En una empresa, casi nunca.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1081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Wasserstein, R. L. y Lazar, N. A. (2016), «The ASA Statement on p-Values: Context, Process, and Purpose», The American Statistician 70(2).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ERRORES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equivocarte de dos maneras, y solo controlas una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la eliges tú. β la sufres sin enterarte, salvo que te sientes a calcularla.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19751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2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1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H₀ es verdadera en realidad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H₀ es falsa en realidad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Rechazas H₀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TIPO I  ·  probabilidad 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Afirmas algo que no es cierto.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Acierto  ·  probabilidad 1 − 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 es la POTENCIA.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rechazas H₀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Acierto  ·  probabilidad 1 − 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TIPO II  ·  probabilidad 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ves algo que sí estaba.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51960"/>
            <a:ext cx="5422392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6384" y="44165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4343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I  ·  falso positivo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" y="468172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una transacción legítima como fraude. Molestas a un cliente bueno y quemas horas del equipo de revisión.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4251960"/>
            <a:ext cx="5422392" cy="1207008"/>
          </a:xfrm>
          <a:prstGeom prst="roundRect">
            <a:avLst>
              <a:gd name="adj" fmla="val 454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55664" y="44165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6" name="Text 10"/>
          <p:cNvSpPr/>
          <p:nvPr/>
        </p:nvSpPr>
        <p:spPr>
          <a:xfrm>
            <a:off x="6720840" y="4343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II  ·  falso negativo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55664" y="468172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Dejas pasar un fraude real. No aparece en ningún reporte, porque nadie sabe que ocurrió.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59612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" y="58247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5724144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asimetría que hay que ver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4672" y="605332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tipo I es visible y se audita: alguien reclama. El tipo II es invisible, porque no deja rastro. Por eso las organizaciones tienden a fijar α con obsesión y a no calcular nunca β — y por eso conviene invertir el reflejo y preguntar siempre: ¿qué me habría costado no verlo?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casi nadie hace: ¿podía mi estudio detectarlo?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potencia es del 20 %, no rechazar H₀ no significa nada. Estabas condenado a no ver.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965960"/>
          <a:ext cx="6858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965960"/>
            <a:ext cx="400507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82128" y="22128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19872" y="2112264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la potencia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82128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rechazar H₀ cuando H₀ es falsa. Es decir: de detectar un efecto que sí existe.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3310128"/>
          <a:ext cx="4005072" cy="1389888"/>
        </p:xfrm>
        <a:graphic>
          <a:graphicData uri="http://schemas.openxmlformats.org/drawingml/2006/table">
            <a:tbl>
              <a:tblPr/>
              <a:tblGrid>
                <a:gridCol w="153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para 80 %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Pequeño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635240" y="4828032"/>
            <a:ext cx="4005072" cy="1280160"/>
          </a:xfrm>
          <a:prstGeom prst="roundRect">
            <a:avLst>
              <a:gd name="adj" fmla="val 428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882128" y="507492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1" name="Text 10"/>
          <p:cNvSpPr/>
          <p:nvPr/>
        </p:nvSpPr>
        <p:spPr>
          <a:xfrm>
            <a:off x="8119872" y="4974336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consecuencia práctica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882128" y="532180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detectar un efecto pequeño con 80 % de potencia necesitas n = 199. Con n = 30 tu potencia es del 19 %: el estudio está diseñado para fracasar.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5285232"/>
            <a:ext cx="6858000" cy="822960"/>
          </a:xfrm>
          <a:prstGeom prst="roundRect">
            <a:avLst>
              <a:gd name="adj" fmla="val 666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5285232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potencia se calcula ANTES de recolectar datos, no después. Calcularla después para justificar un resultado nulo tiene nombre propio y mala fama: potencia observada.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48640" y="61996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exacta para una prueba t de una muestra, bilateral, α = 0.05, calculada con la t no central (statsmodels.stats.power.TTestPower).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SIGNIFICATIVO ≠ IMPORTANTE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suficientes datos, todo se vuelve significativo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efecto irrelevante, medido con más y más muestra. Mira cuándo cruza el umbral.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25603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 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d·√n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bilateral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¿Significativo?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¿Le importa a alguien?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el efecto sigue siendo 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el efecto sigue siendo 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el efecto sigue siendo 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el efecto sigue siendo 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6 400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el efecto sigue siendo 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25 600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el efecto sigue siendo 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663440"/>
            <a:ext cx="5468112" cy="960120"/>
          </a:xfrm>
          <a:prstGeom prst="roundRect">
            <a:avLst>
              <a:gd name="adj" fmla="val 571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89204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791456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tabla demuestra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1206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no mide el efecto: mide el efecto MÁS la muestra. Con n grande, cualquier diferencia distinta de cero cruza el umbral.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4663440"/>
            <a:ext cx="5468112" cy="960120"/>
          </a:xfrm>
          <a:prstGeom prst="roundRect">
            <a:avLst>
              <a:gd name="adj" fmla="val 571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89204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791456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 de Cohen, en una línea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51206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(diferencia observada) / (desviación estándar). Referencias habituales: 0.2 pequeño, 0.5 mediano, 0.8 grande. Son convenciones, no leyes.</a:t>
            </a:r>
            <a:endParaRPr lang="en-US" sz="1150" dirty="0"/>
          </a:p>
        </p:txBody>
      </p:sp>
      <p:sp>
        <p:nvSpPr>
          <p:cNvPr id="6" name="Shape 12"/>
          <p:cNvSpPr/>
          <p:nvPr/>
        </p:nvSpPr>
        <p:spPr>
          <a:xfrm>
            <a:off x="548640" y="571500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" y="589788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5797296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 qué esto te toca más que a un académico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4672" y="6089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trabajas con 40 000 filas. En ese régimen, la significancia estadística deja de ser informativa: casi todo sale significativo. La pregunta útil pasa a ser el tamaño del efecto y su intervalo — «¿cuántos soles?», no «¿p &lt; 0.05?».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· 2016-2018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que buscaba hasta encontrar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documentado de p-hacking donde el propio investigador describió el método en su blog.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8580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311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130552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14600"/>
            <a:ext cx="6355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Wansink dirigía un laboratorio de comportamiento alimentario muy conocido y muy citado en Cornell. En 2016 publicó una entrada de blog en la que elogiaba la persistencia de una investigadora: un estudio no había dado resultados, y ella había seguido analizando los datos, dividiéndolos de distintas maneras, hasta encontrar asociaciones publicables.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Estadísticos que leyeron esa descripción reconocieron el procedimiento: no era persistencia, era buscar hasta encontrar. Si haces suficientes cortes, el azar te entrega un p &lt; 0.05 sin que exista ningún efecto.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escrutinio posterior sobre su producción derivó en múltiples correcciones y en más de una decena de retractaciones, y en 2018 dejó su puesto.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43800" y="1965960"/>
            <a:ext cx="4096512" cy="1207008"/>
          </a:xfrm>
          <a:prstGeom prst="roundRect">
            <a:avLst>
              <a:gd name="adj" fmla="val 454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90688" y="22128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28432" y="2112264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mecanismo, sin misterio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90688" y="2459736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corte adicional de los datos es una prueba más. Y cada prueba más sube la probabilidad de un falso positivo. La slide 17 lo cuantifica.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43800" y="3264408"/>
            <a:ext cx="4096512" cy="1216152"/>
          </a:xfrm>
          <a:prstGeom prst="roundRect">
            <a:avLst>
              <a:gd name="adj" fmla="val 4511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90688" y="35112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8432" y="3410712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fue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90688" y="3758184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hubo, en lo que se hizo público, invención de datos. Fue un uso incorrecto de un método correcto — y eso es lo que lo hace útil como advertencia.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77316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2144" y="4773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y no reportar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19379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 15 análisis y publicas los 2 que salieron. Los 13 restantes no aparecen.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55848" y="461772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38728" y="477316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959352" y="4773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cuando conviene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38728" y="519379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Recolectas datos y revisas el p-valor cada semana. Paras el día que baja de 0.05.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63056" y="461772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45936" y="477316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66560" y="4773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la hipótesis después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45936" y="519379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el signo del efecto y entonces decides que la prueba era de una cola.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970264" y="461772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53144" y="477316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53144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573768" y="4773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subgrupos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53144" y="519379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salió en general, pero sí en mujeres de 30 a 40 en agencias del norte.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1996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antídoto es de proceso, no de estadística: declara las hipótesis y el plan de análisis antes de ver los datos, y reporta todo lo que probaste.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prueba usar según lo que preguntas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79120" y="1219447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que memorizarlas. Hay que saber leer esta tabla y buscar la función.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997064"/>
              </p:ext>
            </p:extLst>
          </p:nvPr>
        </p:nvGraphicFramePr>
        <p:xfrm>
          <a:off x="534924" y="1530343"/>
          <a:ext cx="11091672" cy="364516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8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pregunta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scipy / statsmodels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Ojo con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¿La media difiere de un valor?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de una muestra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stats.ttest_1samp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Asimetría fuerte con n chico (Clase 4).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¿Difieren las medias de dos grupos?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de Welch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ttest_ind(..., equal_var=False)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default de scipy asume varianzas iguales: cámbialo.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¿Cambió antes vs después, mismos sujetos?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emparejada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stats.ttest_rel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la de dos muestras aquí desperdicia potencia.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¿Difieren dos proporciones?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de proporciones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proportions_ztest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Tasas muy bajas: mejor exacta de Fisher.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¿Están asociadas dos variables categóricas?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de independencia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stats.chi2_contingency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Frecuencias esperadas &lt; 5 en varias celdas.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¿Difieren tres o más grupos?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 / 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stats.f_oneway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rechaza, aún no sabes cuál: hay que comparar (slide 17).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 datos no son normales y n es chico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Mann-Whitney · Wilcoxon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mannwhitneyu · wilcoxon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Comparan distribuciones, no exactamente medias.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53309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5230368"/>
            <a:ext cx="616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pregunta que va antes de elegir la prueba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577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vas a tomar con el resultado? Si la respuesta es «ninguna, es para el informe», no necesitas una prueba: necesitas describir bien. Las pruebas existen para decidir bajo incertidumbre, no para adornar una diapositiva.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COMPARACIONES MÚLTIPLES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haces veinte pruebas al 5 %, esperas un falso positivo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aritmética elemental y es la causa mecánica del caso de la slide 15.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965960"/>
          <a:ext cx="60350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812280" y="1965960"/>
            <a:ext cx="4828032" cy="1170432"/>
          </a:xfrm>
          <a:prstGeom prst="roundRect">
            <a:avLst>
              <a:gd name="adj" fmla="val 4688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12280" y="1965960"/>
            <a:ext cx="48280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P(≥ 1 falso positivo)  =  1 − (1 − α)ᵏ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812280" y="3291840"/>
            <a:ext cx="482803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40880" y="344728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96912" y="3364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Bonferroni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040880" y="3639312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α entre el número de pruebas. Con 20 pruebas, exiges p &lt; 0.0025. Simple, conservadora, y con muchas pruebas te deja sin potencia.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812280" y="4279392"/>
            <a:ext cx="482803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40880" y="443484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96912" y="43525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40880" y="4626864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de válida que Bonferroni pero menos conservadora: ordena los p-valores y ajusta secuencialmente. Preferible casi siempre.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12280" y="5266944"/>
            <a:ext cx="4828032" cy="896112"/>
          </a:xfrm>
          <a:prstGeom prst="roundRect">
            <a:avLst>
              <a:gd name="adj" fmla="val 612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40880" y="542239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96912" y="53400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 (Benjamini-Hochberg)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40880" y="5614416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objetivo: en vez de evitar todo falso positivo, controla la PROPORCIÓN de falsos entre los que declaras significativos. Es lo estándar cuando haces cientos o miles de pruebas.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6035040" cy="1078992"/>
          </a:xfrm>
          <a:prstGeom prst="roundRect">
            <a:avLst>
              <a:gd name="adj" fmla="val 5085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" y="537667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42416" y="5276088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te pasa sin darte cuenta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04672" y="5614416"/>
            <a:ext cx="5532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dashboard con 30 métricas comparadas mes contra mes son 30 pruebas: esperas 1.5 «cambios significativos» por puro azar, cada mes. Un análisis de fairness sobre 12 subgrupos son 12 pruebas. Un A/B test con 8 métricas secundarias son 8.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LABORATORIO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errores que vas a ver en informes reales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se cometen con el código correcto. Ninguno lo detecta una revisión de pull request.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22392" cy="1828800"/>
          </a:xfrm>
          <a:prstGeom prst="roundRect">
            <a:avLst>
              <a:gd name="adj" fmla="val 3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12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19456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 &gt; 0.05, entonces no hay efecto»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724912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Confunde ausencia de evidencia con evidencia de ausencia. Sin la potencia, un resultado nulo no dice nada: quizá el estudio no podía verlo. Reporta siempre el intervalo junto al p-valor.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422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212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67728" y="219456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 = 0.001, entonces el efecto es grande»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724912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mezcla efecto y tamaño de muestra. Con n = 25 600, un efecto de 0.10 desviaciones da p &lt; 0.000001 y sigue siendo irrelevante.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5422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261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424281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la dirección o el corte después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773168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una cola al ver el signo, o parar de recolectar el día que p baja de 0.05, invalida el p-valor. El número deja de significar lo que dice significar.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4059936"/>
            <a:ext cx="54223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4261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67728" y="424281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corregir cuando hay muchas pruebas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4773168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pruebas al 5 % dan un 64 % de probabilidad de al menos un falso positivo. Si tu análisis recorrió subgrupos, hay que corregir o declararlo como exploratorio.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tienen la misma raíz: tratar el p-valor como el resultado del análisis, en lugar de como un solo indicador dentro de un reporte que también incluye efecto, intervalo y potencia.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65 MIN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bloques del notebook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termina con una celda de verificación automática: si el número no coincide, te avisa antes de seguir.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762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07568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primera prueba, a mano y con scipy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46320" y="207568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210312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Calculas t y el p-valor con aritmética, luego con ttest_1samp, y compruebas que coinciden en los seis decimales.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99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28986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dualidad IC ↔ prueba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289864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06440" y="292608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Recorres 200 valores de μ₀, marcas cuáles se rechazan, y verificas que el conjunto de los NO rechazados es exactamente tu intervalo.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3931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8221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372160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I, tipo II y potencia por simulación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372160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06440" y="374904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Mides la tasa real de falsos positivos y reconstruyes la curva de potencia simulando, sin usar la fórmula.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6227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645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454456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Significativo vs importante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46320" y="454456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06440" y="457200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efecto con n creciente. Ves el p-valor derrumbarse mientras el efecto no se mueve.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28523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4681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98448" y="536752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P-hacking en vivo y corrección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46320" y="53675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06440" y="539496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Buscas subgrupos en datos SIN ningún efecto real hasta encontrar uno «significativo». Después aplicas Holm y FDR y desaparece.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144768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61447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5 es el que hay que hacer aunque el tiempo se acabe: es la única forma de creerse que el p-hacking funciona sin mala intención.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ESPERA DE TI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redacta un resultado, completo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informe solo dice «p &lt; 0.05», está incompleto. Esto es lo que sí sirve.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68112" cy="1828800"/>
          </a:xfrm>
          <a:prstGeom prst="roundRect">
            <a:avLst>
              <a:gd name="adj" fmla="val 3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311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13055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incompleta — la habitual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54203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monto promedio es significativamente mayor al valor de referencia (p &lt; 0.05).»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312724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falta: cuánto mayor, con qué precisión, cuántas transacciones se revisaron, qué prueba se usó y si fue la única que se corrió.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68112" cy="1828800"/>
          </a:xfrm>
          <a:prstGeom prst="roundRect">
            <a:avLst>
              <a:gd name="adj" fmla="val 3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2311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13055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completa — la que se audita bien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19088" y="2542032"/>
            <a:ext cx="4983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 una muestra aleatoria de 40 transacciones, el monto promedio fue S/ 3 125 (IC 95 %: S/ 2 418 a S/ 3 832), frente al valor de referencia de S/ 2 300. La diferencia es de S/ 825 (t = 2.36, gl = 39, p = 0.023). Fue la única prueba realizada, definida antes del análisis.»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5020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1239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416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 la muestra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9808" y="43891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n, nada de lo demás se puede evaluar.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0" y="395020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8848" y="41239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40416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en unidades del negocio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98848" y="43891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Soles, días, puntos porcentuales. No solo el estadístico.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7888" y="41239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40416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intervalo de confianza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47888" y="43891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 la precisión y contiene el resultado de la prueba.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084064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525780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17550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exacto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49808" y="55229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0.023, no «p &lt; 0.05».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0" y="5084064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98848" y="525780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517550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y sus grados de libertad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498848" y="55229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alguien pueda reproducirlo.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46720" y="5084064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47888" y="525780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517550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pruebas corriste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47888" y="55229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permite juzgar si hay que corregir.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2727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los seis puntos requiere estadística avanzada. Requiere disciplina de reporte, y es lo que distingue un análisis auditable de una opinión con un número al lado.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16568" y="1874213"/>
            <a:ext cx="54864" cy="30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69908" y="1873931"/>
            <a:ext cx="54864" cy="58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23248" y="1873419"/>
            <a:ext cx="54864" cy="1101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76588" y="1872520"/>
            <a:ext cx="54864" cy="2000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9928" y="1870985"/>
            <a:ext cx="54864" cy="353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83268" y="1868444"/>
            <a:ext cx="54864" cy="607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36608" y="1864362"/>
            <a:ext cx="54864" cy="1015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89948" y="1858003"/>
            <a:ext cx="54864" cy="1651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43288" y="1848400"/>
            <a:ext cx="54864" cy="26120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96628" y="1834344"/>
            <a:ext cx="54864" cy="4017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49968" y="1814418"/>
            <a:ext cx="54864" cy="60102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3308" y="1787072"/>
            <a:ext cx="54864" cy="8744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56648" y="1750769"/>
            <a:ext cx="54864" cy="123751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09988" y="1704194"/>
            <a:ext cx="54864" cy="170326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63328" y="1646512"/>
            <a:ext cx="54864" cy="228008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16668" y="1577658"/>
            <a:ext cx="54864" cy="296862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70008" y="1498599"/>
            <a:ext cx="54864" cy="375921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23348" y="1411527"/>
            <a:ext cx="54864" cy="46299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76688" y="1319908"/>
            <a:ext cx="54864" cy="554612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30028" y="1228361"/>
            <a:ext cx="54864" cy="646159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83368" y="1142326"/>
            <a:ext cx="54864" cy="73219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36708" y="1067565"/>
            <a:ext cx="54864" cy="80695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90048" y="1009535"/>
            <a:ext cx="54864" cy="86498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43388" y="972732"/>
            <a:ext cx="54864" cy="901788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96728" y="960120"/>
            <a:ext cx="54864" cy="914400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50068" y="972732"/>
            <a:ext cx="54864" cy="901788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03408" y="1009535"/>
            <a:ext cx="54864" cy="86498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56748" y="1067565"/>
            <a:ext cx="54864" cy="806955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10088" y="1142326"/>
            <a:ext cx="54864" cy="732194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63428" y="1228361"/>
            <a:ext cx="54864" cy="646159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716768" y="1319908"/>
            <a:ext cx="54864" cy="554612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70108" y="1411527"/>
            <a:ext cx="54864" cy="462993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23448" y="1498599"/>
            <a:ext cx="54864" cy="375921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76788" y="1577658"/>
            <a:ext cx="54864" cy="296862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30128" y="1646512"/>
            <a:ext cx="54864" cy="228008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83468" y="1704194"/>
            <a:ext cx="54864" cy="170326"/>
          </a:xfrm>
          <a:prstGeom prst="rect">
            <a:avLst/>
          </a:prstGeom>
          <a:solidFill>
            <a:srgbClr val="1E43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36808" y="1750769"/>
            <a:ext cx="54864" cy="123751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090148" y="1787072"/>
            <a:ext cx="54864" cy="8744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43488" y="1814418"/>
            <a:ext cx="54864" cy="60102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96828" y="1834344"/>
            <a:ext cx="54864" cy="4017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50168" y="1848400"/>
            <a:ext cx="54864" cy="26120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303508" y="1858003"/>
            <a:ext cx="54864" cy="1651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356848" y="1864362"/>
            <a:ext cx="54864" cy="1015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10188" y="1868444"/>
            <a:ext cx="54864" cy="6076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63528" y="1870985"/>
            <a:ext cx="54864" cy="3535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516868" y="1872520"/>
            <a:ext cx="54864" cy="2000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570208" y="1873419"/>
            <a:ext cx="54864" cy="1101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623548" y="1873931"/>
            <a:ext cx="54864" cy="589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676888" y="1874213"/>
            <a:ext cx="54864" cy="307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457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57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10 MIN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llevas una sola cosa</a:t>
            </a:r>
            <a:endParaRPr lang="en-US" sz="3400" dirty="0"/>
          </a:p>
        </p:txBody>
      </p:sp>
      <p:sp>
        <p:nvSpPr>
          <p:cNvPr id="54" name="Text 52"/>
          <p:cNvSpPr/>
          <p:nvPr/>
        </p:nvSpPr>
        <p:spPr>
          <a:xfrm>
            <a:off x="548640" y="15727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no te dice si tu hipótesis es verdadera, ni si el efecto importa, ni si te equivocaste. Dice una sola cosa, y hay que decirla con esas palabras.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548640" y="2212848"/>
            <a:ext cx="5468112" cy="2487168"/>
          </a:xfrm>
          <a:prstGeom prst="roundRect">
            <a:avLst>
              <a:gd name="adj" fmla="val 2206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4672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42416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salida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804672" y="2798064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Planteo H₀ y H₁ antes de mirar los datos.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qué dice y qué no dice un p-valor.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que «μ₀ fuera del IC» y «se rechaza H₀» son lo mismo.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Distingo error tipo I de tipo II y sé cuál me cuesta más.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Calculo la potencia antes, no después.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Reporto efecto, intervalo y cuántas pruebas corrí.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172200" y="2212848"/>
            <a:ext cx="5468112" cy="2487168"/>
          </a:xfrm>
          <a:prstGeom prst="roundRect">
            <a:avLst>
              <a:gd name="adj" fmla="val 2206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19088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56832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para la próxima clase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6419088" y="2798064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en tu trabajo un informe o un dashboard donde alguien haya declarado una diferencia «significativa».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 tres cosas: ¿cuál era el tamaño del efecto en unidades del negocio? ¿cuántas comparaciones se hicieron en total? ¿se declaró la hipótesis antes o después de mirar los datos?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puedes responder ninguna, ya sabes qué falta en ese informe.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4672" y="51572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42416" y="5056632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6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804672" y="54223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para dos grupos y para varios: t de Welch, ANOVA y las alternativas no paramétricas. Pasamos de «¿es distinto de este valor?» a «¿son distintos entre sí?», que es la pregunta que de verdad aparece en el trabajo — y donde el problema de las comparaciones múltiples deja de ser teórico.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Módulo 2 · Clase 5 · SEED = 42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6644</Words>
  <Application>Microsoft Macintosh PowerPoint</Application>
  <PresentationFormat>Widescreen</PresentationFormat>
  <Paragraphs>549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5 — Pruebas de hipótesis y p-valor</dc:title>
  <dc:subject>PptxGenJS Presentation</dc:subject>
  <dc:creator>Rodrigo</dc:creator>
  <cp:lastModifiedBy>Josef Rodriguez</cp:lastModifiedBy>
  <cp:revision>2</cp:revision>
  <dcterms:created xsi:type="dcterms:W3CDTF">2026-08-10T02:41:19Z</dcterms:created>
  <dcterms:modified xsi:type="dcterms:W3CDTF">2026-08-11T02:45:56Z</dcterms:modified>
</cp:coreProperties>
</file>