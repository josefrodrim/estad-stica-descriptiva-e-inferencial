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6.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7.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8.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9.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2559"/>
                </a:solidFill>
                <a:latin typeface="Calibri"/>
              </a:defRPr>
            </a:pPr>
            <a:r>
              <a:rPr sz="1150" b="0" i="0" u="none" strike="noStrike">
                <a:solidFill>
                  <a:srgbClr val="0A2559"/>
                </a:solidFill>
                <a:latin typeface="Calibri"/>
              </a:rPr>
              <a:t>Ingreso mensual declarado (n = 567)</a:t>
            </a:r>
          </a:p>
        </c:rich>
      </c:tx>
      <c:layout/>
      <c:overlay val="0"/>
    </c:title>
    <c:autoTitleDeleted val="0"/>
    <c:plotArea>
      <c:layout/>
      <c:barChart>
        <c:barDir val="col"/>
        <c:grouping val="clustered"/>
        <c:varyColors val="0"/>
        <c:ser>
          <c:idx val="0"/>
          <c:order val="0"/>
          <c:tx>
            <c:strRef>
              <c:f>Sheet1!$B$1</c:f>
              <c:strCache>
                <c:ptCount val="1"/>
                <c:pt idx="0">
                  <c:v>Usuarios</c:v>
                </c:pt>
              </c:strCache>
            </c:strRef>
          </c:tx>
          <c:spPr>
            <a:solidFill>
              <a:srgbClr val="1A56E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1.5k</c:v>
                  </c:pt>
                  <c:pt idx="1">
                    <c:v>2k</c:v>
                  </c:pt>
                  <c:pt idx="2">
                    <c:v>2.5k</c:v>
                  </c:pt>
                  <c:pt idx="3">
                    <c:v>3k</c:v>
                  </c:pt>
                  <c:pt idx="4">
                    <c:v>3.5k</c:v>
                  </c:pt>
                  <c:pt idx="5">
                    <c:v>4k</c:v>
                  </c:pt>
                  <c:pt idx="6">
                    <c:v>5k</c:v>
                  </c:pt>
                  <c:pt idx="7">
                    <c:v>7k</c:v>
                  </c:pt>
                  <c:pt idx="8">
                    <c:v>10k</c:v>
                  </c:pt>
                  <c:pt idx="9">
                    <c:v>18k</c:v>
                  </c:pt>
                </c:lvl>
              </c:multiLvlStrCache>
            </c:multiLvlStrRef>
          </c:cat>
          <c:val>
            <c:numRef>
              <c:f>Sheet1!$B$2:$B$11</c:f>
              <c:numCache>
                <c:formatCode>General</c:formatCode>
                <c:ptCount val="10"/>
                <c:pt idx="0">
                  <c:v>58</c:v>
                </c:pt>
                <c:pt idx="1">
                  <c:v>96</c:v>
                </c:pt>
                <c:pt idx="2">
                  <c:v>120</c:v>
                </c:pt>
                <c:pt idx="3">
                  <c:v>104</c:v>
                </c:pt>
                <c:pt idx="4">
                  <c:v>76</c:v>
                </c:pt>
                <c:pt idx="5">
                  <c:v>51</c:v>
                </c:pt>
                <c:pt idx="6">
                  <c:v>33</c:v>
                </c:pt>
                <c:pt idx="7">
                  <c:v>17</c:v>
                </c:pt>
                <c:pt idx="8">
                  <c:v>8</c:v>
                </c:pt>
                <c:pt idx="9">
                  <c:v>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2559"/>
                </a:solidFill>
                <a:latin typeface="Calibri"/>
              </a:defRPr>
            </a:pPr>
            <a:r>
              <a:rPr sz="1150" b="0" i="0" u="none" strike="noStrike">
                <a:solidFill>
                  <a:srgbClr val="0A2559"/>
                </a:solidFill>
                <a:latin typeface="Calibri"/>
              </a:rPr>
              <a:t>PMF · P(X = k) con Binomial(n=20, p=0.3)</a:t>
            </a:r>
          </a:p>
        </c:rich>
      </c:tx>
      <c:layout/>
      <c:overlay val="0"/>
    </c:title>
    <c:autoTitleDeleted val="0"/>
    <c:plotArea>
      <c:layout/>
      <c:barChart>
        <c:barDir val="col"/>
        <c:grouping val="clustered"/>
        <c:varyColors val="0"/>
        <c:ser>
          <c:idx val="0"/>
          <c:order val="0"/>
          <c:tx>
            <c:strRef>
              <c:f>Sheet1!$B$1</c:f>
              <c:strCache>
                <c:ptCount val="1"/>
                <c:pt idx="0">
                  <c:v>PMF</c:v>
                </c:pt>
              </c:strCache>
            </c:strRef>
          </c:tx>
          <c:spPr>
            <a:solidFill>
              <a:srgbClr val="1A56E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Sheet1!$A$2:$A$22</c:f>
              <c:multiLvlStrCache>
                <c:ptCount val="2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lvl>
              </c:multiLvlStrCache>
            </c:multiLvlStrRef>
          </c:cat>
          <c:val>
            <c:numRef>
              <c:f>Sheet1!$B$2:$B$22</c:f>
              <c:numCache>
                <c:formatCode>General</c:formatCode>
                <c:ptCount val="21"/>
                <c:pt idx="0">
                  <c:v>0.0008</c:v>
                </c:pt>
                <c:pt idx="1">
                  <c:v>0.0068</c:v>
                </c:pt>
                <c:pt idx="2">
                  <c:v>0.0278</c:v>
                </c:pt>
                <c:pt idx="3">
                  <c:v>0.0716</c:v>
                </c:pt>
                <c:pt idx="4">
                  <c:v>0.1304</c:v>
                </c:pt>
                <c:pt idx="5">
                  <c:v>0.1789</c:v>
                </c:pt>
                <c:pt idx="6">
                  <c:v>0.1916</c:v>
                </c:pt>
                <c:pt idx="7">
                  <c:v>0.1643</c:v>
                </c:pt>
                <c:pt idx="8">
                  <c:v>0.1144</c:v>
                </c:pt>
                <c:pt idx="9">
                  <c:v>0.0654</c:v>
                </c:pt>
                <c:pt idx="10">
                  <c:v>0.0308</c:v>
                </c:pt>
                <c:pt idx="11">
                  <c:v>0.012</c:v>
                </c:pt>
                <c:pt idx="12">
                  <c:v>0.0039</c:v>
                </c:pt>
                <c:pt idx="13">
                  <c:v>0.001</c:v>
                </c:pt>
                <c:pt idx="14">
                  <c:v>0.0002</c:v>
                </c:pt>
                <c:pt idx="15">
                  <c:v>0</c:v>
                </c:pt>
                <c:pt idx="16">
                  <c:v>0</c:v>
                </c:pt>
                <c:pt idx="17">
                  <c:v>0</c:v>
                </c:pt>
                <c:pt idx="18">
                  <c:v>0</c:v>
                </c:pt>
                <c:pt idx="19">
                  <c:v>0</c:v>
                </c:pt>
                <c:pt idx="20">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2559"/>
                </a:solidFill>
                <a:latin typeface="Calibri"/>
              </a:defRPr>
            </a:pPr>
            <a:r>
              <a:rPr sz="1150" b="0" i="0" u="none" strike="noStrike">
                <a:solidFill>
                  <a:srgbClr val="0A2559"/>
                </a:solidFill>
                <a:latin typeface="Calibri"/>
              </a:rPr>
              <a:t>CDF · P(X ≤ k) acumulada</a:t>
            </a:r>
          </a:p>
        </c:rich>
      </c:tx>
      <c:layout/>
      <c:overlay val="0"/>
    </c:title>
    <c:autoTitleDeleted val="0"/>
    <c:plotArea>
      <c:layout/>
      <c:lineChart>
        <c:varyColors val="0"/>
        <c:ser>
          <c:idx val="0"/>
          <c:order val="0"/>
          <c:tx>
            <c:strRef>
              <c:f>Sheet1!$B$1</c:f>
              <c:strCache>
                <c:ptCount val="1"/>
                <c:pt idx="0">
                  <c:v>CDF</c:v>
                </c:pt>
              </c:strCache>
            </c:strRef>
          </c:tx>
          <c:spPr>
            <a:solidFill>
              <a:srgbClr val="E6115E"/>
            </a:solidFill>
            <a:ln w="38100" cap="flat">
              <a:solidFill>
                <a:srgbClr val="E6115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6115E"/>
              </a:solidFill>
              <a:ln w="9525" cap="flat">
                <a:solidFill>
                  <a:srgbClr val="E6115E"/>
                </a:solidFill>
                <a:prstDash val="solid"/>
                <a:round/>
              </a:ln>
              <a:effectLst/>
            </c:spPr>
          </c:marker>
          <c:cat>
            <c:multiLvlStrRef>
              <c:f>Sheet1!$A$2:$A$22</c:f>
              <c:multiLvlStrCache>
                <c:ptCount val="2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lvl>
              </c:multiLvlStrCache>
            </c:multiLvlStrRef>
          </c:cat>
          <c:val>
            <c:numRef>
              <c:f>Sheet1!$B$2:$B$22</c:f>
              <c:numCache>
                <c:formatCode>General</c:formatCode>
                <c:ptCount val="21"/>
                <c:pt idx="0">
                  <c:v>0.0008</c:v>
                </c:pt>
                <c:pt idx="1">
                  <c:v>0.0076</c:v>
                </c:pt>
                <c:pt idx="2">
                  <c:v>0.0355</c:v>
                </c:pt>
                <c:pt idx="3">
                  <c:v>0.1071</c:v>
                </c:pt>
                <c:pt idx="4">
                  <c:v>0.2375</c:v>
                </c:pt>
                <c:pt idx="5">
                  <c:v>0.4164</c:v>
                </c:pt>
                <c:pt idx="6">
                  <c:v>0.608</c:v>
                </c:pt>
                <c:pt idx="7">
                  <c:v>0.7723</c:v>
                </c:pt>
                <c:pt idx="8">
                  <c:v>0.8867</c:v>
                </c:pt>
                <c:pt idx="9">
                  <c:v>0.952</c:v>
                </c:pt>
                <c:pt idx="10">
                  <c:v>0.9829</c:v>
                </c:pt>
                <c:pt idx="11">
                  <c:v>0.9949</c:v>
                </c:pt>
                <c:pt idx="12">
                  <c:v>0.9987</c:v>
                </c:pt>
                <c:pt idx="13">
                  <c:v>0.9997</c:v>
                </c:pt>
                <c:pt idx="14">
                  <c:v>1</c:v>
                </c:pt>
                <c:pt idx="15">
                  <c:v>1</c:v>
                </c:pt>
                <c:pt idx="16">
                  <c:v>1</c:v>
                </c:pt>
                <c:pt idx="17">
                  <c:v>1</c:v>
                </c:pt>
                <c:pt idx="18">
                  <c:v>1</c:v>
                </c:pt>
                <c:pt idx="19">
                  <c:v>1</c:v>
                </c:pt>
                <c:pt idx="20">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2559"/>
                </a:solidFill>
                <a:latin typeface="Calibri"/>
              </a:defRPr>
            </a:pPr>
            <a:r>
              <a:rPr sz="1150" b="0" i="0" u="none" strike="noStrike">
                <a:solidFill>
                  <a:srgbClr val="0A2559"/>
                </a:solidFill>
                <a:latin typeface="Calibri"/>
              </a:rPr>
              <a:t>Bernoulli(p = 0.12) · tasa de default</a:t>
            </a:r>
          </a:p>
        </c:rich>
      </c:tx>
      <c:layout/>
      <c:overlay val="0"/>
    </c:title>
    <c:autoTitleDeleted val="0"/>
    <c:plotArea>
      <c:layout/>
      <c:barChart>
        <c:barDir val="col"/>
        <c:grouping val="clustered"/>
        <c:varyColors val="0"/>
        <c:ser>
          <c:idx val="0"/>
          <c:order val="0"/>
          <c:tx>
            <c:strRef>
              <c:f>Sheet1!$B$1</c:f>
              <c:strCache>
                <c:ptCount val="1"/>
                <c:pt idx="0">
                  <c:v>P</c:v>
                </c:pt>
              </c:strCache>
            </c:strRef>
          </c:tx>
          <c:spPr>
            <a:solidFill>
              <a:srgbClr val="1A56E8"/>
            </a:solidFill>
            <a:effectLst/>
          </c:spPr>
          <c:invertIfNegative val="0"/>
          <c:dLbls>
            <c:numFmt formatCode="#,##0" sourceLinked="0"/>
            <c:txPr>
              <a:bodyPr/>
              <a:lstStyle/>
              <a:p>
                <a:pPr>
                  <a:defRPr b="0" i="0" strike="noStrike" sz="1100" u="none">
                    <a:solidFill>
                      <a:srgbClr val="0A2559"/>
                    </a:solidFill>
                    <a:latin typeface="Calibri"/>
                  </a:defRPr>
                </a:pPr>
              </a:p>
            </c:txPr>
            <c:showLegendKey val="0"/>
            <c:showVal val="1"/>
            <c:showCatName val="0"/>
            <c:showSerName val="0"/>
            <c:showPercent val="0"/>
            <c:showBubbleSize val="0"/>
            <c:showLeaderLines val="0"/>
          </c:dLbls>
          <c:cat>
            <c:multiLvlStrRef>
              <c:f>Sheet1!$A$2:$A$3</c:f>
              <c:multiLvlStrCache>
                <c:ptCount val="2"/>
                <c:lvl>
                  <c:pt idx="0">
                    <c:v>0 (no)</c:v>
                  </c:pt>
                  <c:pt idx="1">
                    <c:v>1 (sí)</c:v>
                  </c:pt>
                </c:lvl>
              </c:multiLvlStrCache>
            </c:multiLvlStrRef>
          </c:cat>
          <c:val>
            <c:numRef>
              <c:f>Sheet1!$B$2:$B$3</c:f>
              <c:numCache>
                <c:formatCode>General</c:formatCode>
                <c:ptCount val="2"/>
                <c:pt idx="0">
                  <c:v>0.88</c:v>
                </c:pt>
                <c:pt idx="1">
                  <c:v>0.12</c:v>
                </c:pt>
              </c:numCache>
            </c:numRef>
          </c:val>
        </c:ser>
        <c:dLbls>
          <c:numFmt formatCode="#,##0" sourceLinked="0"/>
          <c:txPr>
            <a:bodyPr/>
            <a:lstStyle/>
            <a:p>
              <a:pPr>
                <a:defRPr b="0" i="0" strike="noStrike" sz="1100" u="none">
                  <a:solidFill>
                    <a:srgbClr val="0A2559"/>
                  </a:solidFill>
                  <a:latin typeface="Calibri"/>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2559"/>
                </a:solidFill>
                <a:latin typeface="Calibri"/>
              </a:defRPr>
            </a:pPr>
            <a:r>
              <a:rPr sz="1150" b="0" i="0" u="none" strike="noStrike">
                <a:solidFill>
                  <a:srgbClr val="0A2559"/>
                </a:solidFill>
                <a:latin typeface="Calibri"/>
              </a:rPr>
              <a:t>Binomial(n = 30, p = 0.3) · E[X] = 9</a:t>
            </a:r>
          </a:p>
        </c:rich>
      </c:tx>
      <c:layout/>
      <c:overlay val="0"/>
    </c:title>
    <c:autoTitleDeleted val="0"/>
    <c:plotArea>
      <c:layout/>
      <c:barChart>
        <c:barDir val="col"/>
        <c:grouping val="clustered"/>
        <c:varyColors val="0"/>
        <c:ser>
          <c:idx val="0"/>
          <c:order val="0"/>
          <c:tx>
            <c:strRef>
              <c:f>Sheet1!$B$1</c:f>
              <c:strCache>
                <c:ptCount val="1"/>
                <c:pt idx="0">
                  <c:v>P</c:v>
                </c:pt>
              </c:strCache>
            </c:strRef>
          </c:tx>
          <c:spPr>
            <a:solidFill>
              <a:srgbClr val="1A56E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Sheet1!$B$2:$B$32</c:f>
              <c:numCache>
                <c:formatCode>General</c:formatCode>
                <c:ptCount val="31"/>
                <c:pt idx="0">
                  <c:v>0</c:v>
                </c:pt>
                <c:pt idx="1">
                  <c:v>0.0003</c:v>
                </c:pt>
                <c:pt idx="2">
                  <c:v>0.0018</c:v>
                </c:pt>
                <c:pt idx="3">
                  <c:v>0.0072</c:v>
                </c:pt>
                <c:pt idx="4">
                  <c:v>0.0208</c:v>
                </c:pt>
                <c:pt idx="5">
                  <c:v>0.0464</c:v>
                </c:pt>
                <c:pt idx="6">
                  <c:v>0.0829</c:v>
                </c:pt>
                <c:pt idx="7">
                  <c:v>0.1219</c:v>
                </c:pt>
                <c:pt idx="8">
                  <c:v>0.1501</c:v>
                </c:pt>
                <c:pt idx="9">
                  <c:v>0.1573</c:v>
                </c:pt>
                <c:pt idx="10">
                  <c:v>0.1416</c:v>
                </c:pt>
                <c:pt idx="11">
                  <c:v>0.1103</c:v>
                </c:pt>
                <c:pt idx="12">
                  <c:v>0.0749</c:v>
                </c:pt>
                <c:pt idx="13">
                  <c:v>0.0444</c:v>
                </c:pt>
                <c:pt idx="14">
                  <c:v>0.0231</c:v>
                </c:pt>
                <c:pt idx="15">
                  <c:v>0.0106</c:v>
                </c:pt>
                <c:pt idx="16">
                  <c:v>0.0042</c:v>
                </c:pt>
                <c:pt idx="17">
                  <c:v>0.0015</c:v>
                </c:pt>
                <c:pt idx="18">
                  <c:v>0.0005</c:v>
                </c:pt>
                <c:pt idx="19">
                  <c:v>0.0001</c:v>
                </c:pt>
                <c:pt idx="20">
                  <c:v>0</c:v>
                </c:pt>
                <c:pt idx="21">
                  <c:v>0</c:v>
                </c:pt>
                <c:pt idx="22">
                  <c:v>0</c:v>
                </c:pt>
                <c:pt idx="23">
                  <c:v>0</c:v>
                </c:pt>
                <c:pt idx="24">
                  <c:v>0</c:v>
                </c:pt>
                <c:pt idx="25">
                  <c:v>0</c:v>
                </c:pt>
                <c:pt idx="26">
                  <c:v>0</c:v>
                </c:pt>
                <c:pt idx="27">
                  <c:v>0</c:v>
                </c:pt>
                <c:pt idx="28">
                  <c:v>0</c:v>
                </c:pt>
                <c:pt idx="29">
                  <c:v>0</c:v>
                </c:pt>
                <c:pt idx="30">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2559"/>
                </a:solidFill>
                <a:latin typeface="Calibri"/>
              </a:defRPr>
            </a:pPr>
            <a:r>
              <a:rPr sz="1150" b="0" i="0" u="none" strike="noStrike">
                <a:solidFill>
                  <a:srgbClr val="0A2559"/>
                </a:solidFill>
                <a:latin typeface="Calibri"/>
              </a:rPr>
              <a:t>Muertes por cuerpo-año: observado vs. Poisson(λ = 0.61)</a:t>
            </a:r>
          </a:p>
        </c:rich>
      </c:tx>
      <c:layout/>
      <c:overlay val="0"/>
    </c:title>
    <c:autoTitleDeleted val="0"/>
    <c:plotArea>
      <c:layout/>
      <c:barChart>
        <c:barDir val="col"/>
        <c:grouping val="clustered"/>
        <c:varyColors val="0"/>
        <c:ser>
          <c:idx val="0"/>
          <c:order val="0"/>
          <c:tx>
            <c:strRef>
              <c:f>Sheet1!$B$1</c:f>
              <c:strCache>
                <c:ptCount val="1"/>
                <c:pt idx="0">
                  <c:v>Observado</c:v>
                </c:pt>
              </c:strCache>
            </c:strRef>
          </c:tx>
          <c:spPr>
            <a:solidFill>
              <a:srgbClr val="1A56E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0</c:v>
                  </c:pt>
                  <c:pt idx="1">
                    <c:v>1</c:v>
                  </c:pt>
                  <c:pt idx="2">
                    <c:v>2</c:v>
                  </c:pt>
                  <c:pt idx="3">
                    <c:v>3</c:v>
                  </c:pt>
                  <c:pt idx="4">
                    <c:v>4</c:v>
                  </c:pt>
                </c:lvl>
              </c:multiLvlStrCache>
            </c:multiLvlStrRef>
          </c:cat>
          <c:val>
            <c:numRef>
              <c:f>Sheet1!$B$2:$B$6</c:f>
              <c:numCache>
                <c:formatCode>General</c:formatCode>
                <c:ptCount val="5"/>
                <c:pt idx="0">
                  <c:v>109</c:v>
                </c:pt>
                <c:pt idx="1">
                  <c:v>65</c:v>
                </c:pt>
                <c:pt idx="2">
                  <c:v>22</c:v>
                </c:pt>
                <c:pt idx="3">
                  <c:v>3</c:v>
                </c:pt>
                <c:pt idx="4">
                  <c:v>1</c:v>
                </c:pt>
              </c:numCache>
            </c:numRef>
          </c:val>
        </c:ser>
        <c:ser>
          <c:idx val="1"/>
          <c:order val="1"/>
          <c:tx>
            <c:strRef>
              <c:f>Sheet1!$C$1</c:f>
              <c:strCache>
                <c:ptCount val="1"/>
                <c:pt idx="0">
                  <c:v>Esperado si es Poisson</c:v>
                </c:pt>
              </c:strCache>
            </c:strRef>
          </c:tx>
          <c:spPr>
            <a:solidFill>
              <a:srgbClr val="E6115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0</c:v>
                  </c:pt>
                  <c:pt idx="1">
                    <c:v>1</c:v>
                  </c:pt>
                  <c:pt idx="2">
                    <c:v>2</c:v>
                  </c:pt>
                  <c:pt idx="3">
                    <c:v>3</c:v>
                  </c:pt>
                  <c:pt idx="4">
                    <c:v>4</c:v>
                  </c:pt>
                </c:lvl>
              </c:multiLvlStrCache>
            </c:multiLvlStrRef>
          </c:cat>
          <c:val>
            <c:numRef>
              <c:f>Sheet1!$C$2:$C$6</c:f>
              <c:numCache>
                <c:formatCode>General</c:formatCode>
                <c:ptCount val="5"/>
                <c:pt idx="0">
                  <c:v>108.7</c:v>
                </c:pt>
                <c:pt idx="1">
                  <c:v>66.3</c:v>
                </c:pt>
                <c:pt idx="2">
                  <c:v>20.2</c:v>
                </c:pt>
                <c:pt idx="3">
                  <c:v>4.1</c:v>
                </c:pt>
                <c:pt idx="4">
                  <c:v>0.6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2559"/>
                </a:solidFill>
                <a:latin typeface="Calibri"/>
              </a:defRPr>
            </a:pPr>
            <a:r>
              <a:rPr sz="1150" b="0" i="0" u="none" strike="noStrike">
                <a:solidFill>
                  <a:srgbClr val="0A2559"/>
                </a:solidFill>
                <a:latin typeface="Calibri"/>
              </a:rPr>
              <a:t>Poisson(λ = 3.5) · reclamos por hora</a:t>
            </a:r>
          </a:p>
        </c:rich>
      </c:tx>
      <c:layout/>
      <c:overlay val="0"/>
    </c:title>
    <c:autoTitleDeleted val="0"/>
    <c:plotArea>
      <c:layout/>
      <c:barChart>
        <c:barDir val="col"/>
        <c:grouping val="clustered"/>
        <c:varyColors val="0"/>
        <c:ser>
          <c:idx val="0"/>
          <c:order val="0"/>
          <c:tx>
            <c:strRef>
              <c:f>Sheet1!$B$1</c:f>
              <c:strCache>
                <c:ptCount val="1"/>
                <c:pt idx="0">
                  <c:v>P</c:v>
                </c:pt>
              </c:strCache>
            </c:strRef>
          </c:tx>
          <c:spPr>
            <a:solidFill>
              <a:srgbClr val="1A56E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Sheet1!$A$2:$A$16</c:f>
              <c:multiLvlStrCache>
                <c:ptCount val="15"/>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lvl>
              </c:multiLvlStrCache>
            </c:multiLvlStrRef>
          </c:cat>
          <c:val>
            <c:numRef>
              <c:f>Sheet1!$B$2:$B$16</c:f>
              <c:numCache>
                <c:formatCode>General</c:formatCode>
                <c:ptCount val="15"/>
                <c:pt idx="0">
                  <c:v>0.0302</c:v>
                </c:pt>
                <c:pt idx="1">
                  <c:v>0.1057</c:v>
                </c:pt>
                <c:pt idx="2">
                  <c:v>0.185</c:v>
                </c:pt>
                <c:pt idx="3">
                  <c:v>0.2158</c:v>
                </c:pt>
                <c:pt idx="4">
                  <c:v>0.1888</c:v>
                </c:pt>
                <c:pt idx="5">
                  <c:v>0.1322</c:v>
                </c:pt>
                <c:pt idx="6">
                  <c:v>0.0771</c:v>
                </c:pt>
                <c:pt idx="7">
                  <c:v>0.0385</c:v>
                </c:pt>
                <c:pt idx="8">
                  <c:v>0.0169</c:v>
                </c:pt>
                <c:pt idx="9">
                  <c:v>0.0066</c:v>
                </c:pt>
                <c:pt idx="10">
                  <c:v>0.0023</c:v>
                </c:pt>
                <c:pt idx="11">
                  <c:v>0.0007</c:v>
                </c:pt>
                <c:pt idx="12">
                  <c:v>0.0002</c:v>
                </c:pt>
                <c:pt idx="13">
                  <c:v>0.0001</c:v>
                </c:pt>
                <c:pt idx="14">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2559"/>
                </a:solidFill>
                <a:latin typeface="Calibri"/>
              </a:defRPr>
            </a:pPr>
            <a:r>
              <a:rPr sz="1150" b="0" i="0" u="none" strike="noStrike">
                <a:solidFill>
                  <a:srgbClr val="0A2559"/>
                </a:solidFill>
                <a:latin typeface="Calibri"/>
              </a:rPr>
              <a:t>Impactos por cuadrícula: observado vs. Poisson(λ = 0.93)</a:t>
            </a:r>
          </a:p>
        </c:rich>
      </c:tx>
      <c:layout/>
      <c:overlay val="0"/>
    </c:title>
    <c:autoTitleDeleted val="0"/>
    <c:plotArea>
      <c:layout/>
      <c:barChart>
        <c:barDir val="col"/>
        <c:grouping val="clustered"/>
        <c:varyColors val="0"/>
        <c:ser>
          <c:idx val="0"/>
          <c:order val="0"/>
          <c:tx>
            <c:strRef>
              <c:f>Sheet1!$B$1</c:f>
              <c:strCache>
                <c:ptCount val="1"/>
                <c:pt idx="0">
                  <c:v>Observado</c:v>
                </c:pt>
              </c:strCache>
            </c:strRef>
          </c:tx>
          <c:spPr>
            <a:solidFill>
              <a:srgbClr val="1A56E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0</c:v>
                  </c:pt>
                  <c:pt idx="1">
                    <c:v>1</c:v>
                  </c:pt>
                  <c:pt idx="2">
                    <c:v>2</c:v>
                  </c:pt>
                  <c:pt idx="3">
                    <c:v>3</c:v>
                  </c:pt>
                  <c:pt idx="4">
                    <c:v>4</c:v>
                  </c:pt>
                  <c:pt idx="5">
                    <c:v>5+</c:v>
                  </c:pt>
                </c:lvl>
              </c:multiLvlStrCache>
            </c:multiLvlStrRef>
          </c:cat>
          <c:val>
            <c:numRef>
              <c:f>Sheet1!$B$2:$B$7</c:f>
              <c:numCache>
                <c:formatCode>General</c:formatCode>
                <c:ptCount val="6"/>
                <c:pt idx="0">
                  <c:v>229</c:v>
                </c:pt>
                <c:pt idx="1">
                  <c:v>211</c:v>
                </c:pt>
                <c:pt idx="2">
                  <c:v>93</c:v>
                </c:pt>
                <c:pt idx="3">
                  <c:v>35</c:v>
                </c:pt>
                <c:pt idx="4">
                  <c:v>7</c:v>
                </c:pt>
                <c:pt idx="5">
                  <c:v>1</c:v>
                </c:pt>
              </c:numCache>
            </c:numRef>
          </c:val>
        </c:ser>
        <c:ser>
          <c:idx val="1"/>
          <c:order val="1"/>
          <c:tx>
            <c:strRef>
              <c:f>Sheet1!$C$1</c:f>
              <c:strCache>
                <c:ptCount val="1"/>
                <c:pt idx="0">
                  <c:v>Esperado si es Poisson</c:v>
                </c:pt>
              </c:strCache>
            </c:strRef>
          </c:tx>
          <c:spPr>
            <a:solidFill>
              <a:srgbClr val="E6115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0</c:v>
                  </c:pt>
                  <c:pt idx="1">
                    <c:v>1</c:v>
                  </c:pt>
                  <c:pt idx="2">
                    <c:v>2</c:v>
                  </c:pt>
                  <c:pt idx="3">
                    <c:v>3</c:v>
                  </c:pt>
                  <c:pt idx="4">
                    <c:v>4</c:v>
                  </c:pt>
                  <c:pt idx="5">
                    <c:v>5+</c:v>
                  </c:pt>
                </c:lvl>
              </c:multiLvlStrCache>
            </c:multiLvlStrRef>
          </c:cat>
          <c:val>
            <c:numRef>
              <c:f>Sheet1!$C$2:$C$7</c:f>
              <c:numCache>
                <c:formatCode>General</c:formatCode>
                <c:ptCount val="6"/>
                <c:pt idx="0">
                  <c:v>226.7</c:v>
                </c:pt>
                <c:pt idx="1">
                  <c:v>211.4</c:v>
                </c:pt>
                <c:pt idx="2">
                  <c:v>98.5</c:v>
                </c:pt>
                <c:pt idx="3">
                  <c:v>30.6</c:v>
                </c:pt>
                <c:pt idx="4">
                  <c:v>7.1</c:v>
                </c:pt>
                <c:pt idx="5">
                  <c:v>1.3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2559"/>
                </a:solidFill>
                <a:latin typeface="Calibri"/>
              </a:defRPr>
            </a:pPr>
            <a:r>
              <a:rPr sz="1150" b="0" i="0" u="none" strike="noStrike">
                <a:solidFill>
                  <a:srgbClr val="0A2559"/>
                </a:solidFill>
                <a:latin typeface="Calibri"/>
              </a:rPr>
              <a:t>Geométrica(p = 0.2) · E[X] = 5 intentos</a:t>
            </a:r>
          </a:p>
        </c:rich>
      </c:tx>
      <c:layout/>
      <c:overlay val="0"/>
    </c:title>
    <c:autoTitleDeleted val="0"/>
    <c:plotArea>
      <c:layout/>
      <c:barChart>
        <c:barDir val="col"/>
        <c:grouping val="clustered"/>
        <c:varyColors val="0"/>
        <c:ser>
          <c:idx val="0"/>
          <c:order val="0"/>
          <c:tx>
            <c:strRef>
              <c:f>Sheet1!$B$1</c:f>
              <c:strCache>
                <c:ptCount val="1"/>
                <c:pt idx="0">
                  <c:v>P</c:v>
                </c:pt>
              </c:strCache>
            </c:strRef>
          </c:tx>
          <c:spPr>
            <a:solidFill>
              <a:srgbClr val="1A56E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0.2</c:v>
                </c:pt>
                <c:pt idx="1">
                  <c:v>0.16</c:v>
                </c:pt>
                <c:pt idx="2">
                  <c:v>0.128</c:v>
                </c:pt>
                <c:pt idx="3">
                  <c:v>0.1024</c:v>
                </c:pt>
                <c:pt idx="4">
                  <c:v>0.0819</c:v>
                </c:pt>
                <c:pt idx="5">
                  <c:v>0.0655</c:v>
                </c:pt>
                <c:pt idx="6">
                  <c:v>0.0524</c:v>
                </c:pt>
                <c:pt idx="7">
                  <c:v>0.0419</c:v>
                </c:pt>
                <c:pt idx="8">
                  <c:v>0.0336</c:v>
                </c:pt>
                <c:pt idx="9">
                  <c:v>0.0268</c:v>
                </c:pt>
                <c:pt idx="10">
                  <c:v>0.0215</c:v>
                </c:pt>
                <c:pt idx="11">
                  <c:v>0.0172</c:v>
                </c:pt>
                <c:pt idx="12">
                  <c:v>0.0137</c:v>
                </c:pt>
                <c:pt idx="13">
                  <c:v>0.011</c:v>
                </c:pt>
                <c:pt idx="14">
                  <c:v>0.0088</c:v>
                </c:pt>
                <c:pt idx="15">
                  <c:v>0.007</c:v>
                </c:pt>
                <c:pt idx="16">
                  <c:v>0.0056</c:v>
                </c:pt>
                <c:pt idx="17">
                  <c:v>0.0045</c:v>
                </c:pt>
                <c:pt idx="18">
                  <c:v>0.0036</c:v>
                </c:pt>
                <c:pt idx="19">
                  <c:v>0.0029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(3 min). Presentarse: 8+ años en ML aplicado a riesgo de crédito, fraude y AML. Prometer algo concreto: hoy verán cuatro casos reales donde alguien tomó (o evitó) una decisión de millones por entender o no entender lo que veremos. Pedir que abran Colab ANTES de empezar.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Marcar la progresión. Insistir en que la clase 1 (distribuciones) reaparece en la clase 12 (tamaño de muestra) — no es contenido desechable.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Aquí se fija el contrato de la clase. Pedir explícitamente que interrumpan durante la teoría.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Decir en voz alta: si solo van a comprar uno, que sea Bruce/Gedeck (práctico, con código). Si quieren entender de verdad las distribuciones, Blitzstein, y su curso Stat 110 está gratis en YouTube y edX. Wasserman es la referencia de escritorio, no de lectura lineal.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Leer rápido. Los cuatro casos reales son el ancla de memoria: si al final recuerdan los casos, van a poder reconstruir la teoría.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Gancho de todo el curso. Preguntar: '¿cómo responderían HOY si el jefe de producto pregunta si el rediseño funcionó?' Recoger 2-3 respuestas. Nadie podrá cuantificar el azar todavía — eso es lo que van a aprender. Volver a esta slide en la clase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Insistir: el parámetro es fijo y desconocido; lo aleatorio es la muestra. Esa variabilidad del estadístico es la 'distribución muestral' — la vemos en la clase 4 con el TLC. Con la analogía, preguntar: ¿cuál sería el 'dedo lastimado' en una encuesta de satisfacción? Respuesta típica: encuestar solo a quienes ya respondieron el mail (sesgo de autoselección). Lectura: Wasserman cap. 6; Bruce &amp; Gedeck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Slide de referencia. Mencionar que en el notebook los nombres de variables siguen esta tabla a propósito (p_hat, x_bar).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El caso favorito de la clase: úsenlo cuando alguien pida 'el perfil del cliente promedio'. Pregunta a la sala antes de mostrar el 0: '¿cuántos de 4,063 creen que entraron en el promedio de las 10 dimensiones?'. Siempre dicen 'pocos', nunca 'ninguno'. La razón profunda es que la probabilidad de estar en la banda central de 10 dimensiones simultáneamente es el producto de 10 probabilidades — y ese producto colapsa. Eso es independencia, y volvemos a ello con la Binomial.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Caso propio de scoring: reportar el ingreso medio de la cartera sobreestima la capacidad de pago del cliente mediano y subestima el riesgo. Preguntar qué usarían para fijar un límite de crédito. En el notebook van a inyectar un outlier y medir cuánto se mueve cada estadístico. Lectura: Bruce &amp; Gedeck cap. 1 (estimaciones robustas de localización).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Repetir: la varianza no se reporta, se opera — es aditiva en variables independientes, y eso lo explotamos en el TLC (clase 4). El CV es el que más usan en negocio sin saber su nombre.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Concepto más abstracto de la clase; ir despacio. Pedirles definir X para '¿cuántos días tarda un cliente en pagar?'. Aclarar una vez el abuso de notación P(X=2) = P({ω : X(ω)=2}) y seguir. El último bullet es el puente con ML. Lectura: Blitzstein &amp; Hwang cap. 3; Wasserman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Trampa clásica: 'el monto en soles es discreto porque hay céntimos'. Técnicamente sí, se modela como continua. Criterio práctico: si el número de valores posibles es enorme respecto a n, modela continua. Hoy solo discretas; continuas es la clase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Pregunta guiada: con la PMF de la izquierda, ¿cómo calculo P(X ≥ 8)? Respuesta: 1 − CDF(7), NO 1 − CDF(8). El error de ±1 en discretas es la fuente de bugs número uno; lo van a chocar en el notebook. sf() en scipy es exactamente 1 − cdf().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Punto fuerte: la varianza p(1−p) es máxima en p=0.5 y colapsa en los extremos. Consecuencia práctica: estimar una conversión del 1% exige muchísima más muestra que estimar una del 50%. Lo demuestran numéricamente en el notebook y lo formalizamos en la clase 12. Lectura: Blitzstein cap. 3; Casella &amp; Berger cap.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Los tres supuestos que se rompen en la vida real: (1) n fijo, (2) p constante, (3) independencia. Preguntar dónde se rompen: p cambia por día de la semana y por campaña; las visitas no son independientes si un mismo usuario entra cinco veces. Cerrar conectando con el caso USAF: allí también el problema fue multiplicar probabilidades independientes.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Cuidado con un matiz que casi nadie menciona: los cuerpos de caballería NO eran homogéneos entre sí (distinto tamaño y organización), y aun así el ajuste Poisson funciona. Eso es lo notable. Bortkiewicz llamó a esto 'la ley de los números pequeños'. Estos son los datos reales que ajustan en el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La firma de Poisson es E[X] = Var(X) = λ. Si en los datos reales la varianza supera con holgura a la media hay SOBREDISPERSIÓN y Poisson es el modelo equivocado (se usa Binomial Negativa). Lo verifican en el notebook con dos operaciones de call center de media casi idéntica. Lectura: Bruce &amp; Gedeck cap. 2 (Poisson y distribuciones relacionadas).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El caso más potente para tomadores de decisión. Antes de mostrar el gráfico, preguntar: '¿ustedes qué esperarían ver si las bombas cayeran al azar — un patrón uniforme o racimos?'. Casi todos dicen uniforme. El azar produce racimos, y eso es contraintuitivo. Aplicación directa: antes de explicar un pico en un dashboard, pregúntate si el azar solo ya lo produciría.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La falta de memoria es contraintuitiva y vale detenerse: si llevas 10 correos sin respuesta, la probabilidad de que el 11º funcione sigue siendo p. Preguntar si eso es realista en marketing — normalmente no lo es (el destinatario ya te clasificó como spam), y ahí se ve el límite del modelo. Cuidado con la convención: scipy usa geom con soporte desde 1; hay libros que la definen desde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Slide de consolidación: pedirles tapar E[X] y Var(X) y reconstruirlas. Es la slide que deben fotografiar. Truco de examen: si te dan la analogía, deduces la distribución.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Ejercicio rápido en voz alta con tres casos: (a) número de clics de un banner en un día, (b) si un cliente abandona el carrito, (c) cuántas llamadas hasta agendar una demo. Que respondan ellos, no tú.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Cierre motivacional del bloque teórico. Conectar hacia adelante: en la clase 12 van a calcular exactamente cuánto tráfico habría necesitado Bing para detectar ese 12%, y les va a sorprender lo poco que es cuando el efecto es grande — y lo brutal que se vuelve cuando el efecto es del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Compartir el enlace del Colab por el chat. Verificar que TODOS ejecutaron la celda 01 antes de avanzar. El bloque 06 con datos históricos reales es el que más engancha: son los mismos números de 1898 y 1946 de las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Insistir: leer el capítulo correcto, no el libro. Y mencionar que los cuatro casos reales de hoy son citables — están en las notas de cada slide con su referencia completa, para quien quiera ir a la fuente.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No cerrar sin que alguien diga en voz alta las tres ideas. Truco: pedirles la ANALOGÍA en lugar de la definición — si recuerdan el río, el marcador y las bombas, la teoría la reconstruyen. El reto es corto a propósito: se corrige en 2 minutos al inicio de la clase 2 y sirve de diagnóstico.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1A56E8">
              <a:alpha val="45000"/>
            </a:srgbClr>
          </a:solidFill>
          <a:ln w="12700">
            <a:solidFill>
              <a:srgbClr val="1A56E8">
                <a:alpha val="0"/>
              </a:srgbClr>
            </a:solidFill>
            <a:prstDash val="solid"/>
          </a:ln>
        </p:spPr>
      </p:sp>
      <p:sp>
        <p:nvSpPr>
          <p:cNvPr id="3" name="Shape 1"/>
          <p:cNvSpPr/>
          <p:nvPr/>
        </p:nvSpPr>
        <p:spPr>
          <a:xfrm>
            <a:off x="10241280" y="4023360"/>
            <a:ext cx="3108960" cy="3108960"/>
          </a:xfrm>
          <a:prstGeom prst="ellipse">
            <a:avLst/>
          </a:prstGeom>
          <a:solidFill>
            <a:srgbClr val="E6115E">
              <a:alpha val="30000"/>
            </a:srgbClr>
          </a:solidFill>
          <a:ln w="12700">
            <a:solidFill>
              <a:srgbClr val="E6115E">
                <a:alpha val="0"/>
              </a:srgbClr>
            </a:solidFill>
            <a:prstDash val="solid"/>
          </a:ln>
        </p:spPr>
      </p:sp>
      <p:sp>
        <p:nvSpPr>
          <p:cNvPr id="4" name="Shape 2"/>
          <p:cNvSpPr/>
          <p:nvPr/>
        </p:nvSpPr>
        <p:spPr>
          <a:xfrm>
            <a:off x="685800" y="1371600"/>
            <a:ext cx="2377440" cy="347472"/>
          </a:xfrm>
          <a:prstGeom prst="roundRect">
            <a:avLst>
              <a:gd name="adj" fmla="val 50000"/>
            </a:avLst>
          </a:prstGeom>
          <a:solidFill>
            <a:srgbClr val="E6115E"/>
          </a:solidFill>
          <a:ln w="12700">
            <a:solidFill>
              <a:srgbClr val="E6115E"/>
            </a:solidFill>
            <a:prstDash val="solid"/>
          </a:ln>
        </p:spPr>
      </p:sp>
      <p:sp>
        <p:nvSpPr>
          <p:cNvPr id="5" name="Text 3"/>
          <p:cNvSpPr/>
          <p:nvPr/>
        </p:nvSpPr>
        <p:spPr>
          <a:xfrm>
            <a:off x="685800" y="1371600"/>
            <a:ext cx="2377440" cy="347472"/>
          </a:xfrm>
          <a:prstGeom prst="rect">
            <a:avLst/>
          </a:prstGeom>
          <a:noFill/>
          <a:ln/>
        </p:spPr>
        <p:txBody>
          <a:bodyPr wrap="square" lIns="0" tIns="0" rIns="0" bIns="0" rtlCol="0" anchor="ctr"/>
          <a:lstStyle/>
          <a:p>
            <a:pPr algn="ctr" indent="0" marL="0">
              <a:buNone/>
            </a:pPr>
            <a:r>
              <a:rPr lang="en-US" sz="1150" b="1" spc="120" kern="0" dirty="0">
                <a:solidFill>
                  <a:srgbClr val="FFFFFF"/>
                </a:solidFill>
                <a:latin typeface="Calibri" pitchFamily="34" charset="0"/>
                <a:ea typeface="Calibri" pitchFamily="34" charset="-122"/>
                <a:cs typeface="Calibri" pitchFamily="34" charset="-120"/>
              </a:rPr>
              <a:t>MÓDULO 1  ·  CLASE 1</a:t>
            </a:r>
            <a:endParaRPr lang="en-US" sz="1150" dirty="0"/>
          </a:p>
        </p:txBody>
      </p:sp>
      <p:sp>
        <p:nvSpPr>
          <p:cNvPr id="6" name="Text 4"/>
          <p:cNvSpPr/>
          <p:nvPr/>
        </p:nvSpPr>
        <p:spPr>
          <a:xfrm>
            <a:off x="640080" y="1920240"/>
            <a:ext cx="7863840" cy="173736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libri" pitchFamily="34" charset="0"/>
                <a:ea typeface="Calibri" pitchFamily="34" charset="-122"/>
                <a:cs typeface="Calibri" pitchFamily="34" charset="-120"/>
              </a:rPr>
              <a:t>Del dato a la</a:t>
            </a:r>
            <a:endParaRPr lang="en-US" sz="4600" dirty="0"/>
          </a:p>
          <a:p>
            <a:pPr indent="0" marL="0">
              <a:lnSpc>
                <a:spcPts val="5000"/>
              </a:lnSpc>
              <a:buNone/>
            </a:pPr>
            <a:r>
              <a:rPr lang="en-US" sz="4600" b="1" dirty="0">
                <a:solidFill>
                  <a:srgbClr val="FFFFFF"/>
                </a:solidFill>
                <a:latin typeface="Calibri" pitchFamily="34" charset="0"/>
                <a:ea typeface="Calibri" pitchFamily="34" charset="-122"/>
                <a:cs typeface="Calibri" pitchFamily="34" charset="-120"/>
              </a:rPr>
              <a:t>variable aleatoria</a:t>
            </a:r>
            <a:endParaRPr lang="en-US" sz="4600" dirty="0"/>
          </a:p>
        </p:txBody>
      </p:sp>
      <p:sp>
        <p:nvSpPr>
          <p:cNvPr id="7" name="Text 5"/>
          <p:cNvSpPr/>
          <p:nvPr/>
        </p:nvSpPr>
        <p:spPr>
          <a:xfrm>
            <a:off x="685800" y="3794760"/>
            <a:ext cx="7680960" cy="640080"/>
          </a:xfrm>
          <a:prstGeom prst="rect">
            <a:avLst/>
          </a:prstGeom>
          <a:noFill/>
          <a:ln/>
        </p:spPr>
        <p:txBody>
          <a:bodyPr wrap="square" lIns="0" tIns="0" rIns="0" bIns="0" rtlCol="0" anchor="ctr"/>
          <a:lstStyle/>
          <a:p>
            <a:pPr indent="0" marL="0">
              <a:buNone/>
            </a:pPr>
            <a:r>
              <a:rPr lang="en-US" sz="1500" dirty="0">
                <a:solidFill>
                  <a:srgbClr val="B9C9E8"/>
                </a:solidFill>
                <a:latin typeface="Calibri" pitchFamily="34" charset="0"/>
                <a:ea typeface="Calibri" pitchFamily="34" charset="-122"/>
                <a:cs typeface="Calibri" pitchFamily="34" charset="-120"/>
              </a:rPr>
              <a:t>Fundamentos estadísticos · Descriptiva express, variables aleatorias y distribuciones discretas</a:t>
            </a:r>
            <a:endParaRPr lang="en-US" sz="1500" dirty="0"/>
          </a:p>
        </p:txBody>
      </p:sp>
      <p:sp>
        <p:nvSpPr>
          <p:cNvPr id="8" name="Shape 6"/>
          <p:cNvSpPr/>
          <p:nvPr/>
        </p:nvSpPr>
        <p:spPr>
          <a:xfrm>
            <a:off x="713232" y="4572000"/>
            <a:ext cx="2011680" cy="0"/>
          </a:xfrm>
          <a:prstGeom prst="line">
            <a:avLst/>
          </a:prstGeom>
          <a:noFill/>
          <a:ln w="31750">
            <a:solidFill>
              <a:srgbClr val="E6115E"/>
            </a:solidFill>
            <a:prstDash val="solid"/>
          </a:ln>
        </p:spPr>
      </p:sp>
      <p:sp>
        <p:nvSpPr>
          <p:cNvPr id="9" name="Text 7"/>
          <p:cNvSpPr/>
          <p:nvPr/>
        </p:nvSpPr>
        <p:spPr>
          <a:xfrm>
            <a:off x="685800" y="4800600"/>
            <a:ext cx="7863840" cy="365760"/>
          </a:xfrm>
          <a:prstGeom prst="rect">
            <a:avLst/>
          </a:prstGeom>
          <a:noFill/>
          <a:ln/>
        </p:spPr>
        <p:txBody>
          <a:bodyPr wrap="square" lIns="0" tIns="0" rIns="0" bIns="0" rtlCol="0" anchor="ctr"/>
          <a:lstStyle/>
          <a:p>
            <a:pPr indent="0" marL="0">
              <a:buNone/>
            </a:pPr>
            <a:r>
              <a:rPr lang="en-US" sz="1250" dirty="0">
                <a:solidFill>
                  <a:srgbClr val="8FA6D4"/>
                </a:solidFill>
                <a:latin typeface="Calibri" pitchFamily="34" charset="0"/>
                <a:ea typeface="Calibri" pitchFamily="34" charset="-122"/>
                <a:cs typeface="Calibri" pitchFamily="34" charset="-120"/>
              </a:rPr>
              <a:t>Estadística Descriptiva e Inferencial  |  37 horas académicas  |  14 sesiones</a:t>
            </a:r>
            <a:endParaRPr lang="en-US" sz="1250" dirty="0"/>
          </a:p>
        </p:txBody>
      </p:sp>
      <p:sp>
        <p:nvSpPr>
          <p:cNvPr id="10" name="Text 8"/>
          <p:cNvSpPr/>
          <p:nvPr/>
        </p:nvSpPr>
        <p:spPr>
          <a:xfrm>
            <a:off x="685800" y="5230368"/>
            <a:ext cx="7863840" cy="365760"/>
          </a:xfrm>
          <a:prstGeom prst="rect">
            <a:avLst/>
          </a:prstGeom>
          <a:noFill/>
          <a:ln/>
        </p:spPr>
        <p:txBody>
          <a:bodyPr wrap="square" lIns="0" tIns="0" rIns="0" bIns="0" rtlCol="0" anchor="ctr"/>
          <a:lstStyle/>
          <a:p>
            <a:pPr indent="0" marL="0">
              <a:buNone/>
            </a:pPr>
            <a:r>
              <a:rPr lang="en-US" sz="1150" i="1" dirty="0">
                <a:solidFill>
                  <a:srgbClr val="6E86B8"/>
                </a:solidFill>
                <a:latin typeface="Calibri" pitchFamily="34" charset="0"/>
                <a:ea typeface="Calibri" pitchFamily="34" charset="-122"/>
                <a:cs typeface="Calibri" pitchFamily="34" charset="-120"/>
              </a:rPr>
              <a:t>4 casos reales documentados  ·  1 analogía por concepto  ·  bibliografía referenciada</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ruta: tres módulos, una sola lógica</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Describir lo que veo → generalizar a lo que no veo → provocar lo que quiero medir</a:t>
            </a:r>
            <a:endParaRPr lang="en-US" sz="1450" dirty="0"/>
          </a:p>
        </p:txBody>
      </p:sp>
      <p:sp>
        <p:nvSpPr>
          <p:cNvPr id="4" name="Shape 2"/>
          <p:cNvSpPr/>
          <p:nvPr/>
        </p:nvSpPr>
        <p:spPr>
          <a:xfrm>
            <a:off x="548640" y="2103120"/>
            <a:ext cx="3493008" cy="3200400"/>
          </a:xfrm>
          <a:prstGeom prst="roundRect">
            <a:avLst>
              <a:gd name="adj" fmla="val 1714"/>
            </a:avLst>
          </a:prstGeom>
          <a:solidFill>
            <a:srgbClr val="E9EEF8"/>
          </a:solidFill>
          <a:ln w="12700">
            <a:solidFill>
              <a:srgbClr val="D2DBEC"/>
            </a:solidFill>
            <a:prstDash val="solid"/>
          </a:ln>
        </p:spPr>
      </p:sp>
      <p:sp>
        <p:nvSpPr>
          <p:cNvPr id="5" name="Shape 3"/>
          <p:cNvSpPr/>
          <p:nvPr/>
        </p:nvSpPr>
        <p:spPr>
          <a:xfrm>
            <a:off x="804672" y="1892808"/>
            <a:ext cx="1234440" cy="384048"/>
          </a:xfrm>
          <a:prstGeom prst="roundRect">
            <a:avLst>
              <a:gd name="adj" fmla="val 50000"/>
            </a:avLst>
          </a:prstGeom>
          <a:solidFill>
            <a:srgbClr val="0A2559"/>
          </a:solidFill>
          <a:ln w="12700">
            <a:solidFill>
              <a:srgbClr val="0A2559"/>
            </a:solidFill>
            <a:prstDash val="solid"/>
          </a:ln>
        </p:spPr>
      </p:sp>
      <p:sp>
        <p:nvSpPr>
          <p:cNvPr id="6" name="Text 4"/>
          <p:cNvSpPr/>
          <p:nvPr/>
        </p:nvSpPr>
        <p:spPr>
          <a:xfrm>
            <a:off x="804672" y="1892808"/>
            <a:ext cx="123444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Módulo 1</a:t>
            </a:r>
            <a:endParaRPr lang="en-US" sz="1150" dirty="0"/>
          </a:p>
        </p:txBody>
      </p:sp>
      <p:sp>
        <p:nvSpPr>
          <p:cNvPr id="7" name="Shape 5"/>
          <p:cNvSpPr/>
          <p:nvPr/>
        </p:nvSpPr>
        <p:spPr>
          <a:xfrm>
            <a:off x="822960" y="2560320"/>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60704" y="2468880"/>
            <a:ext cx="2734056" cy="310896"/>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Fundamentos estadísticos</a:t>
            </a:r>
            <a:endParaRPr lang="en-US" sz="1350" dirty="0"/>
          </a:p>
        </p:txBody>
      </p:sp>
      <p:sp>
        <p:nvSpPr>
          <p:cNvPr id="9" name="Text 7"/>
          <p:cNvSpPr/>
          <p:nvPr/>
        </p:nvSpPr>
        <p:spPr>
          <a:xfrm>
            <a:off x="1060704" y="3017520"/>
            <a:ext cx="2743200" cy="274320"/>
          </a:xfrm>
          <a:prstGeom prst="rect">
            <a:avLst/>
          </a:prstGeom>
          <a:noFill/>
          <a:ln/>
        </p:spPr>
        <p:txBody>
          <a:bodyPr wrap="square" lIns="0" tIns="0" rIns="0" bIns="0" rtlCol="0" anchor="ctr"/>
          <a:lstStyle/>
          <a:p>
            <a:pPr indent="0" marL="0">
              <a:buNone/>
            </a:pPr>
            <a:r>
              <a:rPr lang="en-US" sz="1100" b="1" dirty="0">
                <a:solidFill>
                  <a:srgbClr val="E6115E"/>
                </a:solidFill>
                <a:latin typeface="Calibri" pitchFamily="34" charset="0"/>
                <a:ea typeface="Calibri" pitchFamily="34" charset="-122"/>
                <a:cs typeface="Calibri" pitchFamily="34" charset="-120"/>
              </a:rPr>
              <a:t>Clases 1–5</a:t>
            </a:r>
            <a:endParaRPr lang="en-US" sz="1100" dirty="0"/>
          </a:p>
        </p:txBody>
      </p:sp>
      <p:sp>
        <p:nvSpPr>
          <p:cNvPr id="10" name="Text 8"/>
          <p:cNvSpPr/>
          <p:nvPr/>
        </p:nvSpPr>
        <p:spPr>
          <a:xfrm>
            <a:off x="859536" y="3364992"/>
            <a:ext cx="2926080"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Variables aleatorias: discretas y continuas</a:t>
            </a:r>
            <a:endParaRPr lang="en-US" sz="1200" dirty="0"/>
          </a:p>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Esperanza, varianza y normal</a:t>
            </a:r>
            <a:endParaRPr lang="en-US" sz="1200" dirty="0"/>
          </a:p>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TLC, verosimilitud y estimación</a:t>
            </a:r>
            <a:endParaRPr lang="en-US" sz="1200" dirty="0"/>
          </a:p>
        </p:txBody>
      </p:sp>
      <p:sp>
        <p:nvSpPr>
          <p:cNvPr id="11" name="Shape 9"/>
          <p:cNvSpPr/>
          <p:nvPr/>
        </p:nvSpPr>
        <p:spPr>
          <a:xfrm>
            <a:off x="4315968" y="2103120"/>
            <a:ext cx="3493008" cy="3200400"/>
          </a:xfrm>
          <a:prstGeom prst="roundRect">
            <a:avLst>
              <a:gd name="adj" fmla="val 1714"/>
            </a:avLst>
          </a:prstGeom>
          <a:solidFill>
            <a:srgbClr val="E9EEF8"/>
          </a:solidFill>
          <a:ln w="12700">
            <a:solidFill>
              <a:srgbClr val="D2DBEC"/>
            </a:solidFill>
            <a:prstDash val="solid"/>
          </a:ln>
        </p:spPr>
      </p:sp>
      <p:sp>
        <p:nvSpPr>
          <p:cNvPr id="12" name="Shape 10"/>
          <p:cNvSpPr/>
          <p:nvPr/>
        </p:nvSpPr>
        <p:spPr>
          <a:xfrm>
            <a:off x="4572000" y="1892808"/>
            <a:ext cx="1234440" cy="384048"/>
          </a:xfrm>
          <a:prstGeom prst="roundRect">
            <a:avLst>
              <a:gd name="adj" fmla="val 50000"/>
            </a:avLst>
          </a:prstGeom>
          <a:solidFill>
            <a:srgbClr val="0A2559"/>
          </a:solidFill>
          <a:ln w="12700">
            <a:solidFill>
              <a:srgbClr val="0A2559"/>
            </a:solidFill>
            <a:prstDash val="solid"/>
          </a:ln>
        </p:spPr>
      </p:sp>
      <p:sp>
        <p:nvSpPr>
          <p:cNvPr id="13" name="Text 11"/>
          <p:cNvSpPr/>
          <p:nvPr/>
        </p:nvSpPr>
        <p:spPr>
          <a:xfrm>
            <a:off x="4572000" y="1892808"/>
            <a:ext cx="123444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Módulo 2</a:t>
            </a:r>
            <a:endParaRPr lang="en-US" sz="1150" dirty="0"/>
          </a:p>
        </p:txBody>
      </p:sp>
      <p:sp>
        <p:nvSpPr>
          <p:cNvPr id="14" name="Shape 12"/>
          <p:cNvSpPr/>
          <p:nvPr/>
        </p:nvSpPr>
        <p:spPr>
          <a:xfrm>
            <a:off x="4590288" y="2560320"/>
            <a:ext cx="118872" cy="118872"/>
          </a:xfrm>
          <a:prstGeom prst="roundRect">
            <a:avLst>
              <a:gd name="adj" fmla="val 30769"/>
            </a:avLst>
          </a:prstGeom>
          <a:solidFill>
            <a:srgbClr val="E6115E"/>
          </a:solidFill>
          <a:ln w="12700">
            <a:solidFill>
              <a:srgbClr val="E6115E"/>
            </a:solidFill>
            <a:prstDash val="solid"/>
          </a:ln>
        </p:spPr>
      </p:sp>
      <p:sp>
        <p:nvSpPr>
          <p:cNvPr id="15" name="Text 13"/>
          <p:cNvSpPr/>
          <p:nvPr/>
        </p:nvSpPr>
        <p:spPr>
          <a:xfrm>
            <a:off x="4828032" y="2468880"/>
            <a:ext cx="2734056" cy="310896"/>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Inferencia y pruebas de hipótesis</a:t>
            </a:r>
            <a:endParaRPr lang="en-US" sz="1350" dirty="0"/>
          </a:p>
        </p:txBody>
      </p:sp>
      <p:sp>
        <p:nvSpPr>
          <p:cNvPr id="16" name="Text 14"/>
          <p:cNvSpPr/>
          <p:nvPr/>
        </p:nvSpPr>
        <p:spPr>
          <a:xfrm>
            <a:off x="4828032" y="3017520"/>
            <a:ext cx="2743200" cy="274320"/>
          </a:xfrm>
          <a:prstGeom prst="rect">
            <a:avLst/>
          </a:prstGeom>
          <a:noFill/>
          <a:ln/>
        </p:spPr>
        <p:txBody>
          <a:bodyPr wrap="square" lIns="0" tIns="0" rIns="0" bIns="0" rtlCol="0" anchor="ctr"/>
          <a:lstStyle/>
          <a:p>
            <a:pPr indent="0" marL="0">
              <a:buNone/>
            </a:pPr>
            <a:r>
              <a:rPr lang="en-US" sz="1100" b="1" dirty="0">
                <a:solidFill>
                  <a:srgbClr val="E6115E"/>
                </a:solidFill>
                <a:latin typeface="Calibri" pitchFamily="34" charset="0"/>
                <a:ea typeface="Calibri" pitchFamily="34" charset="-122"/>
                <a:cs typeface="Calibri" pitchFamily="34" charset="-120"/>
              </a:rPr>
              <a:t>Clases 6–11</a:t>
            </a:r>
            <a:endParaRPr lang="en-US" sz="1100" dirty="0"/>
          </a:p>
        </p:txBody>
      </p:sp>
      <p:sp>
        <p:nvSpPr>
          <p:cNvPr id="17" name="Text 15"/>
          <p:cNvSpPr/>
          <p:nvPr/>
        </p:nvSpPr>
        <p:spPr>
          <a:xfrm>
            <a:off x="4626864" y="3364992"/>
            <a:ext cx="2926080"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Intervalos de confianza</a:t>
            </a:r>
            <a:endParaRPr lang="en-US" sz="1200" dirty="0"/>
          </a:p>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Medias, proporciones y varianzas</a:t>
            </a:r>
            <a:endParaRPr lang="en-US" sz="1200" dirty="0"/>
          </a:p>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Chi², ANOVA, correlación y regresión</a:t>
            </a:r>
            <a:endParaRPr lang="en-US" sz="1200" dirty="0"/>
          </a:p>
        </p:txBody>
      </p:sp>
      <p:sp>
        <p:nvSpPr>
          <p:cNvPr id="18" name="Shape 16"/>
          <p:cNvSpPr/>
          <p:nvPr/>
        </p:nvSpPr>
        <p:spPr>
          <a:xfrm>
            <a:off x="8083296" y="2103120"/>
            <a:ext cx="3493008" cy="3200400"/>
          </a:xfrm>
          <a:prstGeom prst="roundRect">
            <a:avLst>
              <a:gd name="adj" fmla="val 1714"/>
            </a:avLst>
          </a:prstGeom>
          <a:solidFill>
            <a:srgbClr val="E9EEF8"/>
          </a:solidFill>
          <a:ln w="12700">
            <a:solidFill>
              <a:srgbClr val="D2DBEC"/>
            </a:solidFill>
            <a:prstDash val="solid"/>
          </a:ln>
        </p:spPr>
      </p:sp>
      <p:sp>
        <p:nvSpPr>
          <p:cNvPr id="19" name="Shape 17"/>
          <p:cNvSpPr/>
          <p:nvPr/>
        </p:nvSpPr>
        <p:spPr>
          <a:xfrm>
            <a:off x="8339328" y="1892808"/>
            <a:ext cx="1234440" cy="384048"/>
          </a:xfrm>
          <a:prstGeom prst="roundRect">
            <a:avLst>
              <a:gd name="adj" fmla="val 50000"/>
            </a:avLst>
          </a:prstGeom>
          <a:solidFill>
            <a:srgbClr val="0A2559"/>
          </a:solidFill>
          <a:ln w="12700">
            <a:solidFill>
              <a:srgbClr val="0A2559"/>
            </a:solidFill>
            <a:prstDash val="solid"/>
          </a:ln>
        </p:spPr>
      </p:sp>
      <p:sp>
        <p:nvSpPr>
          <p:cNvPr id="20" name="Text 18"/>
          <p:cNvSpPr/>
          <p:nvPr/>
        </p:nvSpPr>
        <p:spPr>
          <a:xfrm>
            <a:off x="8339328" y="1892808"/>
            <a:ext cx="123444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Módulo 3</a:t>
            </a:r>
            <a:endParaRPr lang="en-US" sz="1150" dirty="0"/>
          </a:p>
        </p:txBody>
      </p:sp>
      <p:sp>
        <p:nvSpPr>
          <p:cNvPr id="21" name="Shape 19"/>
          <p:cNvSpPr/>
          <p:nvPr/>
        </p:nvSpPr>
        <p:spPr>
          <a:xfrm>
            <a:off x="8357616" y="2560320"/>
            <a:ext cx="118872" cy="118872"/>
          </a:xfrm>
          <a:prstGeom prst="roundRect">
            <a:avLst>
              <a:gd name="adj" fmla="val 30769"/>
            </a:avLst>
          </a:prstGeom>
          <a:solidFill>
            <a:srgbClr val="E6115E"/>
          </a:solidFill>
          <a:ln w="12700">
            <a:solidFill>
              <a:srgbClr val="E6115E"/>
            </a:solidFill>
            <a:prstDash val="solid"/>
          </a:ln>
        </p:spPr>
      </p:sp>
      <p:sp>
        <p:nvSpPr>
          <p:cNvPr id="22" name="Text 20"/>
          <p:cNvSpPr/>
          <p:nvPr/>
        </p:nvSpPr>
        <p:spPr>
          <a:xfrm>
            <a:off x="8595360" y="2468880"/>
            <a:ext cx="2734056" cy="310896"/>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Experimental y A/B testing</a:t>
            </a:r>
            <a:endParaRPr lang="en-US" sz="1350" dirty="0"/>
          </a:p>
        </p:txBody>
      </p:sp>
      <p:sp>
        <p:nvSpPr>
          <p:cNvPr id="23" name="Text 21"/>
          <p:cNvSpPr/>
          <p:nvPr/>
        </p:nvSpPr>
        <p:spPr>
          <a:xfrm>
            <a:off x="8595360" y="3017520"/>
            <a:ext cx="2743200" cy="274320"/>
          </a:xfrm>
          <a:prstGeom prst="rect">
            <a:avLst/>
          </a:prstGeom>
          <a:noFill/>
          <a:ln/>
        </p:spPr>
        <p:txBody>
          <a:bodyPr wrap="square" lIns="0" tIns="0" rIns="0" bIns="0" rtlCol="0" anchor="ctr"/>
          <a:lstStyle/>
          <a:p>
            <a:pPr indent="0" marL="0">
              <a:buNone/>
            </a:pPr>
            <a:r>
              <a:rPr lang="en-US" sz="1100" b="1" dirty="0">
                <a:solidFill>
                  <a:srgbClr val="E6115E"/>
                </a:solidFill>
                <a:latin typeface="Calibri" pitchFamily="34" charset="0"/>
                <a:ea typeface="Calibri" pitchFamily="34" charset="-122"/>
                <a:cs typeface="Calibri" pitchFamily="34" charset="-120"/>
              </a:rPr>
              <a:t>Clases 12–14</a:t>
            </a:r>
            <a:endParaRPr lang="en-US" sz="1100" dirty="0"/>
          </a:p>
        </p:txBody>
      </p:sp>
      <p:sp>
        <p:nvSpPr>
          <p:cNvPr id="24" name="Text 22"/>
          <p:cNvSpPr/>
          <p:nvPr/>
        </p:nvSpPr>
        <p:spPr>
          <a:xfrm>
            <a:off x="8394192" y="3364992"/>
            <a:ext cx="2926080"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Diseño de experimentos</a:t>
            </a:r>
            <a:endParaRPr lang="en-US" sz="1200" dirty="0"/>
          </a:p>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Análisis y toma de decisiones</a:t>
            </a:r>
            <a:endParaRPr lang="en-US" sz="1200" dirty="0"/>
          </a:p>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Casos de marketing y UX</a:t>
            </a:r>
            <a:endParaRPr lang="en-US" sz="1200" dirty="0"/>
          </a:p>
        </p:txBody>
      </p:sp>
      <p:sp>
        <p:nvSpPr>
          <p:cNvPr id="25" name="Shape 23"/>
          <p:cNvSpPr/>
          <p:nvPr/>
        </p:nvSpPr>
        <p:spPr>
          <a:xfrm>
            <a:off x="548640" y="5486400"/>
            <a:ext cx="11064240" cy="777240"/>
          </a:xfrm>
          <a:prstGeom prst="roundRect">
            <a:avLst>
              <a:gd name="adj" fmla="val 7059"/>
            </a:avLst>
          </a:prstGeom>
          <a:solidFill>
            <a:srgbClr val="DCE6F8"/>
          </a:solidFill>
          <a:ln w="12700">
            <a:solidFill>
              <a:srgbClr val="C3D5F5"/>
            </a:solidFill>
            <a:prstDash val="solid"/>
          </a:ln>
        </p:spPr>
      </p:sp>
      <p:sp>
        <p:nvSpPr>
          <p:cNvPr id="26" name="Shape 24"/>
          <p:cNvSpPr/>
          <p:nvPr/>
        </p:nvSpPr>
        <p:spPr>
          <a:xfrm>
            <a:off x="786384" y="5815584"/>
            <a:ext cx="118872" cy="118872"/>
          </a:xfrm>
          <a:prstGeom prst="roundRect">
            <a:avLst>
              <a:gd name="adj" fmla="val 30769"/>
            </a:avLst>
          </a:prstGeom>
          <a:solidFill>
            <a:srgbClr val="E6115E"/>
          </a:solidFill>
          <a:ln w="12700">
            <a:solidFill>
              <a:srgbClr val="E6115E"/>
            </a:solidFill>
            <a:prstDash val="solid"/>
          </a:ln>
        </p:spPr>
      </p:sp>
      <p:sp>
        <p:nvSpPr>
          <p:cNvPr id="27" name="Text 25"/>
          <p:cNvSpPr/>
          <p:nvPr/>
        </p:nvSpPr>
        <p:spPr>
          <a:xfrm>
            <a:off x="1024128" y="5486400"/>
            <a:ext cx="10332720" cy="777240"/>
          </a:xfrm>
          <a:prstGeom prst="rect">
            <a:avLst/>
          </a:prstGeom>
          <a:noFill/>
          <a:ln/>
        </p:spPr>
        <p:txBody>
          <a:bodyPr wrap="square" lIns="0" tIns="0" rIns="0" bIns="0" rtlCol="0" anchor="ctr"/>
          <a:lstStyle/>
          <a:p>
            <a:pPr indent="0" marL="0">
              <a:lnSpc>
                <a:spcPts val="1656"/>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656"/>
              </a:lnSpc>
              <a:buNone/>
            </a:pPr>
            <a:r>
              <a:rPr lang="en-US" sz="1200" dirty="0">
                <a:solidFill>
                  <a:srgbClr val="0A2559"/>
                </a:solidFill>
                <a:latin typeface="Calibri" pitchFamily="34" charset="0"/>
                <a:ea typeface="Calibri" pitchFamily="34" charset="-122"/>
                <a:cs typeface="Calibri" pitchFamily="34" charset="-120"/>
              </a:rPr>
              <a:t>Un módulo por cada cosa que hace un médico: primero describe lo que ve (M1), luego diagnostica sobre lo que no ve directamente (M2), y finalmente prueba un tratamiento y mide si funcionó (M3).</a:t>
            </a:r>
            <a:endParaRPr lang="en-US" sz="1000" dirty="0"/>
          </a:p>
        </p:txBody>
      </p:sp>
      <p:sp>
        <p:nvSpPr>
          <p:cNvPr id="28" name="Text 26"/>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9" name="Text 27"/>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Cómo vamos a trabajar</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Cada sesión de 2 horas se divide igual, siempre</a:t>
            </a:r>
            <a:endParaRPr lang="en-US" sz="1450" dirty="0"/>
          </a:p>
        </p:txBody>
      </p:sp>
      <p:sp>
        <p:nvSpPr>
          <p:cNvPr id="4" name="Shape 2"/>
          <p:cNvSpPr/>
          <p:nvPr/>
        </p:nvSpPr>
        <p:spPr>
          <a:xfrm>
            <a:off x="548640" y="2057400"/>
            <a:ext cx="5349240" cy="1554480"/>
          </a:xfrm>
          <a:prstGeom prst="roundRect">
            <a:avLst>
              <a:gd name="adj" fmla="val 3529"/>
            </a:avLst>
          </a:prstGeom>
          <a:solidFill>
            <a:srgbClr val="E9EEF8"/>
          </a:solidFill>
          <a:ln w="12700">
            <a:solidFill>
              <a:srgbClr val="D2DBEC"/>
            </a:solidFill>
            <a:prstDash val="solid"/>
          </a:ln>
        </p:spPr>
      </p:sp>
      <p:sp>
        <p:nvSpPr>
          <p:cNvPr id="5" name="Shape 3"/>
          <p:cNvSpPr/>
          <p:nvPr/>
        </p:nvSpPr>
        <p:spPr>
          <a:xfrm>
            <a:off x="841248" y="2532888"/>
            <a:ext cx="585216" cy="585216"/>
          </a:xfrm>
          <a:prstGeom prst="ellipse">
            <a:avLst/>
          </a:prstGeom>
          <a:solidFill>
            <a:srgbClr val="1A56E8"/>
          </a:solidFill>
          <a:ln w="12700">
            <a:solidFill>
              <a:srgbClr val="1A56E8"/>
            </a:solidFill>
            <a:prstDash val="solid"/>
          </a:ln>
        </p:spPr>
      </p:sp>
      <p:sp>
        <p:nvSpPr>
          <p:cNvPr id="6" name="Text 4"/>
          <p:cNvSpPr/>
          <p:nvPr/>
        </p:nvSpPr>
        <p:spPr>
          <a:xfrm>
            <a:off x="841248" y="2532888"/>
            <a:ext cx="585216" cy="585216"/>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5"/>
          <p:cNvSpPr/>
          <p:nvPr/>
        </p:nvSpPr>
        <p:spPr>
          <a:xfrm>
            <a:off x="1572768" y="2331720"/>
            <a:ext cx="4114800" cy="329184"/>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40 min · Teoría</a:t>
            </a:r>
            <a:endParaRPr lang="en-US" sz="1500" dirty="0"/>
          </a:p>
        </p:txBody>
      </p:sp>
      <p:sp>
        <p:nvSpPr>
          <p:cNvPr id="8" name="Text 6"/>
          <p:cNvSpPr/>
          <p:nvPr/>
        </p:nvSpPr>
        <p:spPr>
          <a:xfrm>
            <a:off x="1572768" y="2679192"/>
            <a:ext cx="4069080" cy="777240"/>
          </a:xfrm>
          <a:prstGeom prst="rect">
            <a:avLst/>
          </a:prstGeom>
          <a:noFill/>
          <a:ln/>
        </p:spPr>
        <p:txBody>
          <a:bodyPr wrap="square" lIns="0" tIns="0" rIns="0" bIns="0" rtlCol="0" anchor="t"/>
          <a:lstStyle/>
          <a:p>
            <a:pPr indent="0" marL="0">
              <a:lnSpc>
                <a:spcPts val="1500"/>
              </a:lnSpc>
              <a:buNone/>
            </a:pPr>
            <a:r>
              <a:rPr lang="en-US" sz="1200" dirty="0">
                <a:solidFill>
                  <a:srgbClr val="2C3A55"/>
                </a:solidFill>
                <a:latin typeface="Calibri" pitchFamily="34" charset="0"/>
                <a:ea typeface="Calibri" pitchFamily="34" charset="-122"/>
                <a:cs typeface="Calibri" pitchFamily="34" charset="-120"/>
              </a:rPr>
              <a:t>Slides para construir la intuición y las fórmulas mínimas necesarias. Se pregunta en cualquier momento.</a:t>
            </a:r>
            <a:endParaRPr lang="en-US" sz="1200" dirty="0"/>
          </a:p>
        </p:txBody>
      </p:sp>
      <p:sp>
        <p:nvSpPr>
          <p:cNvPr id="9" name="Shape 7"/>
          <p:cNvSpPr/>
          <p:nvPr/>
        </p:nvSpPr>
        <p:spPr>
          <a:xfrm>
            <a:off x="6217920" y="2057400"/>
            <a:ext cx="5349240" cy="1554480"/>
          </a:xfrm>
          <a:prstGeom prst="roundRect">
            <a:avLst>
              <a:gd name="adj" fmla="val 3529"/>
            </a:avLst>
          </a:prstGeom>
          <a:solidFill>
            <a:srgbClr val="E9EEF8"/>
          </a:solidFill>
          <a:ln w="12700">
            <a:solidFill>
              <a:srgbClr val="D2DBEC"/>
            </a:solidFill>
            <a:prstDash val="solid"/>
          </a:ln>
        </p:spPr>
      </p:sp>
      <p:sp>
        <p:nvSpPr>
          <p:cNvPr id="10" name="Shape 8"/>
          <p:cNvSpPr/>
          <p:nvPr/>
        </p:nvSpPr>
        <p:spPr>
          <a:xfrm>
            <a:off x="6510528" y="2532888"/>
            <a:ext cx="585216" cy="585216"/>
          </a:xfrm>
          <a:prstGeom prst="ellipse">
            <a:avLst/>
          </a:prstGeom>
          <a:solidFill>
            <a:srgbClr val="1A56E8"/>
          </a:solidFill>
          <a:ln w="12700">
            <a:solidFill>
              <a:srgbClr val="1A56E8"/>
            </a:solidFill>
            <a:prstDash val="solid"/>
          </a:ln>
        </p:spPr>
      </p:sp>
      <p:sp>
        <p:nvSpPr>
          <p:cNvPr id="11" name="Text 9"/>
          <p:cNvSpPr/>
          <p:nvPr/>
        </p:nvSpPr>
        <p:spPr>
          <a:xfrm>
            <a:off x="6510528" y="2532888"/>
            <a:ext cx="585216" cy="585216"/>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2" name="Text 10"/>
          <p:cNvSpPr/>
          <p:nvPr/>
        </p:nvSpPr>
        <p:spPr>
          <a:xfrm>
            <a:off x="7242048" y="2331720"/>
            <a:ext cx="4114800" cy="329184"/>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70 min · Google Colab</a:t>
            </a:r>
            <a:endParaRPr lang="en-US" sz="1500" dirty="0"/>
          </a:p>
        </p:txBody>
      </p:sp>
      <p:sp>
        <p:nvSpPr>
          <p:cNvPr id="13" name="Text 11"/>
          <p:cNvSpPr/>
          <p:nvPr/>
        </p:nvSpPr>
        <p:spPr>
          <a:xfrm>
            <a:off x="7242048" y="2679192"/>
            <a:ext cx="4069080" cy="777240"/>
          </a:xfrm>
          <a:prstGeom prst="rect">
            <a:avLst/>
          </a:prstGeom>
          <a:noFill/>
          <a:ln/>
        </p:spPr>
        <p:txBody>
          <a:bodyPr wrap="square" lIns="0" tIns="0" rIns="0" bIns="0" rtlCol="0" anchor="t"/>
          <a:lstStyle/>
          <a:p>
            <a:pPr indent="0" marL="0">
              <a:lnSpc>
                <a:spcPts val="1500"/>
              </a:lnSpc>
              <a:buNone/>
            </a:pPr>
            <a:r>
              <a:rPr lang="en-US" sz="1200" dirty="0">
                <a:solidFill>
                  <a:srgbClr val="2C3A55"/>
                </a:solidFill>
                <a:latin typeface="Calibri" pitchFamily="34" charset="0"/>
                <a:ea typeface="Calibri" pitchFamily="34" charset="-122"/>
                <a:cs typeface="Calibri" pitchFamily="34" charset="-120"/>
              </a:rPr>
              <a:t>Implementar, simular y romper cosas. Todo el código es reproducible desde el navegador.</a:t>
            </a:r>
            <a:endParaRPr lang="en-US" sz="1200" dirty="0"/>
          </a:p>
        </p:txBody>
      </p:sp>
      <p:sp>
        <p:nvSpPr>
          <p:cNvPr id="14" name="Shape 12"/>
          <p:cNvSpPr/>
          <p:nvPr/>
        </p:nvSpPr>
        <p:spPr>
          <a:xfrm>
            <a:off x="548640" y="3886200"/>
            <a:ext cx="5349240" cy="1554480"/>
          </a:xfrm>
          <a:prstGeom prst="roundRect">
            <a:avLst>
              <a:gd name="adj" fmla="val 3529"/>
            </a:avLst>
          </a:prstGeom>
          <a:solidFill>
            <a:srgbClr val="E9EEF8"/>
          </a:solidFill>
          <a:ln w="12700">
            <a:solidFill>
              <a:srgbClr val="D2DBEC"/>
            </a:solidFill>
            <a:prstDash val="solid"/>
          </a:ln>
        </p:spPr>
      </p:sp>
      <p:sp>
        <p:nvSpPr>
          <p:cNvPr id="15" name="Shape 13"/>
          <p:cNvSpPr/>
          <p:nvPr/>
        </p:nvSpPr>
        <p:spPr>
          <a:xfrm>
            <a:off x="841248" y="4361688"/>
            <a:ext cx="585216" cy="585216"/>
          </a:xfrm>
          <a:prstGeom prst="ellipse">
            <a:avLst/>
          </a:prstGeom>
          <a:solidFill>
            <a:srgbClr val="1A56E8"/>
          </a:solidFill>
          <a:ln w="12700">
            <a:solidFill>
              <a:srgbClr val="1A56E8"/>
            </a:solidFill>
            <a:prstDash val="solid"/>
          </a:ln>
        </p:spPr>
      </p:sp>
      <p:sp>
        <p:nvSpPr>
          <p:cNvPr id="16" name="Text 14"/>
          <p:cNvSpPr/>
          <p:nvPr/>
        </p:nvSpPr>
        <p:spPr>
          <a:xfrm>
            <a:off x="841248" y="4361688"/>
            <a:ext cx="585216" cy="585216"/>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7" name="Text 15"/>
          <p:cNvSpPr/>
          <p:nvPr/>
        </p:nvSpPr>
        <p:spPr>
          <a:xfrm>
            <a:off x="1572768" y="4160520"/>
            <a:ext cx="4114800" cy="329184"/>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Repositorio GitHub</a:t>
            </a:r>
            <a:endParaRPr lang="en-US" sz="1500" dirty="0"/>
          </a:p>
        </p:txBody>
      </p:sp>
      <p:sp>
        <p:nvSpPr>
          <p:cNvPr id="18" name="Text 16"/>
          <p:cNvSpPr/>
          <p:nvPr/>
        </p:nvSpPr>
        <p:spPr>
          <a:xfrm>
            <a:off x="1572768" y="4507992"/>
            <a:ext cx="4069080" cy="777240"/>
          </a:xfrm>
          <a:prstGeom prst="rect">
            <a:avLst/>
          </a:prstGeom>
          <a:noFill/>
          <a:ln/>
        </p:spPr>
        <p:txBody>
          <a:bodyPr wrap="square" lIns="0" tIns="0" rIns="0" bIns="0" rtlCol="0" anchor="t"/>
          <a:lstStyle/>
          <a:p>
            <a:pPr indent="0" marL="0">
              <a:lnSpc>
                <a:spcPts val="1500"/>
              </a:lnSpc>
              <a:buNone/>
            </a:pPr>
            <a:r>
              <a:rPr lang="en-US" sz="1200" dirty="0">
                <a:solidFill>
                  <a:srgbClr val="2C3A55"/>
                </a:solidFill>
                <a:latin typeface="Calibri" pitchFamily="34" charset="0"/>
                <a:ea typeface="Calibri" pitchFamily="34" charset="-122"/>
                <a:cs typeface="Calibri" pitchFamily="34" charset="-120"/>
              </a:rPr>
              <a:t>Notebooks, datasets y soluciones por clase. Se libera la solución al cierre de cada sesión.</a:t>
            </a:r>
            <a:endParaRPr lang="en-US" sz="1200" dirty="0"/>
          </a:p>
        </p:txBody>
      </p:sp>
      <p:sp>
        <p:nvSpPr>
          <p:cNvPr id="19" name="Shape 17"/>
          <p:cNvSpPr/>
          <p:nvPr/>
        </p:nvSpPr>
        <p:spPr>
          <a:xfrm>
            <a:off x="6217920" y="3886200"/>
            <a:ext cx="5349240" cy="1554480"/>
          </a:xfrm>
          <a:prstGeom prst="roundRect">
            <a:avLst>
              <a:gd name="adj" fmla="val 3529"/>
            </a:avLst>
          </a:prstGeom>
          <a:solidFill>
            <a:srgbClr val="E9EEF8"/>
          </a:solidFill>
          <a:ln w="12700">
            <a:solidFill>
              <a:srgbClr val="D2DBEC"/>
            </a:solidFill>
            <a:prstDash val="solid"/>
          </a:ln>
        </p:spPr>
      </p:sp>
      <p:sp>
        <p:nvSpPr>
          <p:cNvPr id="20" name="Shape 18"/>
          <p:cNvSpPr/>
          <p:nvPr/>
        </p:nvSpPr>
        <p:spPr>
          <a:xfrm>
            <a:off x="6510528" y="4361688"/>
            <a:ext cx="585216" cy="585216"/>
          </a:xfrm>
          <a:prstGeom prst="ellipse">
            <a:avLst/>
          </a:prstGeom>
          <a:solidFill>
            <a:srgbClr val="1A56E8"/>
          </a:solidFill>
          <a:ln w="12700">
            <a:solidFill>
              <a:srgbClr val="1A56E8"/>
            </a:solidFill>
            <a:prstDash val="solid"/>
          </a:ln>
        </p:spPr>
      </p:sp>
      <p:sp>
        <p:nvSpPr>
          <p:cNvPr id="21" name="Text 19"/>
          <p:cNvSpPr/>
          <p:nvPr/>
        </p:nvSpPr>
        <p:spPr>
          <a:xfrm>
            <a:off x="6510528" y="4361688"/>
            <a:ext cx="585216" cy="585216"/>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2" name="Text 20"/>
          <p:cNvSpPr/>
          <p:nvPr/>
        </p:nvSpPr>
        <p:spPr>
          <a:xfrm>
            <a:off x="7242048" y="4160520"/>
            <a:ext cx="4114800" cy="329184"/>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10 min · Cierre y reto</a:t>
            </a:r>
            <a:endParaRPr lang="en-US" sz="1500" dirty="0"/>
          </a:p>
        </p:txBody>
      </p:sp>
      <p:sp>
        <p:nvSpPr>
          <p:cNvPr id="23" name="Text 21"/>
          <p:cNvSpPr/>
          <p:nvPr/>
        </p:nvSpPr>
        <p:spPr>
          <a:xfrm>
            <a:off x="7242048" y="4507992"/>
            <a:ext cx="4069080" cy="777240"/>
          </a:xfrm>
          <a:prstGeom prst="rect">
            <a:avLst/>
          </a:prstGeom>
          <a:noFill/>
          <a:ln/>
        </p:spPr>
        <p:txBody>
          <a:bodyPr wrap="square" lIns="0" tIns="0" rIns="0" bIns="0" rtlCol="0" anchor="t"/>
          <a:lstStyle/>
          <a:p>
            <a:pPr indent="0" marL="0">
              <a:lnSpc>
                <a:spcPts val="1500"/>
              </a:lnSpc>
              <a:buNone/>
            </a:pPr>
            <a:r>
              <a:rPr lang="en-US" sz="1200" dirty="0">
                <a:solidFill>
                  <a:srgbClr val="2C3A55"/>
                </a:solidFill>
                <a:latin typeface="Calibri" pitchFamily="34" charset="0"/>
                <a:ea typeface="Calibri" pitchFamily="34" charset="-122"/>
                <a:cs typeface="Calibri" pitchFamily="34" charset="-120"/>
              </a:rPr>
              <a:t>Tres ideas clave, un reto corto y el enlace con la clase siguiente.</a:t>
            </a:r>
            <a:endParaRPr lang="en-US" sz="1200" dirty="0"/>
          </a:p>
        </p:txBody>
      </p:sp>
      <p:sp>
        <p:nvSpPr>
          <p:cNvPr id="24" name="Shape 22"/>
          <p:cNvSpPr/>
          <p:nvPr/>
        </p:nvSpPr>
        <p:spPr>
          <a:xfrm>
            <a:off x="548640" y="5715000"/>
            <a:ext cx="11064240" cy="658368"/>
          </a:xfrm>
          <a:prstGeom prst="roundRect">
            <a:avLst>
              <a:gd name="adj" fmla="val 8333"/>
            </a:avLst>
          </a:prstGeom>
          <a:solidFill>
            <a:srgbClr val="DCE6F8"/>
          </a:solidFill>
          <a:ln w="12700">
            <a:solidFill>
              <a:srgbClr val="C3D5F5"/>
            </a:solidFill>
            <a:prstDash val="solid"/>
          </a:ln>
        </p:spPr>
      </p:sp>
      <p:sp>
        <p:nvSpPr>
          <p:cNvPr id="25" name="Shape 23"/>
          <p:cNvSpPr/>
          <p:nvPr/>
        </p:nvSpPr>
        <p:spPr>
          <a:xfrm>
            <a:off x="786384" y="5984748"/>
            <a:ext cx="118872" cy="118872"/>
          </a:xfrm>
          <a:prstGeom prst="roundRect">
            <a:avLst>
              <a:gd name="adj" fmla="val 30769"/>
            </a:avLst>
          </a:prstGeom>
          <a:solidFill>
            <a:srgbClr val="E6115E"/>
          </a:solidFill>
          <a:ln w="12700">
            <a:solidFill>
              <a:srgbClr val="E6115E"/>
            </a:solidFill>
            <a:prstDash val="solid"/>
          </a:ln>
        </p:spPr>
      </p:sp>
      <p:sp>
        <p:nvSpPr>
          <p:cNvPr id="26" name="Text 24"/>
          <p:cNvSpPr/>
          <p:nvPr/>
        </p:nvSpPr>
        <p:spPr>
          <a:xfrm>
            <a:off x="1024128" y="5715000"/>
            <a:ext cx="10332720" cy="658368"/>
          </a:xfrm>
          <a:prstGeom prst="rect">
            <a:avLst/>
          </a:prstGeom>
          <a:noFill/>
          <a:ln/>
        </p:spPr>
        <p:txBody>
          <a:bodyPr wrap="square" lIns="0" tIns="0" rIns="0" bIns="0" rtlCol="0" anchor="ctr"/>
          <a:lstStyle/>
          <a:p>
            <a:pPr indent="0" marL="0">
              <a:lnSpc>
                <a:spcPts val="1656"/>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656"/>
              </a:lnSpc>
              <a:buNone/>
            </a:pPr>
            <a:r>
              <a:rPr lang="en-US" sz="1200" dirty="0">
                <a:solidFill>
                  <a:srgbClr val="0A2559"/>
                </a:solidFill>
                <a:latin typeface="Calibri" pitchFamily="34" charset="0"/>
                <a:ea typeface="Calibri" pitchFamily="34" charset="-122"/>
                <a:cs typeface="Calibri" pitchFamily="34" charset="-120"/>
              </a:rPr>
              <a:t>Los 40 minutos de teoría son leer el manual del auto; los 70 de Colab son conducirlo. Nadie aprende a manejar leyendo, y nadie sobrevive al tráfico sin haber leído nada.</a:t>
            </a:r>
            <a:endParaRPr lang="en-US" sz="1000" dirty="0"/>
          </a:p>
        </p:txBody>
      </p:sp>
      <p:sp>
        <p:nvSpPr>
          <p:cNvPr id="27" name="Text 25"/>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8" name="Text 26"/>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Bibliografía base del curso</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Cinco libros. Cada uno tiene un trabajo distinto — no son intercambiables</a:t>
            </a:r>
            <a:endParaRPr lang="en-US" sz="1450" dirty="0"/>
          </a:p>
        </p:txBody>
      </p:sp>
      <p:sp>
        <p:nvSpPr>
          <p:cNvPr id="4" name="Shape 2"/>
          <p:cNvSpPr/>
          <p:nvPr/>
        </p:nvSpPr>
        <p:spPr>
          <a:xfrm>
            <a:off x="548640" y="1920240"/>
            <a:ext cx="11064240" cy="768096"/>
          </a:xfrm>
          <a:prstGeom prst="roundRect">
            <a:avLst>
              <a:gd name="adj" fmla="val 7143"/>
            </a:avLst>
          </a:prstGeom>
          <a:solidFill>
            <a:srgbClr val="E9EEF8"/>
          </a:solidFill>
          <a:ln w="12700">
            <a:solidFill>
              <a:srgbClr val="D2DBEC"/>
            </a:solidFill>
            <a:prstDash val="solid"/>
          </a:ln>
        </p:spPr>
      </p:sp>
      <p:sp>
        <p:nvSpPr>
          <p:cNvPr id="5" name="Text 3"/>
          <p:cNvSpPr/>
          <p:nvPr/>
        </p:nvSpPr>
        <p:spPr>
          <a:xfrm>
            <a:off x="822960" y="1993392"/>
            <a:ext cx="4114800" cy="310896"/>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Introduction to Probability</a:t>
            </a:r>
            <a:endParaRPr lang="en-US" sz="1350" dirty="0"/>
          </a:p>
        </p:txBody>
      </p:sp>
      <p:sp>
        <p:nvSpPr>
          <p:cNvPr id="6" name="Text 4"/>
          <p:cNvSpPr/>
          <p:nvPr/>
        </p:nvSpPr>
        <p:spPr>
          <a:xfrm>
            <a:off x="822960" y="2322576"/>
            <a:ext cx="4114800" cy="274320"/>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Blitzstein &amp; Hwang · CRC Press, 2ª ed., 2019</a:t>
            </a:r>
            <a:endParaRPr lang="en-US" sz="1050" dirty="0"/>
          </a:p>
        </p:txBody>
      </p:sp>
      <p:sp>
        <p:nvSpPr>
          <p:cNvPr id="7" name="Text 5"/>
          <p:cNvSpPr/>
          <p:nvPr/>
        </p:nvSpPr>
        <p:spPr>
          <a:xfrm>
            <a:off x="5120640" y="1993392"/>
            <a:ext cx="5120640" cy="621792"/>
          </a:xfrm>
          <a:prstGeom prst="rect">
            <a:avLst/>
          </a:prstGeom>
          <a:noFill/>
          <a:ln/>
        </p:spPr>
        <p:txBody>
          <a:bodyPr wrap="square" lIns="0" tIns="0" rIns="0" bIns="0" rtlCol="0" anchor="ctr"/>
          <a:lstStyle/>
          <a:p>
            <a:pPr indent="0" marL="0">
              <a:lnSpc>
                <a:spcPts val="1400"/>
              </a:lnSpc>
              <a:buNone/>
            </a:pPr>
            <a:r>
              <a:rPr lang="en-US" sz="1150" dirty="0">
                <a:solidFill>
                  <a:srgbClr val="2C3A55"/>
                </a:solidFill>
                <a:latin typeface="Calibri" pitchFamily="34" charset="0"/>
                <a:ea typeface="Calibri" pitchFamily="34" charset="-122"/>
                <a:cs typeface="Calibri" pitchFamily="34" charset="-120"/>
              </a:rPr>
              <a:t>Enseña cada distribución como una historia, no como una fórmula. Base de Stat 110 (Harvard), con curso y videos gratuitos.</a:t>
            </a:r>
            <a:endParaRPr lang="en-US" sz="1150" dirty="0"/>
          </a:p>
        </p:txBody>
      </p:sp>
      <p:sp>
        <p:nvSpPr>
          <p:cNvPr id="8" name="Shape 6"/>
          <p:cNvSpPr/>
          <p:nvPr/>
        </p:nvSpPr>
        <p:spPr>
          <a:xfrm>
            <a:off x="10378440" y="2139696"/>
            <a:ext cx="1005840" cy="329184"/>
          </a:xfrm>
          <a:prstGeom prst="roundRect">
            <a:avLst>
              <a:gd name="adj" fmla="val 50000"/>
            </a:avLst>
          </a:prstGeom>
          <a:solidFill>
            <a:srgbClr val="1A56E8"/>
          </a:solidFill>
          <a:ln w="12700">
            <a:solidFill>
              <a:srgbClr val="1A56E8"/>
            </a:solidFill>
            <a:prstDash val="solid"/>
          </a:ln>
        </p:spPr>
      </p:sp>
      <p:sp>
        <p:nvSpPr>
          <p:cNvPr id="9" name="Text 7"/>
          <p:cNvSpPr/>
          <p:nvPr/>
        </p:nvSpPr>
        <p:spPr>
          <a:xfrm>
            <a:off x="10378440" y="2139696"/>
            <a:ext cx="10058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M1</a:t>
            </a:r>
            <a:endParaRPr lang="en-US" sz="950" dirty="0"/>
          </a:p>
        </p:txBody>
      </p:sp>
      <p:sp>
        <p:nvSpPr>
          <p:cNvPr id="10" name="Shape 8"/>
          <p:cNvSpPr/>
          <p:nvPr/>
        </p:nvSpPr>
        <p:spPr>
          <a:xfrm>
            <a:off x="548640" y="2779776"/>
            <a:ext cx="11064240" cy="768096"/>
          </a:xfrm>
          <a:prstGeom prst="roundRect">
            <a:avLst>
              <a:gd name="adj" fmla="val 7143"/>
            </a:avLst>
          </a:prstGeom>
          <a:solidFill>
            <a:srgbClr val="E9EEF8"/>
          </a:solidFill>
          <a:ln w="12700">
            <a:solidFill>
              <a:srgbClr val="D2DBEC"/>
            </a:solidFill>
            <a:prstDash val="solid"/>
          </a:ln>
        </p:spPr>
      </p:sp>
      <p:sp>
        <p:nvSpPr>
          <p:cNvPr id="11" name="Text 9"/>
          <p:cNvSpPr/>
          <p:nvPr/>
        </p:nvSpPr>
        <p:spPr>
          <a:xfrm>
            <a:off x="822960" y="2852928"/>
            <a:ext cx="4114800" cy="310896"/>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All of Statistics</a:t>
            </a:r>
            <a:endParaRPr lang="en-US" sz="1350" dirty="0"/>
          </a:p>
        </p:txBody>
      </p:sp>
      <p:sp>
        <p:nvSpPr>
          <p:cNvPr id="12" name="Text 10"/>
          <p:cNvSpPr/>
          <p:nvPr/>
        </p:nvSpPr>
        <p:spPr>
          <a:xfrm>
            <a:off x="822960" y="3182112"/>
            <a:ext cx="4114800" cy="274320"/>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Wasserman · Springer, 2004</a:t>
            </a:r>
            <a:endParaRPr lang="en-US" sz="1050" dirty="0"/>
          </a:p>
        </p:txBody>
      </p:sp>
      <p:sp>
        <p:nvSpPr>
          <p:cNvPr id="13" name="Text 11"/>
          <p:cNvSpPr/>
          <p:nvPr/>
        </p:nvSpPr>
        <p:spPr>
          <a:xfrm>
            <a:off x="5120640" y="2852928"/>
            <a:ext cx="5120640" cy="621792"/>
          </a:xfrm>
          <a:prstGeom prst="rect">
            <a:avLst/>
          </a:prstGeom>
          <a:noFill/>
          <a:ln/>
        </p:spPr>
        <p:txBody>
          <a:bodyPr wrap="square" lIns="0" tIns="0" rIns="0" bIns="0" rtlCol="0" anchor="ctr"/>
          <a:lstStyle/>
          <a:p>
            <a:pPr indent="0" marL="0">
              <a:lnSpc>
                <a:spcPts val="1400"/>
              </a:lnSpc>
              <a:buNone/>
            </a:pPr>
            <a:r>
              <a:rPr lang="en-US" sz="1150" dirty="0">
                <a:solidFill>
                  <a:srgbClr val="2C3A55"/>
                </a:solidFill>
                <a:latin typeface="Calibri" pitchFamily="34" charset="0"/>
                <a:ea typeface="Calibri" pitchFamily="34" charset="-122"/>
                <a:cs typeface="Calibri" pitchFamily="34" charset="-120"/>
              </a:rPr>
              <a:t>Referencia compacta y rigurosa de toda la inferencia en un solo volumen. Premio DeGroot 2005.</a:t>
            </a:r>
            <a:endParaRPr lang="en-US" sz="1150" dirty="0"/>
          </a:p>
        </p:txBody>
      </p:sp>
      <p:sp>
        <p:nvSpPr>
          <p:cNvPr id="14" name="Shape 12"/>
          <p:cNvSpPr/>
          <p:nvPr/>
        </p:nvSpPr>
        <p:spPr>
          <a:xfrm>
            <a:off x="10378440" y="2999232"/>
            <a:ext cx="1005840" cy="329184"/>
          </a:xfrm>
          <a:prstGeom prst="roundRect">
            <a:avLst>
              <a:gd name="adj" fmla="val 50000"/>
            </a:avLst>
          </a:prstGeom>
          <a:solidFill>
            <a:srgbClr val="1A56E8"/>
          </a:solidFill>
          <a:ln w="12700">
            <a:solidFill>
              <a:srgbClr val="1A56E8"/>
            </a:solidFill>
            <a:prstDash val="solid"/>
          </a:ln>
        </p:spPr>
      </p:sp>
      <p:sp>
        <p:nvSpPr>
          <p:cNvPr id="15" name="Text 13"/>
          <p:cNvSpPr/>
          <p:nvPr/>
        </p:nvSpPr>
        <p:spPr>
          <a:xfrm>
            <a:off x="10378440" y="2999232"/>
            <a:ext cx="10058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M1 · M2</a:t>
            </a:r>
            <a:endParaRPr lang="en-US" sz="950" dirty="0"/>
          </a:p>
        </p:txBody>
      </p:sp>
      <p:sp>
        <p:nvSpPr>
          <p:cNvPr id="16" name="Shape 14"/>
          <p:cNvSpPr/>
          <p:nvPr/>
        </p:nvSpPr>
        <p:spPr>
          <a:xfrm>
            <a:off x="548640" y="3639312"/>
            <a:ext cx="11064240" cy="768096"/>
          </a:xfrm>
          <a:prstGeom prst="roundRect">
            <a:avLst>
              <a:gd name="adj" fmla="val 7143"/>
            </a:avLst>
          </a:prstGeom>
          <a:solidFill>
            <a:srgbClr val="E9EEF8"/>
          </a:solidFill>
          <a:ln w="12700">
            <a:solidFill>
              <a:srgbClr val="D2DBEC"/>
            </a:solidFill>
            <a:prstDash val="solid"/>
          </a:ln>
        </p:spPr>
      </p:sp>
      <p:sp>
        <p:nvSpPr>
          <p:cNvPr id="17" name="Text 15"/>
          <p:cNvSpPr/>
          <p:nvPr/>
        </p:nvSpPr>
        <p:spPr>
          <a:xfrm>
            <a:off x="822960" y="3712464"/>
            <a:ext cx="4114800" cy="310896"/>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Practical Statistics for Data Scientists</a:t>
            </a:r>
            <a:endParaRPr lang="en-US" sz="1350" dirty="0"/>
          </a:p>
        </p:txBody>
      </p:sp>
      <p:sp>
        <p:nvSpPr>
          <p:cNvPr id="18" name="Text 16"/>
          <p:cNvSpPr/>
          <p:nvPr/>
        </p:nvSpPr>
        <p:spPr>
          <a:xfrm>
            <a:off x="822960" y="4041648"/>
            <a:ext cx="4114800" cy="274320"/>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Bruce, Bruce &amp; Gedeck · O'Reilly, 2ª ed., 2020</a:t>
            </a:r>
            <a:endParaRPr lang="en-US" sz="1050" dirty="0"/>
          </a:p>
        </p:txBody>
      </p:sp>
      <p:sp>
        <p:nvSpPr>
          <p:cNvPr id="19" name="Text 17"/>
          <p:cNvSpPr/>
          <p:nvPr/>
        </p:nvSpPr>
        <p:spPr>
          <a:xfrm>
            <a:off x="5120640" y="3712464"/>
            <a:ext cx="5120640" cy="621792"/>
          </a:xfrm>
          <a:prstGeom prst="rect">
            <a:avLst/>
          </a:prstGeom>
          <a:noFill/>
          <a:ln/>
        </p:spPr>
        <p:txBody>
          <a:bodyPr wrap="square" lIns="0" tIns="0" rIns="0" bIns="0" rtlCol="0" anchor="ctr"/>
          <a:lstStyle/>
          <a:p>
            <a:pPr indent="0" marL="0">
              <a:lnSpc>
                <a:spcPts val="1400"/>
              </a:lnSpc>
              <a:buNone/>
            </a:pPr>
            <a:r>
              <a:rPr lang="en-US" sz="1150" dirty="0">
                <a:solidFill>
                  <a:srgbClr val="2C3A55"/>
                </a:solidFill>
                <a:latin typeface="Calibri" pitchFamily="34" charset="0"/>
                <a:ea typeface="Calibri" pitchFamily="34" charset="-122"/>
                <a:cs typeface="Calibri" pitchFamily="34" charset="-120"/>
              </a:rPr>
              <a:t>El puente al código: cada concepto con su implementación en Python y R. Nuestro libro de cabecera práctico.</a:t>
            </a:r>
            <a:endParaRPr lang="en-US" sz="1150" dirty="0"/>
          </a:p>
        </p:txBody>
      </p:sp>
      <p:sp>
        <p:nvSpPr>
          <p:cNvPr id="20" name="Shape 18"/>
          <p:cNvSpPr/>
          <p:nvPr/>
        </p:nvSpPr>
        <p:spPr>
          <a:xfrm>
            <a:off x="10378440" y="3858768"/>
            <a:ext cx="1005840" cy="329184"/>
          </a:xfrm>
          <a:prstGeom prst="roundRect">
            <a:avLst>
              <a:gd name="adj" fmla="val 50000"/>
            </a:avLst>
          </a:prstGeom>
          <a:solidFill>
            <a:srgbClr val="E6115E"/>
          </a:solidFill>
          <a:ln w="12700">
            <a:solidFill>
              <a:srgbClr val="E6115E"/>
            </a:solidFill>
            <a:prstDash val="solid"/>
          </a:ln>
        </p:spPr>
      </p:sp>
      <p:sp>
        <p:nvSpPr>
          <p:cNvPr id="21" name="Text 19"/>
          <p:cNvSpPr/>
          <p:nvPr/>
        </p:nvSpPr>
        <p:spPr>
          <a:xfrm>
            <a:off x="10378440" y="3858768"/>
            <a:ext cx="10058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Todo el curso</a:t>
            </a:r>
            <a:endParaRPr lang="en-US" sz="950" dirty="0"/>
          </a:p>
        </p:txBody>
      </p:sp>
      <p:sp>
        <p:nvSpPr>
          <p:cNvPr id="22" name="Shape 20"/>
          <p:cNvSpPr/>
          <p:nvPr/>
        </p:nvSpPr>
        <p:spPr>
          <a:xfrm>
            <a:off x="548640" y="4498848"/>
            <a:ext cx="11064240" cy="768096"/>
          </a:xfrm>
          <a:prstGeom prst="roundRect">
            <a:avLst>
              <a:gd name="adj" fmla="val 7143"/>
            </a:avLst>
          </a:prstGeom>
          <a:solidFill>
            <a:srgbClr val="E9EEF8"/>
          </a:solidFill>
          <a:ln w="12700">
            <a:solidFill>
              <a:srgbClr val="D2DBEC"/>
            </a:solidFill>
            <a:prstDash val="solid"/>
          </a:ln>
        </p:spPr>
      </p:sp>
      <p:sp>
        <p:nvSpPr>
          <p:cNvPr id="23" name="Text 21"/>
          <p:cNvSpPr/>
          <p:nvPr/>
        </p:nvSpPr>
        <p:spPr>
          <a:xfrm>
            <a:off x="822960" y="4572000"/>
            <a:ext cx="4114800" cy="310896"/>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Statistical Inference</a:t>
            </a:r>
            <a:endParaRPr lang="en-US" sz="1350" dirty="0"/>
          </a:p>
        </p:txBody>
      </p:sp>
      <p:sp>
        <p:nvSpPr>
          <p:cNvPr id="24" name="Text 22"/>
          <p:cNvSpPr/>
          <p:nvPr/>
        </p:nvSpPr>
        <p:spPr>
          <a:xfrm>
            <a:off x="822960" y="4901184"/>
            <a:ext cx="4114800" cy="274320"/>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Casella &amp; Berger · Duxbury, 2ª ed., 2002</a:t>
            </a:r>
            <a:endParaRPr lang="en-US" sz="1050" dirty="0"/>
          </a:p>
        </p:txBody>
      </p:sp>
      <p:sp>
        <p:nvSpPr>
          <p:cNvPr id="25" name="Text 23"/>
          <p:cNvSpPr/>
          <p:nvPr/>
        </p:nvSpPr>
        <p:spPr>
          <a:xfrm>
            <a:off x="5120640" y="4572000"/>
            <a:ext cx="5120640" cy="621792"/>
          </a:xfrm>
          <a:prstGeom prst="rect">
            <a:avLst/>
          </a:prstGeom>
          <a:noFill/>
          <a:ln/>
        </p:spPr>
        <p:txBody>
          <a:bodyPr wrap="square" lIns="0" tIns="0" rIns="0" bIns="0" rtlCol="0" anchor="ctr"/>
          <a:lstStyle/>
          <a:p>
            <a:pPr indent="0" marL="0">
              <a:lnSpc>
                <a:spcPts val="1400"/>
              </a:lnSpc>
              <a:buNone/>
            </a:pPr>
            <a:r>
              <a:rPr lang="en-US" sz="1150" dirty="0">
                <a:solidFill>
                  <a:srgbClr val="2C3A55"/>
                </a:solidFill>
                <a:latin typeface="Calibri" pitchFamily="34" charset="0"/>
                <a:ea typeface="Calibri" pitchFamily="34" charset="-122"/>
                <a:cs typeface="Calibri" pitchFamily="34" charset="-120"/>
              </a:rPr>
              <a:t>La referencia formal para cuando necesitas la demostración y no solo el resultado.</a:t>
            </a:r>
            <a:endParaRPr lang="en-US" sz="1150" dirty="0"/>
          </a:p>
        </p:txBody>
      </p:sp>
      <p:sp>
        <p:nvSpPr>
          <p:cNvPr id="26" name="Shape 24"/>
          <p:cNvSpPr/>
          <p:nvPr/>
        </p:nvSpPr>
        <p:spPr>
          <a:xfrm>
            <a:off x="10378440" y="4718304"/>
            <a:ext cx="1005840" cy="329184"/>
          </a:xfrm>
          <a:prstGeom prst="roundRect">
            <a:avLst>
              <a:gd name="adj" fmla="val 50000"/>
            </a:avLst>
          </a:prstGeom>
          <a:solidFill>
            <a:srgbClr val="1A56E8"/>
          </a:solidFill>
          <a:ln w="12700">
            <a:solidFill>
              <a:srgbClr val="1A56E8"/>
            </a:solidFill>
            <a:prstDash val="solid"/>
          </a:ln>
        </p:spPr>
      </p:sp>
      <p:sp>
        <p:nvSpPr>
          <p:cNvPr id="27" name="Text 25"/>
          <p:cNvSpPr/>
          <p:nvPr/>
        </p:nvSpPr>
        <p:spPr>
          <a:xfrm>
            <a:off x="10378440" y="4718304"/>
            <a:ext cx="10058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M2</a:t>
            </a:r>
            <a:endParaRPr lang="en-US" sz="950" dirty="0"/>
          </a:p>
        </p:txBody>
      </p:sp>
      <p:sp>
        <p:nvSpPr>
          <p:cNvPr id="28" name="Shape 26"/>
          <p:cNvSpPr/>
          <p:nvPr/>
        </p:nvSpPr>
        <p:spPr>
          <a:xfrm>
            <a:off x="548640" y="5358384"/>
            <a:ext cx="11064240" cy="768096"/>
          </a:xfrm>
          <a:prstGeom prst="roundRect">
            <a:avLst>
              <a:gd name="adj" fmla="val 7143"/>
            </a:avLst>
          </a:prstGeom>
          <a:solidFill>
            <a:srgbClr val="E9EEF8"/>
          </a:solidFill>
          <a:ln w="12700">
            <a:solidFill>
              <a:srgbClr val="D2DBEC"/>
            </a:solidFill>
            <a:prstDash val="solid"/>
          </a:ln>
        </p:spPr>
      </p:sp>
      <p:sp>
        <p:nvSpPr>
          <p:cNvPr id="29" name="Text 27"/>
          <p:cNvSpPr/>
          <p:nvPr/>
        </p:nvSpPr>
        <p:spPr>
          <a:xfrm>
            <a:off x="822960" y="5431536"/>
            <a:ext cx="4114800" cy="310896"/>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Trustworthy Online Controlled Experiments</a:t>
            </a:r>
            <a:endParaRPr lang="en-US" sz="1350" dirty="0"/>
          </a:p>
        </p:txBody>
      </p:sp>
      <p:sp>
        <p:nvSpPr>
          <p:cNvPr id="30" name="Text 28"/>
          <p:cNvSpPr/>
          <p:nvPr/>
        </p:nvSpPr>
        <p:spPr>
          <a:xfrm>
            <a:off x="822960" y="5760720"/>
            <a:ext cx="4114800" cy="274320"/>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Kohavi, Tang &amp; Xu · Cambridge Univ. Press, 2020</a:t>
            </a:r>
            <a:endParaRPr lang="en-US" sz="1050" dirty="0"/>
          </a:p>
        </p:txBody>
      </p:sp>
      <p:sp>
        <p:nvSpPr>
          <p:cNvPr id="31" name="Text 29"/>
          <p:cNvSpPr/>
          <p:nvPr/>
        </p:nvSpPr>
        <p:spPr>
          <a:xfrm>
            <a:off x="5120640" y="5431536"/>
            <a:ext cx="5120640" cy="621792"/>
          </a:xfrm>
          <a:prstGeom prst="rect">
            <a:avLst/>
          </a:prstGeom>
          <a:noFill/>
          <a:ln/>
        </p:spPr>
        <p:txBody>
          <a:bodyPr wrap="square" lIns="0" tIns="0" rIns="0" bIns="0" rtlCol="0" anchor="ctr"/>
          <a:lstStyle/>
          <a:p>
            <a:pPr indent="0" marL="0">
              <a:lnSpc>
                <a:spcPts val="1400"/>
              </a:lnSpc>
              <a:buNone/>
            </a:pPr>
            <a:r>
              <a:rPr lang="en-US" sz="1150" dirty="0">
                <a:solidFill>
                  <a:srgbClr val="2C3A55"/>
                </a:solidFill>
                <a:latin typeface="Calibri" pitchFamily="34" charset="0"/>
                <a:ea typeface="Calibri" pitchFamily="34" charset="-122"/>
                <a:cs typeface="Calibri" pitchFamily="34" charset="-120"/>
              </a:rPr>
              <a:t>El estándar de la industria en A/B testing, escrito por quienes lo operaron en Microsoft, Google y Airbnb.</a:t>
            </a:r>
            <a:endParaRPr lang="en-US" sz="1150" dirty="0"/>
          </a:p>
        </p:txBody>
      </p:sp>
      <p:sp>
        <p:nvSpPr>
          <p:cNvPr id="32" name="Shape 30"/>
          <p:cNvSpPr/>
          <p:nvPr/>
        </p:nvSpPr>
        <p:spPr>
          <a:xfrm>
            <a:off x="10378440" y="5577840"/>
            <a:ext cx="1005840" cy="329184"/>
          </a:xfrm>
          <a:prstGeom prst="roundRect">
            <a:avLst>
              <a:gd name="adj" fmla="val 50000"/>
            </a:avLst>
          </a:prstGeom>
          <a:solidFill>
            <a:srgbClr val="E6115E"/>
          </a:solidFill>
          <a:ln w="12700">
            <a:solidFill>
              <a:srgbClr val="E6115E"/>
            </a:solidFill>
            <a:prstDash val="solid"/>
          </a:ln>
        </p:spPr>
      </p:sp>
      <p:sp>
        <p:nvSpPr>
          <p:cNvPr id="33" name="Text 31"/>
          <p:cNvSpPr/>
          <p:nvPr/>
        </p:nvSpPr>
        <p:spPr>
          <a:xfrm>
            <a:off x="10378440" y="5577840"/>
            <a:ext cx="10058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M3</a:t>
            </a:r>
            <a:endParaRPr lang="en-US" sz="950" dirty="0"/>
          </a:p>
        </p:txBody>
      </p:sp>
      <p:sp>
        <p:nvSpPr>
          <p:cNvPr id="34" name="Text 32"/>
          <p:cNvSpPr/>
          <p:nvPr/>
        </p:nvSpPr>
        <p:spPr>
          <a:xfrm>
            <a:off x="548640" y="6309360"/>
            <a:ext cx="11064240" cy="274320"/>
          </a:xfrm>
          <a:prstGeom prst="rect">
            <a:avLst/>
          </a:prstGeom>
          <a:noFill/>
          <a:ln/>
        </p:spPr>
        <p:txBody>
          <a:bodyPr wrap="square" lIns="0" tIns="0" rIns="0" bIns="0" rtlCol="0" anchor="ctr"/>
          <a:lstStyle/>
          <a:p>
            <a:pPr indent="0" marL="0">
              <a:buNone/>
            </a:pPr>
            <a:r>
              <a:rPr lang="en-US" sz="1000" i="1" dirty="0">
                <a:solidFill>
                  <a:srgbClr val="5B6B87"/>
                </a:solidFill>
                <a:latin typeface="Calibri" pitchFamily="34" charset="0"/>
                <a:ea typeface="Calibri" pitchFamily="34" charset="-122"/>
                <a:cs typeface="Calibri" pitchFamily="34" charset="-120"/>
              </a:rPr>
              <a:t>Complementarios y capítulos exactos por tema: última slide del deck.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Hoy</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Al final debes poder mirar un problema de negocio y nombrar su distribución</a:t>
            </a:r>
            <a:endParaRPr lang="en-US" sz="1450" dirty="0"/>
          </a:p>
        </p:txBody>
      </p:sp>
      <p:sp>
        <p:nvSpPr>
          <p:cNvPr id="4" name="Shape 2"/>
          <p:cNvSpPr/>
          <p:nvPr/>
        </p:nvSpPr>
        <p:spPr>
          <a:xfrm>
            <a:off x="566928" y="2011680"/>
            <a:ext cx="749808" cy="512064"/>
          </a:xfrm>
          <a:prstGeom prst="roundRect">
            <a:avLst>
              <a:gd name="adj" fmla="val 12500"/>
            </a:avLst>
          </a:prstGeom>
          <a:solidFill>
            <a:srgbClr val="0A2559"/>
          </a:solidFill>
          <a:ln w="12700">
            <a:solidFill>
              <a:srgbClr val="0A2559"/>
            </a:solidFill>
            <a:prstDash val="solid"/>
          </a:ln>
        </p:spPr>
      </p:sp>
      <p:sp>
        <p:nvSpPr>
          <p:cNvPr id="5" name="Text 3"/>
          <p:cNvSpPr/>
          <p:nvPr/>
        </p:nvSpPr>
        <p:spPr>
          <a:xfrm>
            <a:off x="566928" y="2011680"/>
            <a:ext cx="749808"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6" name="Text 4"/>
          <p:cNvSpPr/>
          <p:nvPr/>
        </p:nvSpPr>
        <p:spPr>
          <a:xfrm>
            <a:off x="1481328" y="2011680"/>
            <a:ext cx="3566160" cy="512064"/>
          </a:xfrm>
          <a:prstGeom prst="rect">
            <a:avLst/>
          </a:prstGeom>
          <a:noFill/>
          <a:ln/>
        </p:spPr>
        <p:txBody>
          <a:bodyPr wrap="square" lIns="0" tIns="0" rIns="0" bIns="0" rtlCol="0" anchor="ctr"/>
          <a:lstStyle/>
          <a:p>
            <a:pPr indent="0" marL="0">
              <a:buNone/>
            </a:pPr>
            <a:r>
              <a:rPr lang="en-US" sz="1450" b="1" dirty="0">
                <a:solidFill>
                  <a:srgbClr val="0A2559"/>
                </a:solidFill>
                <a:latin typeface="Calibri" pitchFamily="34" charset="0"/>
                <a:ea typeface="Calibri" pitchFamily="34" charset="-122"/>
                <a:cs typeface="Calibri" pitchFamily="34" charset="-120"/>
              </a:rPr>
              <a:t>Por qué existe la estadística</a:t>
            </a:r>
            <a:endParaRPr lang="en-US" sz="1450" dirty="0"/>
          </a:p>
        </p:txBody>
      </p:sp>
      <p:sp>
        <p:nvSpPr>
          <p:cNvPr id="7" name="Text 5"/>
          <p:cNvSpPr/>
          <p:nvPr/>
        </p:nvSpPr>
        <p:spPr>
          <a:xfrm>
            <a:off x="5120640" y="2011680"/>
            <a:ext cx="6492240" cy="512064"/>
          </a:xfrm>
          <a:prstGeom prst="rect">
            <a:avLst/>
          </a:prstGeom>
          <a:noFill/>
          <a:ln/>
        </p:spPr>
        <p:txBody>
          <a:bodyPr wrap="square" lIns="0" tIns="0" rIns="0" bIns="0" rtlCol="0" anchor="ctr"/>
          <a:lstStyle/>
          <a:p>
            <a:pPr indent="0" marL="0">
              <a:buNone/>
            </a:pPr>
            <a:r>
              <a:rPr lang="en-US" sz="1250" dirty="0">
                <a:solidFill>
                  <a:srgbClr val="5B6B87"/>
                </a:solidFill>
                <a:latin typeface="Calibri" pitchFamily="34" charset="0"/>
                <a:ea typeface="Calibri" pitchFamily="34" charset="-122"/>
                <a:cs typeface="Calibri" pitchFamily="34" charset="-120"/>
              </a:rPr>
              <a:t>El único problema que resuelve</a:t>
            </a:r>
            <a:endParaRPr lang="en-US" sz="1250" dirty="0"/>
          </a:p>
        </p:txBody>
      </p:sp>
      <p:sp>
        <p:nvSpPr>
          <p:cNvPr id="8" name="Shape 6"/>
          <p:cNvSpPr/>
          <p:nvPr/>
        </p:nvSpPr>
        <p:spPr>
          <a:xfrm>
            <a:off x="1481328" y="2615184"/>
            <a:ext cx="10104120" cy="0"/>
          </a:xfrm>
          <a:prstGeom prst="line">
            <a:avLst/>
          </a:prstGeom>
          <a:noFill/>
          <a:ln w="12700">
            <a:solidFill>
              <a:srgbClr val="DCE3F0"/>
            </a:solidFill>
            <a:prstDash val="solid"/>
          </a:ln>
        </p:spPr>
      </p:sp>
      <p:sp>
        <p:nvSpPr>
          <p:cNvPr id="9" name="Shape 7"/>
          <p:cNvSpPr/>
          <p:nvPr/>
        </p:nvSpPr>
        <p:spPr>
          <a:xfrm>
            <a:off x="566928" y="2697480"/>
            <a:ext cx="749808" cy="512064"/>
          </a:xfrm>
          <a:prstGeom prst="roundRect">
            <a:avLst>
              <a:gd name="adj" fmla="val 12500"/>
            </a:avLst>
          </a:prstGeom>
          <a:solidFill>
            <a:srgbClr val="0A2559"/>
          </a:solidFill>
          <a:ln w="12700">
            <a:solidFill>
              <a:srgbClr val="0A2559"/>
            </a:solidFill>
            <a:prstDash val="solid"/>
          </a:ln>
        </p:spPr>
      </p:sp>
      <p:sp>
        <p:nvSpPr>
          <p:cNvPr id="10" name="Text 8"/>
          <p:cNvSpPr/>
          <p:nvPr/>
        </p:nvSpPr>
        <p:spPr>
          <a:xfrm>
            <a:off x="566928" y="2697480"/>
            <a:ext cx="749808"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11" name="Text 9"/>
          <p:cNvSpPr/>
          <p:nvPr/>
        </p:nvSpPr>
        <p:spPr>
          <a:xfrm>
            <a:off x="1481328" y="2697480"/>
            <a:ext cx="3566160" cy="512064"/>
          </a:xfrm>
          <a:prstGeom prst="rect">
            <a:avLst/>
          </a:prstGeom>
          <a:noFill/>
          <a:ln/>
        </p:spPr>
        <p:txBody>
          <a:bodyPr wrap="square" lIns="0" tIns="0" rIns="0" bIns="0" rtlCol="0" anchor="ctr"/>
          <a:lstStyle/>
          <a:p>
            <a:pPr indent="0" marL="0">
              <a:buNone/>
            </a:pPr>
            <a:r>
              <a:rPr lang="en-US" sz="1450" b="1" dirty="0">
                <a:solidFill>
                  <a:srgbClr val="0A2559"/>
                </a:solidFill>
                <a:latin typeface="Calibri" pitchFamily="34" charset="0"/>
                <a:ea typeface="Calibri" pitchFamily="34" charset="-122"/>
                <a:cs typeface="Calibri" pitchFamily="34" charset="-120"/>
              </a:rPr>
              <a:t>Descriptiva express</a:t>
            </a:r>
            <a:endParaRPr lang="en-US" sz="1450" dirty="0"/>
          </a:p>
        </p:txBody>
      </p:sp>
      <p:sp>
        <p:nvSpPr>
          <p:cNvPr id="12" name="Text 10"/>
          <p:cNvSpPr/>
          <p:nvPr/>
        </p:nvSpPr>
        <p:spPr>
          <a:xfrm>
            <a:off x="5120640" y="2697480"/>
            <a:ext cx="6492240" cy="512064"/>
          </a:xfrm>
          <a:prstGeom prst="rect">
            <a:avLst/>
          </a:prstGeom>
          <a:noFill/>
          <a:ln/>
        </p:spPr>
        <p:txBody>
          <a:bodyPr wrap="square" lIns="0" tIns="0" rIns="0" bIns="0" rtlCol="0" anchor="ctr"/>
          <a:lstStyle/>
          <a:p>
            <a:pPr indent="0" marL="0">
              <a:buNone/>
            </a:pPr>
            <a:r>
              <a:rPr lang="en-US" sz="1250" dirty="0">
                <a:solidFill>
                  <a:srgbClr val="5B6B87"/>
                </a:solidFill>
                <a:latin typeface="Calibri" pitchFamily="34" charset="0"/>
                <a:ea typeface="Calibri" pitchFamily="34" charset="-122"/>
                <a:cs typeface="Calibri" pitchFamily="34" charset="-120"/>
              </a:rPr>
              <a:t>Población vs muestra · por qué la media miente · Caso USAF 1952</a:t>
            </a:r>
            <a:endParaRPr lang="en-US" sz="1250" dirty="0"/>
          </a:p>
        </p:txBody>
      </p:sp>
      <p:sp>
        <p:nvSpPr>
          <p:cNvPr id="13" name="Shape 11"/>
          <p:cNvSpPr/>
          <p:nvPr/>
        </p:nvSpPr>
        <p:spPr>
          <a:xfrm>
            <a:off x="1481328" y="3300984"/>
            <a:ext cx="10104120" cy="0"/>
          </a:xfrm>
          <a:prstGeom prst="line">
            <a:avLst/>
          </a:prstGeom>
          <a:noFill/>
          <a:ln w="12700">
            <a:solidFill>
              <a:srgbClr val="DCE3F0"/>
            </a:solidFill>
            <a:prstDash val="solid"/>
          </a:ln>
        </p:spPr>
      </p:sp>
      <p:sp>
        <p:nvSpPr>
          <p:cNvPr id="14" name="Shape 12"/>
          <p:cNvSpPr/>
          <p:nvPr/>
        </p:nvSpPr>
        <p:spPr>
          <a:xfrm>
            <a:off x="566928" y="3383280"/>
            <a:ext cx="749808" cy="512064"/>
          </a:xfrm>
          <a:prstGeom prst="roundRect">
            <a:avLst>
              <a:gd name="adj" fmla="val 12500"/>
            </a:avLst>
          </a:prstGeom>
          <a:solidFill>
            <a:srgbClr val="0A2559"/>
          </a:solidFill>
          <a:ln w="12700">
            <a:solidFill>
              <a:srgbClr val="0A2559"/>
            </a:solidFill>
            <a:prstDash val="solid"/>
          </a:ln>
        </p:spPr>
      </p:sp>
      <p:sp>
        <p:nvSpPr>
          <p:cNvPr id="15" name="Text 13"/>
          <p:cNvSpPr/>
          <p:nvPr/>
        </p:nvSpPr>
        <p:spPr>
          <a:xfrm>
            <a:off x="566928" y="3383280"/>
            <a:ext cx="749808"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6" name="Text 14"/>
          <p:cNvSpPr/>
          <p:nvPr/>
        </p:nvSpPr>
        <p:spPr>
          <a:xfrm>
            <a:off x="1481328" y="3383280"/>
            <a:ext cx="3566160" cy="512064"/>
          </a:xfrm>
          <a:prstGeom prst="rect">
            <a:avLst/>
          </a:prstGeom>
          <a:noFill/>
          <a:ln/>
        </p:spPr>
        <p:txBody>
          <a:bodyPr wrap="square" lIns="0" tIns="0" rIns="0" bIns="0" rtlCol="0" anchor="ctr"/>
          <a:lstStyle/>
          <a:p>
            <a:pPr indent="0" marL="0">
              <a:buNone/>
            </a:pPr>
            <a:r>
              <a:rPr lang="en-US" sz="1450" b="1" dirty="0">
                <a:solidFill>
                  <a:srgbClr val="0A2559"/>
                </a:solidFill>
                <a:latin typeface="Calibri" pitchFamily="34" charset="0"/>
                <a:ea typeface="Calibri" pitchFamily="34" charset="-122"/>
                <a:cs typeface="Calibri" pitchFamily="34" charset="-120"/>
              </a:rPr>
              <a:t>Variable aleatoria</a:t>
            </a:r>
            <a:endParaRPr lang="en-US" sz="1450" dirty="0"/>
          </a:p>
        </p:txBody>
      </p:sp>
      <p:sp>
        <p:nvSpPr>
          <p:cNvPr id="17" name="Text 15"/>
          <p:cNvSpPr/>
          <p:nvPr/>
        </p:nvSpPr>
        <p:spPr>
          <a:xfrm>
            <a:off x="5120640" y="3383280"/>
            <a:ext cx="6492240" cy="512064"/>
          </a:xfrm>
          <a:prstGeom prst="rect">
            <a:avLst/>
          </a:prstGeom>
          <a:noFill/>
          <a:ln/>
        </p:spPr>
        <p:txBody>
          <a:bodyPr wrap="square" lIns="0" tIns="0" rIns="0" bIns="0" rtlCol="0" anchor="ctr"/>
          <a:lstStyle/>
          <a:p>
            <a:pPr indent="0" marL="0">
              <a:buNone/>
            </a:pPr>
            <a:r>
              <a:rPr lang="en-US" sz="1250" dirty="0">
                <a:solidFill>
                  <a:srgbClr val="5B6B87"/>
                </a:solidFill>
                <a:latin typeface="Calibri" pitchFamily="34" charset="0"/>
                <a:ea typeface="Calibri" pitchFamily="34" charset="-122"/>
                <a:cs typeface="Calibri" pitchFamily="34" charset="-120"/>
              </a:rPr>
              <a:t>La definición formal y por qué importa</a:t>
            </a:r>
            <a:endParaRPr lang="en-US" sz="1250" dirty="0"/>
          </a:p>
        </p:txBody>
      </p:sp>
      <p:sp>
        <p:nvSpPr>
          <p:cNvPr id="18" name="Shape 16"/>
          <p:cNvSpPr/>
          <p:nvPr/>
        </p:nvSpPr>
        <p:spPr>
          <a:xfrm>
            <a:off x="1481328" y="3986784"/>
            <a:ext cx="10104120" cy="0"/>
          </a:xfrm>
          <a:prstGeom prst="line">
            <a:avLst/>
          </a:prstGeom>
          <a:noFill/>
          <a:ln w="12700">
            <a:solidFill>
              <a:srgbClr val="DCE3F0"/>
            </a:solidFill>
            <a:prstDash val="solid"/>
          </a:ln>
        </p:spPr>
      </p:sp>
      <p:sp>
        <p:nvSpPr>
          <p:cNvPr id="19" name="Shape 17"/>
          <p:cNvSpPr/>
          <p:nvPr/>
        </p:nvSpPr>
        <p:spPr>
          <a:xfrm>
            <a:off x="566928" y="4069080"/>
            <a:ext cx="749808" cy="512064"/>
          </a:xfrm>
          <a:prstGeom prst="roundRect">
            <a:avLst>
              <a:gd name="adj" fmla="val 12500"/>
            </a:avLst>
          </a:prstGeom>
          <a:solidFill>
            <a:srgbClr val="0A2559"/>
          </a:solidFill>
          <a:ln w="12700">
            <a:solidFill>
              <a:srgbClr val="0A2559"/>
            </a:solidFill>
            <a:prstDash val="solid"/>
          </a:ln>
        </p:spPr>
      </p:sp>
      <p:sp>
        <p:nvSpPr>
          <p:cNvPr id="20" name="Text 18"/>
          <p:cNvSpPr/>
          <p:nvPr/>
        </p:nvSpPr>
        <p:spPr>
          <a:xfrm>
            <a:off x="566928" y="4069080"/>
            <a:ext cx="749808"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21" name="Text 19"/>
          <p:cNvSpPr/>
          <p:nvPr/>
        </p:nvSpPr>
        <p:spPr>
          <a:xfrm>
            <a:off x="1481328" y="4069080"/>
            <a:ext cx="3566160" cy="512064"/>
          </a:xfrm>
          <a:prstGeom prst="rect">
            <a:avLst/>
          </a:prstGeom>
          <a:noFill/>
          <a:ln/>
        </p:spPr>
        <p:txBody>
          <a:bodyPr wrap="square" lIns="0" tIns="0" rIns="0" bIns="0" rtlCol="0" anchor="ctr"/>
          <a:lstStyle/>
          <a:p>
            <a:pPr indent="0" marL="0">
              <a:buNone/>
            </a:pPr>
            <a:r>
              <a:rPr lang="en-US" sz="1450" b="1" dirty="0">
                <a:solidFill>
                  <a:srgbClr val="0A2559"/>
                </a:solidFill>
                <a:latin typeface="Calibri" pitchFamily="34" charset="0"/>
                <a:ea typeface="Calibri" pitchFamily="34" charset="-122"/>
                <a:cs typeface="Calibri" pitchFamily="34" charset="-120"/>
              </a:rPr>
              <a:t>Distribuciones discretas</a:t>
            </a:r>
            <a:endParaRPr lang="en-US" sz="1450" dirty="0"/>
          </a:p>
        </p:txBody>
      </p:sp>
      <p:sp>
        <p:nvSpPr>
          <p:cNvPr id="22" name="Text 20"/>
          <p:cNvSpPr/>
          <p:nvPr/>
        </p:nvSpPr>
        <p:spPr>
          <a:xfrm>
            <a:off x="5120640" y="4069080"/>
            <a:ext cx="6492240" cy="512064"/>
          </a:xfrm>
          <a:prstGeom prst="rect">
            <a:avLst/>
          </a:prstGeom>
          <a:noFill/>
          <a:ln/>
        </p:spPr>
        <p:txBody>
          <a:bodyPr wrap="square" lIns="0" tIns="0" rIns="0" bIns="0" rtlCol="0" anchor="ctr"/>
          <a:lstStyle/>
          <a:p>
            <a:pPr indent="0" marL="0">
              <a:buNone/>
            </a:pPr>
            <a:r>
              <a:rPr lang="en-US" sz="1250" dirty="0">
                <a:solidFill>
                  <a:srgbClr val="5B6B87"/>
                </a:solidFill>
                <a:latin typeface="Calibri" pitchFamily="34" charset="0"/>
                <a:ea typeface="Calibri" pitchFamily="34" charset="-122"/>
                <a:cs typeface="Calibri" pitchFamily="34" charset="-120"/>
              </a:rPr>
              <a:t>Bernoulli · Binomial · Poisson · Geométrica + 3 casos reales</a:t>
            </a:r>
            <a:endParaRPr lang="en-US" sz="1250" dirty="0"/>
          </a:p>
        </p:txBody>
      </p:sp>
      <p:sp>
        <p:nvSpPr>
          <p:cNvPr id="23" name="Shape 21"/>
          <p:cNvSpPr/>
          <p:nvPr/>
        </p:nvSpPr>
        <p:spPr>
          <a:xfrm>
            <a:off x="1481328" y="4672584"/>
            <a:ext cx="10104120" cy="0"/>
          </a:xfrm>
          <a:prstGeom prst="line">
            <a:avLst/>
          </a:prstGeom>
          <a:noFill/>
          <a:ln w="12700">
            <a:solidFill>
              <a:srgbClr val="DCE3F0"/>
            </a:solidFill>
            <a:prstDash val="solid"/>
          </a:ln>
        </p:spPr>
      </p:sp>
      <p:sp>
        <p:nvSpPr>
          <p:cNvPr id="24" name="Shape 22"/>
          <p:cNvSpPr/>
          <p:nvPr/>
        </p:nvSpPr>
        <p:spPr>
          <a:xfrm>
            <a:off x="566928" y="4754880"/>
            <a:ext cx="749808" cy="512064"/>
          </a:xfrm>
          <a:prstGeom prst="roundRect">
            <a:avLst>
              <a:gd name="adj" fmla="val 12500"/>
            </a:avLst>
          </a:prstGeom>
          <a:solidFill>
            <a:srgbClr val="E6115E"/>
          </a:solidFill>
          <a:ln w="12700">
            <a:solidFill>
              <a:srgbClr val="E6115E"/>
            </a:solidFill>
            <a:prstDash val="solid"/>
          </a:ln>
        </p:spPr>
      </p:sp>
      <p:sp>
        <p:nvSpPr>
          <p:cNvPr id="25" name="Text 23"/>
          <p:cNvSpPr/>
          <p:nvPr/>
        </p:nvSpPr>
        <p:spPr>
          <a:xfrm>
            <a:off x="566928" y="4754880"/>
            <a:ext cx="749808"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70'</a:t>
            </a:r>
            <a:endParaRPr lang="en-US" sz="1400" dirty="0"/>
          </a:p>
        </p:txBody>
      </p:sp>
      <p:sp>
        <p:nvSpPr>
          <p:cNvPr id="26" name="Text 24"/>
          <p:cNvSpPr/>
          <p:nvPr/>
        </p:nvSpPr>
        <p:spPr>
          <a:xfrm>
            <a:off x="1481328" y="4754880"/>
            <a:ext cx="3566160" cy="512064"/>
          </a:xfrm>
          <a:prstGeom prst="rect">
            <a:avLst/>
          </a:prstGeom>
          <a:noFill/>
          <a:ln/>
        </p:spPr>
        <p:txBody>
          <a:bodyPr wrap="square" lIns="0" tIns="0" rIns="0" bIns="0" rtlCol="0" anchor="ctr"/>
          <a:lstStyle/>
          <a:p>
            <a:pPr indent="0" marL="0">
              <a:buNone/>
            </a:pPr>
            <a:r>
              <a:rPr lang="en-US" sz="1450" b="1" dirty="0">
                <a:solidFill>
                  <a:srgbClr val="0A2559"/>
                </a:solidFill>
                <a:latin typeface="Calibri" pitchFamily="34" charset="0"/>
                <a:ea typeface="Calibri" pitchFamily="34" charset="-122"/>
                <a:cs typeface="Calibri" pitchFamily="34" charset="-120"/>
              </a:rPr>
              <a:t>Práctica en Colab</a:t>
            </a:r>
            <a:endParaRPr lang="en-US" sz="1450" dirty="0"/>
          </a:p>
        </p:txBody>
      </p:sp>
      <p:sp>
        <p:nvSpPr>
          <p:cNvPr id="27" name="Text 25"/>
          <p:cNvSpPr/>
          <p:nvPr/>
        </p:nvSpPr>
        <p:spPr>
          <a:xfrm>
            <a:off x="5120640" y="4754880"/>
            <a:ext cx="6492240" cy="512064"/>
          </a:xfrm>
          <a:prstGeom prst="rect">
            <a:avLst/>
          </a:prstGeom>
          <a:noFill/>
          <a:ln/>
        </p:spPr>
        <p:txBody>
          <a:bodyPr wrap="square" lIns="0" tIns="0" rIns="0" bIns="0" rtlCol="0" anchor="ctr"/>
          <a:lstStyle/>
          <a:p>
            <a:pPr indent="0" marL="0">
              <a:buNone/>
            </a:pPr>
            <a:r>
              <a:rPr lang="en-US" sz="1250" dirty="0">
                <a:solidFill>
                  <a:srgbClr val="5B6B87"/>
                </a:solidFill>
                <a:latin typeface="Calibri" pitchFamily="34" charset="0"/>
                <a:ea typeface="Calibri" pitchFamily="34" charset="-122"/>
                <a:cs typeface="Calibri" pitchFamily="34" charset="-120"/>
              </a:rPr>
              <a:t>Simular, ajustar y validar con datos históricos reales</a:t>
            </a:r>
            <a:endParaRPr lang="en-US" sz="1250" dirty="0"/>
          </a:p>
        </p:txBody>
      </p:sp>
      <p:sp>
        <p:nvSpPr>
          <p:cNvPr id="28" name="Shape 26"/>
          <p:cNvSpPr/>
          <p:nvPr/>
        </p:nvSpPr>
        <p:spPr>
          <a:xfrm>
            <a:off x="1481328" y="5358384"/>
            <a:ext cx="10104120" cy="0"/>
          </a:xfrm>
          <a:prstGeom prst="line">
            <a:avLst/>
          </a:prstGeom>
          <a:noFill/>
          <a:ln w="12700">
            <a:solidFill>
              <a:srgbClr val="DCE3F0"/>
            </a:solidFill>
            <a:prstDash val="solid"/>
          </a:ln>
        </p:spPr>
      </p:sp>
      <p:sp>
        <p:nvSpPr>
          <p:cNvPr id="29" name="Shape 27"/>
          <p:cNvSpPr/>
          <p:nvPr/>
        </p:nvSpPr>
        <p:spPr>
          <a:xfrm>
            <a:off x="566928" y="5440680"/>
            <a:ext cx="749808" cy="512064"/>
          </a:xfrm>
          <a:prstGeom prst="roundRect">
            <a:avLst>
              <a:gd name="adj" fmla="val 12500"/>
            </a:avLst>
          </a:prstGeom>
          <a:solidFill>
            <a:srgbClr val="0A2559"/>
          </a:solidFill>
          <a:ln w="12700">
            <a:solidFill>
              <a:srgbClr val="0A2559"/>
            </a:solidFill>
            <a:prstDash val="solid"/>
          </a:ln>
        </p:spPr>
      </p:sp>
      <p:sp>
        <p:nvSpPr>
          <p:cNvPr id="30" name="Text 28"/>
          <p:cNvSpPr/>
          <p:nvPr/>
        </p:nvSpPr>
        <p:spPr>
          <a:xfrm>
            <a:off x="566928" y="5440680"/>
            <a:ext cx="749808"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31" name="Text 29"/>
          <p:cNvSpPr/>
          <p:nvPr/>
        </p:nvSpPr>
        <p:spPr>
          <a:xfrm>
            <a:off x="1481328" y="5440680"/>
            <a:ext cx="3566160" cy="512064"/>
          </a:xfrm>
          <a:prstGeom prst="rect">
            <a:avLst/>
          </a:prstGeom>
          <a:noFill/>
          <a:ln/>
        </p:spPr>
        <p:txBody>
          <a:bodyPr wrap="square" lIns="0" tIns="0" rIns="0" bIns="0" rtlCol="0" anchor="ctr"/>
          <a:lstStyle/>
          <a:p>
            <a:pPr indent="0" marL="0">
              <a:buNone/>
            </a:pPr>
            <a:r>
              <a:rPr lang="en-US" sz="1450" b="1" dirty="0">
                <a:solidFill>
                  <a:srgbClr val="0A2559"/>
                </a:solidFill>
                <a:latin typeface="Calibri" pitchFamily="34" charset="0"/>
                <a:ea typeface="Calibri" pitchFamily="34" charset="-122"/>
                <a:cs typeface="Calibri" pitchFamily="34" charset="-120"/>
              </a:rPr>
              <a:t>Cierre y reto</a:t>
            </a:r>
            <a:endParaRPr lang="en-US" sz="1450" dirty="0"/>
          </a:p>
        </p:txBody>
      </p:sp>
      <p:sp>
        <p:nvSpPr>
          <p:cNvPr id="32" name="Text 30"/>
          <p:cNvSpPr/>
          <p:nvPr/>
        </p:nvSpPr>
        <p:spPr>
          <a:xfrm>
            <a:off x="5120640" y="5440680"/>
            <a:ext cx="6492240" cy="512064"/>
          </a:xfrm>
          <a:prstGeom prst="rect">
            <a:avLst/>
          </a:prstGeom>
          <a:noFill/>
          <a:ln/>
        </p:spPr>
        <p:txBody>
          <a:bodyPr wrap="square" lIns="0" tIns="0" rIns="0" bIns="0" rtlCol="0" anchor="ctr"/>
          <a:lstStyle/>
          <a:p>
            <a:pPr indent="0" marL="0">
              <a:buNone/>
            </a:pPr>
            <a:r>
              <a:rPr lang="en-US" sz="1250" dirty="0">
                <a:solidFill>
                  <a:srgbClr val="5B6B87"/>
                </a:solidFill>
                <a:latin typeface="Calibri" pitchFamily="34" charset="0"/>
                <a:ea typeface="Calibri" pitchFamily="34" charset="-122"/>
                <a:cs typeface="Calibri" pitchFamily="34" charset="-120"/>
              </a:rPr>
              <a:t>Tres ideas clave + tarea</a:t>
            </a:r>
            <a:endParaRPr lang="en-US" sz="1250" dirty="0"/>
          </a:p>
        </p:txBody>
      </p:sp>
      <p:sp>
        <p:nvSpPr>
          <p:cNvPr id="33" name="Text 31"/>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34" name="Text 32"/>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1280160" y="3840480"/>
            <a:ext cx="4206240" cy="4206240"/>
          </a:xfrm>
          <a:prstGeom prst="ellipse">
            <a:avLst/>
          </a:prstGeom>
          <a:solidFill>
            <a:srgbClr val="1A56E8">
              <a:alpha val="38000"/>
            </a:srgbClr>
          </a:solidFill>
          <a:ln w="12700">
            <a:solidFill>
              <a:srgbClr val="1A56E8">
                <a:alpha val="0"/>
              </a:srgbClr>
            </a:solidFill>
            <a:prstDash val="solid"/>
          </a:ln>
        </p:spPr>
      </p:sp>
      <p:sp>
        <p:nvSpPr>
          <p:cNvPr id="3" name="Shape 1"/>
          <p:cNvSpPr/>
          <p:nvPr/>
        </p:nvSpPr>
        <p:spPr>
          <a:xfrm>
            <a:off x="1280160" y="1188720"/>
            <a:ext cx="2651760" cy="347472"/>
          </a:xfrm>
          <a:prstGeom prst="roundRect">
            <a:avLst>
              <a:gd name="adj" fmla="val 50000"/>
            </a:avLst>
          </a:prstGeom>
          <a:solidFill>
            <a:srgbClr val="E6115E"/>
          </a:solidFill>
          <a:ln w="12700">
            <a:solidFill>
              <a:srgbClr val="E6115E"/>
            </a:solidFill>
            <a:prstDash val="solid"/>
          </a:ln>
        </p:spPr>
      </p:sp>
      <p:sp>
        <p:nvSpPr>
          <p:cNvPr id="4" name="Text 2"/>
          <p:cNvSpPr/>
          <p:nvPr/>
        </p:nvSpPr>
        <p:spPr>
          <a:xfrm>
            <a:off x="1280160" y="1188720"/>
            <a:ext cx="2651760" cy="347472"/>
          </a:xfrm>
          <a:prstGeom prst="rect">
            <a:avLst/>
          </a:prstGeom>
          <a:noFill/>
          <a:ln/>
        </p:spPr>
        <p:txBody>
          <a:bodyPr wrap="square" lIns="0" tIns="0" rIns="0" bIns="0" rtlCol="0" anchor="ctr"/>
          <a:lstStyle/>
          <a:p>
            <a:pPr algn="ctr" indent="0" marL="0">
              <a:buNone/>
            </a:pPr>
            <a:r>
              <a:rPr lang="en-US" sz="1150" b="1" spc="120" kern="0" dirty="0">
                <a:solidFill>
                  <a:srgbClr val="FFFFFF"/>
                </a:solidFill>
                <a:latin typeface="Calibri" pitchFamily="34" charset="0"/>
                <a:ea typeface="Calibri" pitchFamily="34" charset="-122"/>
                <a:cs typeface="Calibri" pitchFamily="34" charset="-120"/>
              </a:rPr>
              <a:t>LA PREGUNTA DE FONDO</a:t>
            </a:r>
            <a:endParaRPr lang="en-US" sz="1150" dirty="0"/>
          </a:p>
        </p:txBody>
      </p:sp>
      <p:sp>
        <p:nvSpPr>
          <p:cNvPr id="5" name="Text 3"/>
          <p:cNvSpPr/>
          <p:nvPr/>
        </p:nvSpPr>
        <p:spPr>
          <a:xfrm>
            <a:off x="1280160" y="1783080"/>
            <a:ext cx="9601200" cy="548640"/>
          </a:xfrm>
          <a:prstGeom prst="rect">
            <a:avLst/>
          </a:prstGeom>
          <a:noFill/>
          <a:ln/>
        </p:spPr>
        <p:txBody>
          <a:bodyPr wrap="square" lIns="0" tIns="0" rIns="0" bIns="0" rtlCol="0" anchor="ctr"/>
          <a:lstStyle/>
          <a:p>
            <a:pPr indent="0" marL="0">
              <a:buNone/>
            </a:pPr>
            <a:r>
              <a:rPr lang="en-US" sz="1900" dirty="0">
                <a:solidFill>
                  <a:srgbClr val="B9C9E8"/>
                </a:solidFill>
                <a:latin typeface="Calibri" pitchFamily="34" charset="0"/>
                <a:ea typeface="Calibri" pitchFamily="34" charset="-122"/>
                <a:cs typeface="Calibri" pitchFamily="34" charset="-120"/>
              </a:rPr>
              <a:t>Toda la estadística inferencial responde una sola pregunta:</a:t>
            </a:r>
            <a:endParaRPr lang="en-US" sz="1900" dirty="0"/>
          </a:p>
        </p:txBody>
      </p:sp>
      <p:sp>
        <p:nvSpPr>
          <p:cNvPr id="6" name="Text 4"/>
          <p:cNvSpPr/>
          <p:nvPr/>
        </p:nvSpPr>
        <p:spPr>
          <a:xfrm>
            <a:off x="1280160" y="2468880"/>
            <a:ext cx="9692640" cy="1463040"/>
          </a:xfrm>
          <a:prstGeom prst="rect">
            <a:avLst/>
          </a:prstGeom>
          <a:noFill/>
          <a:ln/>
        </p:spPr>
        <p:txBody>
          <a:bodyPr wrap="square" lIns="0" tIns="0" rIns="0" bIns="0" rtlCol="0" anchor="ctr"/>
          <a:lstStyle/>
          <a:p>
            <a:pPr indent="0" marL="0">
              <a:lnSpc>
                <a:spcPts val="4200"/>
              </a:lnSpc>
              <a:buNone/>
            </a:pPr>
            <a:r>
              <a:rPr lang="en-US" sz="3200" b="1" dirty="0">
                <a:solidFill>
                  <a:srgbClr val="FFFFFF"/>
                </a:solidFill>
                <a:latin typeface="Calibri" pitchFamily="34" charset="0"/>
                <a:ea typeface="Calibri" pitchFamily="34" charset="-122"/>
                <a:cs typeface="Calibri" pitchFamily="34" charset="-120"/>
              </a:rPr>
              <a:t>¿Cuánto de lo que veo en mis datos es señal</a:t>
            </a:r>
            <a:endParaRPr lang="en-US" sz="3200" dirty="0"/>
          </a:p>
          <a:p>
            <a:pPr indent="0" marL="0">
              <a:lnSpc>
                <a:spcPts val="4200"/>
              </a:lnSpc>
              <a:buNone/>
            </a:pPr>
            <a:r>
              <a:rPr lang="en-US" sz="3200" b="1" dirty="0">
                <a:solidFill>
                  <a:srgbClr val="FFFFFF"/>
                </a:solidFill>
                <a:latin typeface="Calibri" pitchFamily="34" charset="0"/>
                <a:ea typeface="Calibri" pitchFamily="34" charset="-122"/>
                <a:cs typeface="Calibri" pitchFamily="34" charset="-120"/>
              </a:rPr>
              <a:t>y cuánto es simplemente azar?</a:t>
            </a:r>
            <a:endParaRPr lang="en-US" sz="3200" dirty="0"/>
          </a:p>
        </p:txBody>
      </p:sp>
      <p:sp>
        <p:nvSpPr>
          <p:cNvPr id="7" name="Text 5"/>
          <p:cNvSpPr/>
          <p:nvPr/>
        </p:nvSpPr>
        <p:spPr>
          <a:xfrm>
            <a:off x="1280160" y="4023360"/>
            <a:ext cx="9509760" cy="365760"/>
          </a:xfrm>
          <a:prstGeom prst="rect">
            <a:avLst/>
          </a:prstGeom>
          <a:noFill/>
          <a:ln/>
        </p:spPr>
        <p:txBody>
          <a:bodyPr wrap="square" lIns="0" tIns="0" rIns="0" bIns="0" rtlCol="0" anchor="ctr"/>
          <a:lstStyle/>
          <a:p>
            <a:pPr indent="0" marL="0">
              <a:buNone/>
            </a:pPr>
            <a:r>
              <a:rPr lang="en-US" sz="1400" i="1" dirty="0">
                <a:solidFill>
                  <a:srgbClr val="8FA6D4"/>
                </a:solidFill>
                <a:latin typeface="Calibri" pitchFamily="34" charset="0"/>
                <a:ea typeface="Calibri" pitchFamily="34" charset="-122"/>
                <a:cs typeface="Calibri" pitchFamily="34" charset="-120"/>
              </a:rPr>
              <a:t>La conversión subió de 2.1% a 2.4% tras el rediseño. ¿Funcionó el rediseño, o es el ruido de una semana?</a:t>
            </a:r>
            <a:endParaRPr lang="en-US" sz="1400" dirty="0"/>
          </a:p>
        </p:txBody>
      </p:sp>
      <p:sp>
        <p:nvSpPr>
          <p:cNvPr id="8" name="Shape 6"/>
          <p:cNvSpPr/>
          <p:nvPr/>
        </p:nvSpPr>
        <p:spPr>
          <a:xfrm>
            <a:off x="1280160" y="4572000"/>
            <a:ext cx="9601200" cy="1325880"/>
          </a:xfrm>
          <a:prstGeom prst="roundRect">
            <a:avLst>
              <a:gd name="adj" fmla="val 4138"/>
            </a:avLst>
          </a:prstGeom>
          <a:solidFill>
            <a:srgbClr val="DCE6F8"/>
          </a:solidFill>
          <a:ln w="12700">
            <a:solidFill>
              <a:srgbClr val="C3D5F5"/>
            </a:solidFill>
            <a:prstDash val="solid"/>
          </a:ln>
        </p:spPr>
      </p:sp>
      <p:sp>
        <p:nvSpPr>
          <p:cNvPr id="9" name="Shape 7"/>
          <p:cNvSpPr/>
          <p:nvPr/>
        </p:nvSpPr>
        <p:spPr>
          <a:xfrm>
            <a:off x="1517904" y="5175504"/>
            <a:ext cx="118872" cy="118872"/>
          </a:xfrm>
          <a:prstGeom prst="roundRect">
            <a:avLst>
              <a:gd name="adj" fmla="val 30769"/>
            </a:avLst>
          </a:prstGeom>
          <a:solidFill>
            <a:srgbClr val="E6115E"/>
          </a:solidFill>
          <a:ln w="12700">
            <a:solidFill>
              <a:srgbClr val="E6115E"/>
            </a:solidFill>
            <a:prstDash val="solid"/>
          </a:ln>
        </p:spPr>
      </p:sp>
      <p:sp>
        <p:nvSpPr>
          <p:cNvPr id="10" name="Text 8"/>
          <p:cNvSpPr/>
          <p:nvPr/>
        </p:nvSpPr>
        <p:spPr>
          <a:xfrm>
            <a:off x="1755648" y="4572000"/>
            <a:ext cx="8869680" cy="1325880"/>
          </a:xfrm>
          <a:prstGeom prst="rect">
            <a:avLst/>
          </a:prstGeom>
          <a:noFill/>
          <a:ln/>
        </p:spPr>
        <p:txBody>
          <a:bodyPr wrap="square" lIns="0" tIns="0" rIns="0" bIns="0" rtlCol="0" anchor="ctr"/>
          <a:lstStyle/>
          <a:p>
            <a:pPr indent="0" marL="0">
              <a:lnSpc>
                <a:spcPts val="1794"/>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794"/>
              </a:lnSpc>
              <a:buNone/>
            </a:pPr>
            <a:r>
              <a:rPr lang="en-US" sz="1300" dirty="0">
                <a:solidFill>
                  <a:srgbClr val="0A2559"/>
                </a:solidFill>
                <a:latin typeface="Calibri" pitchFamily="34" charset="0"/>
                <a:ea typeface="Calibri" pitchFamily="34" charset="-122"/>
                <a:cs typeface="Calibri" pitchFamily="34" charset="-120"/>
              </a:rPr>
              <a:t>Es el trabajo de un oído entrenado. En una grabación mala, el músico distingue la melodía del ruido de fondo; el resto de nosotros oímos una sola cosa. La estadística es ese entrenamiento, y el ruido nunca desaparece: solo se vuelve medible.</a:t>
            </a:r>
            <a:endParaRPr lang="en-US" sz="1000" dirty="0"/>
          </a:p>
        </p:txBody>
      </p:sp>
      <p:sp>
        <p:nvSpPr>
          <p:cNvPr id="11" name="Text 9"/>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12" name="Text 10"/>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Población y muestra: de dónde sale la incertidumbre</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Nunca observamos la población. Toda conclusión es una apuesta calculada desde una parte</a:t>
            </a:r>
            <a:endParaRPr lang="en-US" sz="1450" dirty="0"/>
          </a:p>
        </p:txBody>
      </p:sp>
      <p:sp>
        <p:nvSpPr>
          <p:cNvPr id="4" name="Shape 2"/>
          <p:cNvSpPr/>
          <p:nvPr/>
        </p:nvSpPr>
        <p:spPr>
          <a:xfrm>
            <a:off x="914400" y="2011680"/>
            <a:ext cx="2560320" cy="2560320"/>
          </a:xfrm>
          <a:prstGeom prst="ellipse">
            <a:avLst/>
          </a:prstGeom>
          <a:solidFill>
            <a:srgbClr val="DCE6F8"/>
          </a:solidFill>
          <a:ln w="25400">
            <a:solidFill>
              <a:srgbClr val="1A56E8"/>
            </a:solidFill>
            <a:prstDash val="solid"/>
          </a:ln>
        </p:spPr>
      </p:sp>
      <p:sp>
        <p:nvSpPr>
          <p:cNvPr id="5" name="Text 3"/>
          <p:cNvSpPr/>
          <p:nvPr/>
        </p:nvSpPr>
        <p:spPr>
          <a:xfrm>
            <a:off x="1188720" y="2487168"/>
            <a:ext cx="2011680" cy="274320"/>
          </a:xfrm>
          <a:prstGeom prst="rect">
            <a:avLst/>
          </a:prstGeom>
          <a:noFill/>
          <a:ln/>
        </p:spPr>
        <p:txBody>
          <a:bodyPr wrap="square" lIns="0" tIns="0" rIns="0" bIns="0" rtlCol="0" anchor="ctr"/>
          <a:lstStyle/>
          <a:p>
            <a:pPr algn="ctr" indent="0" marL="0">
              <a:buNone/>
            </a:pPr>
            <a:r>
              <a:rPr lang="en-US" sz="1150" b="1" spc="130" kern="0" dirty="0">
                <a:solidFill>
                  <a:srgbClr val="1A56E8"/>
                </a:solidFill>
                <a:latin typeface="Calibri" pitchFamily="34" charset="0"/>
                <a:ea typeface="Calibri" pitchFamily="34" charset="-122"/>
                <a:cs typeface="Calibri" pitchFamily="34" charset="-120"/>
              </a:rPr>
              <a:t>POBLACIÓN</a:t>
            </a:r>
            <a:endParaRPr lang="en-US" sz="1150" dirty="0"/>
          </a:p>
        </p:txBody>
      </p:sp>
      <p:sp>
        <p:nvSpPr>
          <p:cNvPr id="6" name="Text 4"/>
          <p:cNvSpPr/>
          <p:nvPr/>
        </p:nvSpPr>
        <p:spPr>
          <a:xfrm>
            <a:off x="1188720" y="2788920"/>
            <a:ext cx="2011680" cy="548640"/>
          </a:xfrm>
          <a:prstGeom prst="rect">
            <a:avLst/>
          </a:prstGeom>
          <a:noFill/>
          <a:ln/>
        </p:spPr>
        <p:txBody>
          <a:bodyPr wrap="square" lIns="0" tIns="0" rIns="0" bIns="0" rtlCol="0" anchor="ctr"/>
          <a:lstStyle/>
          <a:p>
            <a:pPr algn="ctr" indent="0" marL="0">
              <a:lnSpc>
                <a:spcPts val="1500"/>
              </a:lnSpc>
              <a:buNone/>
            </a:pPr>
            <a:r>
              <a:rPr lang="en-US" sz="1150" dirty="0">
                <a:solidFill>
                  <a:srgbClr val="2C3A55"/>
                </a:solidFill>
                <a:latin typeface="Calibri" pitchFamily="34" charset="0"/>
                <a:ea typeface="Calibri" pitchFamily="34" charset="-122"/>
                <a:cs typeface="Calibri" pitchFamily="34" charset="-120"/>
              </a:rPr>
              <a:t>Todos los usuarios</a:t>
            </a:r>
            <a:endParaRPr lang="en-US" sz="1150" dirty="0"/>
          </a:p>
          <a:p>
            <a:pPr algn="ctr" indent="0" marL="0">
              <a:lnSpc>
                <a:spcPts val="1500"/>
              </a:lnSpc>
              <a:buNone/>
            </a:pPr>
            <a:r>
              <a:rPr lang="en-US" sz="1150" dirty="0">
                <a:solidFill>
                  <a:srgbClr val="2C3A55"/>
                </a:solidFill>
                <a:latin typeface="Calibri" pitchFamily="34" charset="0"/>
                <a:ea typeface="Calibri" pitchFamily="34" charset="-122"/>
                <a:cs typeface="Calibri" pitchFamily="34" charset="-120"/>
              </a:rPr>
              <a:t>que existirán</a:t>
            </a:r>
            <a:endParaRPr lang="en-US" sz="1150" dirty="0"/>
          </a:p>
        </p:txBody>
      </p:sp>
      <p:sp>
        <p:nvSpPr>
          <p:cNvPr id="7" name="Text 5"/>
          <p:cNvSpPr/>
          <p:nvPr/>
        </p:nvSpPr>
        <p:spPr>
          <a:xfrm>
            <a:off x="1188720" y="3364992"/>
            <a:ext cx="2011680" cy="320040"/>
          </a:xfrm>
          <a:prstGeom prst="rect">
            <a:avLst/>
          </a:prstGeom>
          <a:noFill/>
          <a:ln/>
        </p:spPr>
        <p:txBody>
          <a:bodyPr wrap="square" lIns="0" tIns="0" rIns="0" bIns="0" rtlCol="0" anchor="ctr"/>
          <a:lstStyle/>
          <a:p>
            <a:pPr algn="ctr" indent="0" marL="0">
              <a:buNone/>
            </a:pPr>
            <a:r>
              <a:rPr lang="en-US" sz="1500" b="1" dirty="0">
                <a:solidFill>
                  <a:srgbClr val="0A2559"/>
                </a:solidFill>
                <a:latin typeface="Calibri" pitchFamily="34" charset="0"/>
                <a:ea typeface="Calibri" pitchFamily="34" charset="-122"/>
                <a:cs typeface="Calibri" pitchFamily="34" charset="-120"/>
              </a:rPr>
              <a:t>μ, σ, p</a:t>
            </a:r>
            <a:endParaRPr lang="en-US" sz="1500" dirty="0"/>
          </a:p>
        </p:txBody>
      </p:sp>
      <p:sp>
        <p:nvSpPr>
          <p:cNvPr id="8" name="Text 6"/>
          <p:cNvSpPr/>
          <p:nvPr/>
        </p:nvSpPr>
        <p:spPr>
          <a:xfrm>
            <a:off x="1188720" y="3685032"/>
            <a:ext cx="2011680" cy="274320"/>
          </a:xfrm>
          <a:prstGeom prst="rect">
            <a:avLst/>
          </a:prstGeom>
          <a:noFill/>
          <a:ln/>
        </p:spPr>
        <p:txBody>
          <a:bodyPr wrap="square" lIns="0" tIns="0" rIns="0" bIns="0" rtlCol="0" anchor="ctr"/>
          <a:lstStyle/>
          <a:p>
            <a:pPr algn="ctr" indent="0" marL="0">
              <a:buNone/>
            </a:pPr>
            <a:r>
              <a:rPr lang="en-US" sz="1050" i="1" dirty="0">
                <a:solidFill>
                  <a:srgbClr val="5B6B87"/>
                </a:solidFill>
                <a:latin typeface="Calibri" pitchFamily="34" charset="0"/>
                <a:ea typeface="Calibri" pitchFamily="34" charset="-122"/>
                <a:cs typeface="Calibri" pitchFamily="34" charset="-120"/>
              </a:rPr>
              <a:t>desconocidos y fijos</a:t>
            </a:r>
            <a:endParaRPr lang="en-US" sz="1050" dirty="0"/>
          </a:p>
        </p:txBody>
      </p:sp>
      <p:sp>
        <p:nvSpPr>
          <p:cNvPr id="9" name="Shape 7"/>
          <p:cNvSpPr/>
          <p:nvPr/>
        </p:nvSpPr>
        <p:spPr>
          <a:xfrm>
            <a:off x="3703320" y="3017520"/>
            <a:ext cx="2011680" cy="0"/>
          </a:xfrm>
          <a:prstGeom prst="line">
            <a:avLst/>
          </a:prstGeom>
          <a:noFill/>
          <a:ln w="31750">
            <a:solidFill>
              <a:srgbClr val="1A56E8"/>
            </a:solidFill>
            <a:prstDash val="solid"/>
            <a:tailEnd type="triangle"/>
          </a:ln>
        </p:spPr>
      </p:sp>
      <p:sp>
        <p:nvSpPr>
          <p:cNvPr id="10" name="Text 8"/>
          <p:cNvSpPr/>
          <p:nvPr/>
        </p:nvSpPr>
        <p:spPr>
          <a:xfrm>
            <a:off x="3703320" y="2697480"/>
            <a:ext cx="2011680" cy="274320"/>
          </a:xfrm>
          <a:prstGeom prst="rect">
            <a:avLst/>
          </a:prstGeom>
          <a:noFill/>
          <a:ln/>
        </p:spPr>
        <p:txBody>
          <a:bodyPr wrap="square" lIns="0" tIns="0" rIns="0" bIns="0" rtlCol="0" anchor="ctr"/>
          <a:lstStyle/>
          <a:p>
            <a:pPr algn="ctr" indent="0" marL="0">
              <a:buNone/>
            </a:pPr>
            <a:r>
              <a:rPr lang="en-US" sz="1050" b="1" spc="100" kern="0" dirty="0">
                <a:solidFill>
                  <a:srgbClr val="1A56E8"/>
                </a:solidFill>
                <a:latin typeface="Calibri" pitchFamily="34" charset="0"/>
                <a:ea typeface="Calibri" pitchFamily="34" charset="-122"/>
                <a:cs typeface="Calibri" pitchFamily="34" charset="-120"/>
              </a:rPr>
              <a:t>MUESTREO</a:t>
            </a:r>
            <a:endParaRPr lang="en-US" sz="1050" dirty="0"/>
          </a:p>
        </p:txBody>
      </p:sp>
      <p:sp>
        <p:nvSpPr>
          <p:cNvPr id="11" name="Shape 9"/>
          <p:cNvSpPr/>
          <p:nvPr/>
        </p:nvSpPr>
        <p:spPr>
          <a:xfrm>
            <a:off x="3703320" y="3931920"/>
            <a:ext cx="2011680" cy="0"/>
          </a:xfrm>
          <a:prstGeom prst="line">
            <a:avLst/>
          </a:prstGeom>
          <a:noFill/>
          <a:ln w="31750">
            <a:solidFill>
              <a:srgbClr val="E6115E"/>
            </a:solidFill>
            <a:prstDash val="solid"/>
            <a:headEnd type="triangle"/>
          </a:ln>
        </p:spPr>
      </p:sp>
      <p:sp>
        <p:nvSpPr>
          <p:cNvPr id="12" name="Text 10"/>
          <p:cNvSpPr/>
          <p:nvPr/>
        </p:nvSpPr>
        <p:spPr>
          <a:xfrm>
            <a:off x="3703320" y="4005072"/>
            <a:ext cx="2011680" cy="274320"/>
          </a:xfrm>
          <a:prstGeom prst="rect">
            <a:avLst/>
          </a:prstGeom>
          <a:noFill/>
          <a:ln/>
        </p:spPr>
        <p:txBody>
          <a:bodyPr wrap="square" lIns="0" tIns="0" rIns="0" bIns="0" rtlCol="0" anchor="ctr"/>
          <a:lstStyle/>
          <a:p>
            <a:pPr algn="ctr" indent="0" marL="0">
              <a:buNone/>
            </a:pPr>
            <a:r>
              <a:rPr lang="en-US" sz="1050" b="1" spc="100" kern="0" dirty="0">
                <a:solidFill>
                  <a:srgbClr val="E6115E"/>
                </a:solidFill>
                <a:latin typeface="Calibri" pitchFamily="34" charset="0"/>
                <a:ea typeface="Calibri" pitchFamily="34" charset="-122"/>
                <a:cs typeface="Calibri" pitchFamily="34" charset="-120"/>
              </a:rPr>
              <a:t>INFERENCIA</a:t>
            </a:r>
            <a:endParaRPr lang="en-US" sz="1050" dirty="0"/>
          </a:p>
        </p:txBody>
      </p:sp>
      <p:sp>
        <p:nvSpPr>
          <p:cNvPr id="13" name="Shape 11"/>
          <p:cNvSpPr/>
          <p:nvPr/>
        </p:nvSpPr>
        <p:spPr>
          <a:xfrm>
            <a:off x="5943600" y="2606040"/>
            <a:ext cx="1463040" cy="1463040"/>
          </a:xfrm>
          <a:prstGeom prst="ellipse">
            <a:avLst/>
          </a:prstGeom>
          <a:solidFill>
            <a:srgbClr val="FBDCE8"/>
          </a:solidFill>
          <a:ln w="25400">
            <a:solidFill>
              <a:srgbClr val="E6115E"/>
            </a:solidFill>
            <a:prstDash val="solid"/>
          </a:ln>
        </p:spPr>
      </p:sp>
      <p:sp>
        <p:nvSpPr>
          <p:cNvPr id="14" name="Text 12"/>
          <p:cNvSpPr/>
          <p:nvPr/>
        </p:nvSpPr>
        <p:spPr>
          <a:xfrm>
            <a:off x="5989320" y="2852928"/>
            <a:ext cx="1371600" cy="256032"/>
          </a:xfrm>
          <a:prstGeom prst="rect">
            <a:avLst/>
          </a:prstGeom>
          <a:noFill/>
          <a:ln/>
        </p:spPr>
        <p:txBody>
          <a:bodyPr wrap="square" lIns="0" tIns="0" rIns="0" bIns="0" rtlCol="0" anchor="ctr"/>
          <a:lstStyle/>
          <a:p>
            <a:pPr algn="ctr" indent="0" marL="0">
              <a:buNone/>
            </a:pPr>
            <a:r>
              <a:rPr lang="en-US" sz="1000" b="1" spc="100" kern="0" dirty="0">
                <a:solidFill>
                  <a:srgbClr val="E6115E"/>
                </a:solidFill>
                <a:latin typeface="Calibri" pitchFamily="34" charset="0"/>
                <a:ea typeface="Calibri" pitchFamily="34" charset="-122"/>
                <a:cs typeface="Calibri" pitchFamily="34" charset="-120"/>
              </a:rPr>
              <a:t>MUESTRA</a:t>
            </a:r>
            <a:endParaRPr lang="en-US" sz="1000" dirty="0"/>
          </a:p>
        </p:txBody>
      </p:sp>
      <p:sp>
        <p:nvSpPr>
          <p:cNvPr id="15" name="Text 13"/>
          <p:cNvSpPr/>
          <p:nvPr/>
        </p:nvSpPr>
        <p:spPr>
          <a:xfrm>
            <a:off x="5989320" y="3108960"/>
            <a:ext cx="1371600" cy="256032"/>
          </a:xfrm>
          <a:prstGeom prst="rect">
            <a:avLst/>
          </a:prstGeom>
          <a:noFill/>
          <a:ln/>
        </p:spPr>
        <p:txBody>
          <a:bodyPr wrap="square" lIns="0" tIns="0" rIns="0" bIns="0" rtlCol="0" anchor="ctr"/>
          <a:lstStyle/>
          <a:p>
            <a:pPr algn="ctr" indent="0" marL="0">
              <a:buNone/>
            </a:pPr>
            <a:r>
              <a:rPr lang="en-US" sz="1100" dirty="0">
                <a:solidFill>
                  <a:srgbClr val="2C3A55"/>
                </a:solidFill>
                <a:latin typeface="Calibri" pitchFamily="34" charset="0"/>
                <a:ea typeface="Calibri" pitchFamily="34" charset="-122"/>
                <a:cs typeface="Calibri" pitchFamily="34" charset="-120"/>
              </a:rPr>
              <a:t>n = 1,200</a:t>
            </a:r>
            <a:endParaRPr lang="en-US" sz="1100" dirty="0"/>
          </a:p>
        </p:txBody>
      </p:sp>
      <p:sp>
        <p:nvSpPr>
          <p:cNvPr id="16" name="Text 14"/>
          <p:cNvSpPr/>
          <p:nvPr/>
        </p:nvSpPr>
        <p:spPr>
          <a:xfrm>
            <a:off x="5989320" y="3364992"/>
            <a:ext cx="1371600" cy="320040"/>
          </a:xfrm>
          <a:prstGeom prst="rect">
            <a:avLst/>
          </a:prstGeom>
          <a:noFill/>
          <a:ln/>
        </p:spPr>
        <p:txBody>
          <a:bodyPr wrap="square" lIns="0" tIns="0" rIns="0" bIns="0" rtlCol="0" anchor="ctr"/>
          <a:lstStyle/>
          <a:p>
            <a:pPr algn="ctr" indent="0" marL="0">
              <a:buNone/>
            </a:pPr>
            <a:r>
              <a:rPr lang="en-US" sz="1350" b="1" dirty="0">
                <a:solidFill>
                  <a:srgbClr val="0A2559"/>
                </a:solidFill>
                <a:latin typeface="Calibri" pitchFamily="34" charset="0"/>
                <a:ea typeface="Calibri" pitchFamily="34" charset="-122"/>
                <a:cs typeface="Calibri" pitchFamily="34" charset="-120"/>
              </a:rPr>
              <a:t>x̄, s, p̂</a:t>
            </a:r>
            <a:endParaRPr lang="en-US" sz="1350" dirty="0"/>
          </a:p>
        </p:txBody>
      </p:sp>
      <p:sp>
        <p:nvSpPr>
          <p:cNvPr id="17" name="Shape 15"/>
          <p:cNvSpPr/>
          <p:nvPr/>
        </p:nvSpPr>
        <p:spPr>
          <a:xfrm>
            <a:off x="7772400" y="2011680"/>
            <a:ext cx="3840480" cy="2560320"/>
          </a:xfrm>
          <a:prstGeom prst="roundRect">
            <a:avLst>
              <a:gd name="adj" fmla="val 2143"/>
            </a:avLst>
          </a:prstGeom>
          <a:solidFill>
            <a:srgbClr val="0A2559"/>
          </a:solidFill>
          <a:ln w="12700">
            <a:solidFill>
              <a:srgbClr val="0A2559"/>
            </a:solidFill>
            <a:prstDash val="solid"/>
          </a:ln>
        </p:spPr>
      </p:sp>
      <p:sp>
        <p:nvSpPr>
          <p:cNvPr id="18" name="Text 16"/>
          <p:cNvSpPr/>
          <p:nvPr/>
        </p:nvSpPr>
        <p:spPr>
          <a:xfrm>
            <a:off x="8001000" y="2514600"/>
            <a:ext cx="3383280" cy="731520"/>
          </a:xfrm>
          <a:prstGeom prst="rect">
            <a:avLst/>
          </a:prstGeom>
          <a:noFill/>
          <a:ln/>
        </p:spPr>
        <p:txBody>
          <a:bodyPr wrap="square" lIns="0" tIns="0" rIns="0" bIns="0" rtlCol="0" anchor="ctr"/>
          <a:lstStyle/>
          <a:p>
            <a:pPr algn="ctr" indent="0" marL="0">
              <a:lnSpc>
                <a:spcPts val="2400"/>
              </a:lnSpc>
              <a:buNone/>
            </a:pPr>
            <a:r>
              <a:rPr lang="en-US" sz="1700" b="1" dirty="0">
                <a:solidFill>
                  <a:srgbClr val="FFFFFF"/>
                </a:solidFill>
                <a:latin typeface="Calibri" pitchFamily="34" charset="0"/>
                <a:ea typeface="Calibri" pitchFamily="34" charset="-122"/>
                <a:cs typeface="Calibri" pitchFamily="34" charset="-120"/>
              </a:rPr>
              <a:t>Todo el curso vive</a:t>
            </a:r>
            <a:endParaRPr lang="en-US" sz="1700" dirty="0"/>
          </a:p>
          <a:p>
            <a:pPr algn="ctr" indent="0" marL="0">
              <a:lnSpc>
                <a:spcPts val="2400"/>
              </a:lnSpc>
              <a:buNone/>
            </a:pPr>
            <a:r>
              <a:rPr lang="en-US" sz="1700" b="1" dirty="0">
                <a:solidFill>
                  <a:srgbClr val="FFFFFF"/>
                </a:solidFill>
                <a:latin typeface="Calibri" pitchFamily="34" charset="0"/>
                <a:ea typeface="Calibri" pitchFamily="34" charset="-122"/>
                <a:cs typeface="Calibri" pitchFamily="34" charset="-120"/>
              </a:rPr>
              <a:t>en esa flecha rosa</a:t>
            </a:r>
            <a:endParaRPr lang="en-US" sz="1700" dirty="0"/>
          </a:p>
        </p:txBody>
      </p:sp>
      <p:sp>
        <p:nvSpPr>
          <p:cNvPr id="19" name="Text 17"/>
          <p:cNvSpPr/>
          <p:nvPr/>
        </p:nvSpPr>
        <p:spPr>
          <a:xfrm>
            <a:off x="8001000" y="3383280"/>
            <a:ext cx="3383280" cy="1005840"/>
          </a:xfrm>
          <a:prstGeom prst="rect">
            <a:avLst/>
          </a:prstGeom>
          <a:noFill/>
          <a:ln/>
        </p:spPr>
        <p:txBody>
          <a:bodyPr wrap="square" lIns="0" tIns="0" rIns="0" bIns="0" rtlCol="0" anchor="ctr"/>
          <a:lstStyle/>
          <a:p>
            <a:pPr algn="ctr" indent="0" marL="0">
              <a:lnSpc>
                <a:spcPts val="1600"/>
              </a:lnSpc>
              <a:buNone/>
            </a:pPr>
            <a:r>
              <a:rPr lang="en-US" sz="1200" dirty="0">
                <a:solidFill>
                  <a:srgbClr val="B9C9E8"/>
                </a:solidFill>
                <a:latin typeface="Calibri" pitchFamily="34" charset="0"/>
                <a:ea typeface="Calibri" pitchFamily="34" charset="-122"/>
                <a:cs typeface="Calibri" pitchFamily="34" charset="-120"/>
              </a:rPr>
              <a:t>El parámetro no es aleatorio: es fijo y desconocido. Lo aleatorio es la muestra — y por eso el estadístico cambia cada vez que muestreas.</a:t>
            </a:r>
            <a:endParaRPr lang="en-US" sz="1200" dirty="0"/>
          </a:p>
        </p:txBody>
      </p:sp>
      <p:sp>
        <p:nvSpPr>
          <p:cNvPr id="20" name="Shape 18"/>
          <p:cNvSpPr/>
          <p:nvPr/>
        </p:nvSpPr>
        <p:spPr>
          <a:xfrm>
            <a:off x="548640" y="4800600"/>
            <a:ext cx="11064240" cy="1143000"/>
          </a:xfrm>
          <a:prstGeom prst="roundRect">
            <a:avLst>
              <a:gd name="adj" fmla="val 4800"/>
            </a:avLst>
          </a:prstGeom>
          <a:solidFill>
            <a:srgbClr val="DCE6F8"/>
          </a:solidFill>
          <a:ln w="12700">
            <a:solidFill>
              <a:srgbClr val="C3D5F5"/>
            </a:solidFill>
            <a:prstDash val="solid"/>
          </a:ln>
        </p:spPr>
      </p:sp>
      <p:sp>
        <p:nvSpPr>
          <p:cNvPr id="21" name="Shape 19"/>
          <p:cNvSpPr/>
          <p:nvPr/>
        </p:nvSpPr>
        <p:spPr>
          <a:xfrm>
            <a:off x="786384" y="5312664"/>
            <a:ext cx="118872" cy="118872"/>
          </a:xfrm>
          <a:prstGeom prst="roundRect">
            <a:avLst>
              <a:gd name="adj" fmla="val 30769"/>
            </a:avLst>
          </a:prstGeom>
          <a:solidFill>
            <a:srgbClr val="E6115E"/>
          </a:solidFill>
          <a:ln w="12700">
            <a:solidFill>
              <a:srgbClr val="E6115E"/>
            </a:solidFill>
            <a:prstDash val="solid"/>
          </a:ln>
        </p:spPr>
      </p:sp>
      <p:sp>
        <p:nvSpPr>
          <p:cNvPr id="22" name="Text 20"/>
          <p:cNvSpPr/>
          <p:nvPr/>
        </p:nvSpPr>
        <p:spPr>
          <a:xfrm>
            <a:off x="1024128" y="4800600"/>
            <a:ext cx="10332720" cy="1143000"/>
          </a:xfrm>
          <a:prstGeom prst="rect">
            <a:avLst/>
          </a:prstGeom>
          <a:noFill/>
          <a:ln/>
        </p:spPr>
        <p:txBody>
          <a:bodyPr wrap="square" lIns="0" tIns="0" rIns="0" bIns="0" rtlCol="0" anchor="ctr"/>
          <a:lstStyle/>
          <a:p>
            <a:pPr indent="0" marL="0">
              <a:lnSpc>
                <a:spcPts val="1725"/>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725"/>
              </a:lnSpc>
              <a:buNone/>
            </a:pPr>
            <a:r>
              <a:rPr lang="en-US" sz="1250" dirty="0">
                <a:solidFill>
                  <a:srgbClr val="0A2559"/>
                </a:solidFill>
                <a:latin typeface="Calibri" pitchFamily="34" charset="0"/>
                <a:ea typeface="Calibri" pitchFamily="34" charset="-122"/>
                <a:cs typeface="Calibri" pitchFamily="34" charset="-120"/>
              </a:rPr>
              <a:t>El análisis de sangre. El laboratorio extrae 5 ml para juzgar 5 litros, y el diagnóstico sirve. Pero solo si la muestra es representativa: si le sacan sangre únicamente del dedo lastimado, el resultado no dice nada del cuerpo. El tamaño de la muestra importa; cómo la eligieron, más.</a:t>
            </a:r>
            <a:endParaRPr lang="en-US" sz="1000" dirty="0"/>
          </a:p>
        </p:txBody>
      </p:sp>
      <p:sp>
        <p:nvSpPr>
          <p:cNvPr id="23" name="Text 21"/>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2"/>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Notación: la mitad de los errores vienen de aquí</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Griega = población (no la conoces). Latina o con gorro = muestra (la calculas)</a:t>
            </a:r>
            <a:endParaRPr lang="en-US" sz="1450" dirty="0"/>
          </a:p>
        </p:txBody>
      </p:sp>
      <p:sp>
        <p:nvSpPr>
          <p:cNvPr id="4" name="Shape 2"/>
          <p:cNvSpPr/>
          <p:nvPr/>
        </p:nvSpPr>
        <p:spPr>
          <a:xfrm>
            <a:off x="548640" y="1965960"/>
            <a:ext cx="11064240" cy="502920"/>
          </a:xfrm>
          <a:prstGeom prst="roundRect">
            <a:avLst>
              <a:gd name="adj" fmla="val 10909"/>
            </a:avLst>
          </a:prstGeom>
          <a:solidFill>
            <a:srgbClr val="0A2559"/>
          </a:solidFill>
          <a:ln w="12700">
            <a:solidFill>
              <a:srgbClr val="0A2559"/>
            </a:solidFill>
            <a:prstDash val="solid"/>
          </a:ln>
        </p:spPr>
      </p:sp>
      <p:sp>
        <p:nvSpPr>
          <p:cNvPr id="5" name="Text 3"/>
          <p:cNvSpPr/>
          <p:nvPr/>
        </p:nvSpPr>
        <p:spPr>
          <a:xfrm>
            <a:off x="822960" y="1965960"/>
            <a:ext cx="23774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Concepto</a:t>
            </a:r>
            <a:endParaRPr lang="en-US" sz="1300" dirty="0"/>
          </a:p>
        </p:txBody>
      </p:sp>
      <p:sp>
        <p:nvSpPr>
          <p:cNvPr id="6" name="Text 4"/>
          <p:cNvSpPr/>
          <p:nvPr/>
        </p:nvSpPr>
        <p:spPr>
          <a:xfrm>
            <a:off x="3291840" y="1965960"/>
            <a:ext cx="182880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Parámetro</a:t>
            </a:r>
            <a:endParaRPr lang="en-US" sz="1300" dirty="0"/>
          </a:p>
        </p:txBody>
      </p:sp>
      <p:sp>
        <p:nvSpPr>
          <p:cNvPr id="7" name="Text 5"/>
          <p:cNvSpPr/>
          <p:nvPr/>
        </p:nvSpPr>
        <p:spPr>
          <a:xfrm>
            <a:off x="5303520" y="1965960"/>
            <a:ext cx="182880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Estadístico</a:t>
            </a:r>
            <a:endParaRPr lang="en-US" sz="1300" dirty="0"/>
          </a:p>
        </p:txBody>
      </p:sp>
      <p:sp>
        <p:nvSpPr>
          <p:cNvPr id="8" name="Text 6"/>
          <p:cNvSpPr/>
          <p:nvPr/>
        </p:nvSpPr>
        <p:spPr>
          <a:xfrm>
            <a:off x="7315200" y="1965960"/>
            <a:ext cx="402336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Ejemplo de negocio</a:t>
            </a:r>
            <a:endParaRPr lang="en-US" sz="1300" dirty="0"/>
          </a:p>
        </p:txBody>
      </p:sp>
      <p:sp>
        <p:nvSpPr>
          <p:cNvPr id="9" name="Shape 7"/>
          <p:cNvSpPr/>
          <p:nvPr/>
        </p:nvSpPr>
        <p:spPr>
          <a:xfrm>
            <a:off x="548640" y="2560320"/>
            <a:ext cx="11064240" cy="512064"/>
          </a:xfrm>
          <a:prstGeom prst="roundRect">
            <a:avLst>
              <a:gd name="adj" fmla="val 10714"/>
            </a:avLst>
          </a:prstGeom>
          <a:solidFill>
            <a:srgbClr val="EDF1F9"/>
          </a:solidFill>
          <a:ln w="12700">
            <a:solidFill>
              <a:srgbClr val="EDF1F9"/>
            </a:solidFill>
            <a:prstDash val="solid"/>
          </a:ln>
        </p:spPr>
      </p:sp>
      <p:sp>
        <p:nvSpPr>
          <p:cNvPr id="10" name="Text 8"/>
          <p:cNvSpPr/>
          <p:nvPr/>
        </p:nvSpPr>
        <p:spPr>
          <a:xfrm>
            <a:off x="822960" y="2560320"/>
            <a:ext cx="2377440" cy="512064"/>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Media</a:t>
            </a:r>
            <a:endParaRPr lang="en-US" sz="1300" dirty="0"/>
          </a:p>
        </p:txBody>
      </p:sp>
      <p:sp>
        <p:nvSpPr>
          <p:cNvPr id="11" name="Text 9"/>
          <p:cNvSpPr/>
          <p:nvPr/>
        </p:nvSpPr>
        <p:spPr>
          <a:xfrm>
            <a:off x="3291840" y="2560320"/>
            <a:ext cx="1828800" cy="512064"/>
          </a:xfrm>
          <a:prstGeom prst="rect">
            <a:avLst/>
          </a:prstGeom>
          <a:noFill/>
          <a:ln/>
        </p:spPr>
        <p:txBody>
          <a:bodyPr wrap="square" lIns="0" tIns="0" rIns="0" bIns="0" rtlCol="0" anchor="ctr"/>
          <a:lstStyle/>
          <a:p>
            <a:pPr indent="0" marL="0">
              <a:buNone/>
            </a:pPr>
            <a:r>
              <a:rPr lang="en-US" sz="1550" b="1" dirty="0">
                <a:solidFill>
                  <a:srgbClr val="1A56E8"/>
                </a:solidFill>
                <a:latin typeface="Calibri" pitchFamily="34" charset="0"/>
                <a:ea typeface="Calibri" pitchFamily="34" charset="-122"/>
                <a:cs typeface="Calibri" pitchFamily="34" charset="-120"/>
              </a:rPr>
              <a:t>μ</a:t>
            </a:r>
            <a:endParaRPr lang="en-US" sz="1550" dirty="0"/>
          </a:p>
        </p:txBody>
      </p:sp>
      <p:sp>
        <p:nvSpPr>
          <p:cNvPr id="12" name="Text 10"/>
          <p:cNvSpPr/>
          <p:nvPr/>
        </p:nvSpPr>
        <p:spPr>
          <a:xfrm>
            <a:off x="5303520" y="2560320"/>
            <a:ext cx="1828800" cy="512064"/>
          </a:xfrm>
          <a:prstGeom prst="rect">
            <a:avLst/>
          </a:prstGeom>
          <a:noFill/>
          <a:ln/>
        </p:spPr>
        <p:txBody>
          <a:bodyPr wrap="square" lIns="0" tIns="0" rIns="0" bIns="0" rtlCol="0" anchor="ctr"/>
          <a:lstStyle/>
          <a:p>
            <a:pPr indent="0" marL="0">
              <a:buNone/>
            </a:pPr>
            <a:r>
              <a:rPr lang="en-US" sz="1550" b="1" dirty="0">
                <a:solidFill>
                  <a:srgbClr val="E6115E"/>
                </a:solidFill>
                <a:latin typeface="Calibri" pitchFamily="34" charset="0"/>
                <a:ea typeface="Calibri" pitchFamily="34" charset="-122"/>
                <a:cs typeface="Calibri" pitchFamily="34" charset="-120"/>
              </a:rPr>
              <a:t>x̄</a:t>
            </a:r>
            <a:endParaRPr lang="en-US" sz="1550" dirty="0"/>
          </a:p>
        </p:txBody>
      </p:sp>
      <p:sp>
        <p:nvSpPr>
          <p:cNvPr id="13" name="Text 11"/>
          <p:cNvSpPr/>
          <p:nvPr/>
        </p:nvSpPr>
        <p:spPr>
          <a:xfrm>
            <a:off x="7315200" y="2560320"/>
            <a:ext cx="4023360" cy="512064"/>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Ingreso promedio por usuario</a:t>
            </a:r>
            <a:endParaRPr lang="en-US" sz="1200" dirty="0"/>
          </a:p>
        </p:txBody>
      </p:sp>
      <p:sp>
        <p:nvSpPr>
          <p:cNvPr id="14" name="Text 12"/>
          <p:cNvSpPr/>
          <p:nvPr/>
        </p:nvSpPr>
        <p:spPr>
          <a:xfrm>
            <a:off x="822960" y="3127248"/>
            <a:ext cx="2377440" cy="512064"/>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Desviación</a:t>
            </a:r>
            <a:endParaRPr lang="en-US" sz="1300" dirty="0"/>
          </a:p>
        </p:txBody>
      </p:sp>
      <p:sp>
        <p:nvSpPr>
          <p:cNvPr id="15" name="Text 13"/>
          <p:cNvSpPr/>
          <p:nvPr/>
        </p:nvSpPr>
        <p:spPr>
          <a:xfrm>
            <a:off x="3291840" y="3127248"/>
            <a:ext cx="1828800" cy="512064"/>
          </a:xfrm>
          <a:prstGeom prst="rect">
            <a:avLst/>
          </a:prstGeom>
          <a:noFill/>
          <a:ln/>
        </p:spPr>
        <p:txBody>
          <a:bodyPr wrap="square" lIns="0" tIns="0" rIns="0" bIns="0" rtlCol="0" anchor="ctr"/>
          <a:lstStyle/>
          <a:p>
            <a:pPr indent="0" marL="0">
              <a:buNone/>
            </a:pPr>
            <a:r>
              <a:rPr lang="en-US" sz="1550" b="1" dirty="0">
                <a:solidFill>
                  <a:srgbClr val="1A56E8"/>
                </a:solidFill>
                <a:latin typeface="Calibri" pitchFamily="34" charset="0"/>
                <a:ea typeface="Calibri" pitchFamily="34" charset="-122"/>
                <a:cs typeface="Calibri" pitchFamily="34" charset="-120"/>
              </a:rPr>
              <a:t>σ</a:t>
            </a:r>
            <a:endParaRPr lang="en-US" sz="1550" dirty="0"/>
          </a:p>
        </p:txBody>
      </p:sp>
      <p:sp>
        <p:nvSpPr>
          <p:cNvPr id="16" name="Text 14"/>
          <p:cNvSpPr/>
          <p:nvPr/>
        </p:nvSpPr>
        <p:spPr>
          <a:xfrm>
            <a:off x="5303520" y="3127248"/>
            <a:ext cx="1828800" cy="512064"/>
          </a:xfrm>
          <a:prstGeom prst="rect">
            <a:avLst/>
          </a:prstGeom>
          <a:noFill/>
          <a:ln/>
        </p:spPr>
        <p:txBody>
          <a:bodyPr wrap="square" lIns="0" tIns="0" rIns="0" bIns="0" rtlCol="0" anchor="ctr"/>
          <a:lstStyle/>
          <a:p>
            <a:pPr indent="0" marL="0">
              <a:buNone/>
            </a:pPr>
            <a:r>
              <a:rPr lang="en-US" sz="1550" b="1" dirty="0">
                <a:solidFill>
                  <a:srgbClr val="E6115E"/>
                </a:solidFill>
                <a:latin typeface="Calibri" pitchFamily="34" charset="0"/>
                <a:ea typeface="Calibri" pitchFamily="34" charset="-122"/>
                <a:cs typeface="Calibri" pitchFamily="34" charset="-120"/>
              </a:rPr>
              <a:t>s</a:t>
            </a:r>
            <a:endParaRPr lang="en-US" sz="1550" dirty="0"/>
          </a:p>
        </p:txBody>
      </p:sp>
      <p:sp>
        <p:nvSpPr>
          <p:cNvPr id="17" name="Text 15"/>
          <p:cNvSpPr/>
          <p:nvPr/>
        </p:nvSpPr>
        <p:spPr>
          <a:xfrm>
            <a:off x="7315200" y="3127248"/>
            <a:ext cx="4023360" cy="512064"/>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Volatilidad del ticket de compra</a:t>
            </a:r>
            <a:endParaRPr lang="en-US" sz="1200" dirty="0"/>
          </a:p>
        </p:txBody>
      </p:sp>
      <p:sp>
        <p:nvSpPr>
          <p:cNvPr id="18" name="Shape 16"/>
          <p:cNvSpPr/>
          <p:nvPr/>
        </p:nvSpPr>
        <p:spPr>
          <a:xfrm>
            <a:off x="548640" y="3694176"/>
            <a:ext cx="11064240" cy="512064"/>
          </a:xfrm>
          <a:prstGeom prst="roundRect">
            <a:avLst>
              <a:gd name="adj" fmla="val 10714"/>
            </a:avLst>
          </a:prstGeom>
          <a:solidFill>
            <a:srgbClr val="EDF1F9"/>
          </a:solidFill>
          <a:ln w="12700">
            <a:solidFill>
              <a:srgbClr val="EDF1F9"/>
            </a:solidFill>
            <a:prstDash val="solid"/>
          </a:ln>
        </p:spPr>
      </p:sp>
      <p:sp>
        <p:nvSpPr>
          <p:cNvPr id="19" name="Text 17"/>
          <p:cNvSpPr/>
          <p:nvPr/>
        </p:nvSpPr>
        <p:spPr>
          <a:xfrm>
            <a:off x="822960" y="3694176"/>
            <a:ext cx="2377440" cy="512064"/>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Proporción</a:t>
            </a:r>
            <a:endParaRPr lang="en-US" sz="1300" dirty="0"/>
          </a:p>
        </p:txBody>
      </p:sp>
      <p:sp>
        <p:nvSpPr>
          <p:cNvPr id="20" name="Text 18"/>
          <p:cNvSpPr/>
          <p:nvPr/>
        </p:nvSpPr>
        <p:spPr>
          <a:xfrm>
            <a:off x="3291840" y="3694176"/>
            <a:ext cx="1828800" cy="512064"/>
          </a:xfrm>
          <a:prstGeom prst="rect">
            <a:avLst/>
          </a:prstGeom>
          <a:noFill/>
          <a:ln/>
        </p:spPr>
        <p:txBody>
          <a:bodyPr wrap="square" lIns="0" tIns="0" rIns="0" bIns="0" rtlCol="0" anchor="ctr"/>
          <a:lstStyle/>
          <a:p>
            <a:pPr indent="0" marL="0">
              <a:buNone/>
            </a:pPr>
            <a:r>
              <a:rPr lang="en-US" sz="1550" b="1" dirty="0">
                <a:solidFill>
                  <a:srgbClr val="1A56E8"/>
                </a:solidFill>
                <a:latin typeface="Calibri" pitchFamily="34" charset="0"/>
                <a:ea typeface="Calibri" pitchFamily="34" charset="-122"/>
                <a:cs typeface="Calibri" pitchFamily="34" charset="-120"/>
              </a:rPr>
              <a:t>p</a:t>
            </a:r>
            <a:endParaRPr lang="en-US" sz="1550" dirty="0"/>
          </a:p>
        </p:txBody>
      </p:sp>
      <p:sp>
        <p:nvSpPr>
          <p:cNvPr id="21" name="Text 19"/>
          <p:cNvSpPr/>
          <p:nvPr/>
        </p:nvSpPr>
        <p:spPr>
          <a:xfrm>
            <a:off x="5303520" y="3694176"/>
            <a:ext cx="1828800" cy="512064"/>
          </a:xfrm>
          <a:prstGeom prst="rect">
            <a:avLst/>
          </a:prstGeom>
          <a:noFill/>
          <a:ln/>
        </p:spPr>
        <p:txBody>
          <a:bodyPr wrap="square" lIns="0" tIns="0" rIns="0" bIns="0" rtlCol="0" anchor="ctr"/>
          <a:lstStyle/>
          <a:p>
            <a:pPr indent="0" marL="0">
              <a:buNone/>
            </a:pPr>
            <a:r>
              <a:rPr lang="en-US" sz="1550" b="1" dirty="0">
                <a:solidFill>
                  <a:srgbClr val="E6115E"/>
                </a:solidFill>
                <a:latin typeface="Calibri" pitchFamily="34" charset="0"/>
                <a:ea typeface="Calibri" pitchFamily="34" charset="-122"/>
                <a:cs typeface="Calibri" pitchFamily="34" charset="-120"/>
              </a:rPr>
              <a:t>p̂</a:t>
            </a:r>
            <a:endParaRPr lang="en-US" sz="1550" dirty="0"/>
          </a:p>
        </p:txBody>
      </p:sp>
      <p:sp>
        <p:nvSpPr>
          <p:cNvPr id="22" name="Text 20"/>
          <p:cNvSpPr/>
          <p:nvPr/>
        </p:nvSpPr>
        <p:spPr>
          <a:xfrm>
            <a:off x="7315200" y="3694176"/>
            <a:ext cx="4023360" cy="512064"/>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Tasa de conversión</a:t>
            </a:r>
            <a:endParaRPr lang="en-US" sz="1200" dirty="0"/>
          </a:p>
        </p:txBody>
      </p:sp>
      <p:sp>
        <p:nvSpPr>
          <p:cNvPr id="23" name="Text 21"/>
          <p:cNvSpPr/>
          <p:nvPr/>
        </p:nvSpPr>
        <p:spPr>
          <a:xfrm>
            <a:off x="822960" y="4261104"/>
            <a:ext cx="2377440" cy="512064"/>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Varianza</a:t>
            </a:r>
            <a:endParaRPr lang="en-US" sz="1300" dirty="0"/>
          </a:p>
        </p:txBody>
      </p:sp>
      <p:sp>
        <p:nvSpPr>
          <p:cNvPr id="24" name="Text 22"/>
          <p:cNvSpPr/>
          <p:nvPr/>
        </p:nvSpPr>
        <p:spPr>
          <a:xfrm>
            <a:off x="3291840" y="4261104"/>
            <a:ext cx="1828800" cy="512064"/>
          </a:xfrm>
          <a:prstGeom prst="rect">
            <a:avLst/>
          </a:prstGeom>
          <a:noFill/>
          <a:ln/>
        </p:spPr>
        <p:txBody>
          <a:bodyPr wrap="square" lIns="0" tIns="0" rIns="0" bIns="0" rtlCol="0" anchor="ctr"/>
          <a:lstStyle/>
          <a:p>
            <a:pPr indent="0" marL="0">
              <a:buNone/>
            </a:pPr>
            <a:r>
              <a:rPr lang="en-US" sz="1550" b="1" dirty="0">
                <a:solidFill>
                  <a:srgbClr val="1A56E8"/>
                </a:solidFill>
                <a:latin typeface="Calibri" pitchFamily="34" charset="0"/>
                <a:ea typeface="Calibri" pitchFamily="34" charset="-122"/>
                <a:cs typeface="Calibri" pitchFamily="34" charset="-120"/>
              </a:rPr>
              <a:t>σ²</a:t>
            </a:r>
            <a:endParaRPr lang="en-US" sz="1550" dirty="0"/>
          </a:p>
        </p:txBody>
      </p:sp>
      <p:sp>
        <p:nvSpPr>
          <p:cNvPr id="25" name="Text 23"/>
          <p:cNvSpPr/>
          <p:nvPr/>
        </p:nvSpPr>
        <p:spPr>
          <a:xfrm>
            <a:off x="5303520" y="4261104"/>
            <a:ext cx="1828800" cy="512064"/>
          </a:xfrm>
          <a:prstGeom prst="rect">
            <a:avLst/>
          </a:prstGeom>
          <a:noFill/>
          <a:ln/>
        </p:spPr>
        <p:txBody>
          <a:bodyPr wrap="square" lIns="0" tIns="0" rIns="0" bIns="0" rtlCol="0" anchor="ctr"/>
          <a:lstStyle/>
          <a:p>
            <a:pPr indent="0" marL="0">
              <a:buNone/>
            </a:pPr>
            <a:r>
              <a:rPr lang="en-US" sz="1550" b="1" dirty="0">
                <a:solidFill>
                  <a:srgbClr val="E6115E"/>
                </a:solidFill>
                <a:latin typeface="Calibri" pitchFamily="34" charset="0"/>
                <a:ea typeface="Calibri" pitchFamily="34" charset="-122"/>
                <a:cs typeface="Calibri" pitchFamily="34" charset="-120"/>
              </a:rPr>
              <a:t>s²</a:t>
            </a:r>
            <a:endParaRPr lang="en-US" sz="1550" dirty="0"/>
          </a:p>
        </p:txBody>
      </p:sp>
      <p:sp>
        <p:nvSpPr>
          <p:cNvPr id="26" name="Text 24"/>
          <p:cNvSpPr/>
          <p:nvPr/>
        </p:nvSpPr>
        <p:spPr>
          <a:xfrm>
            <a:off x="7315200" y="4261104"/>
            <a:ext cx="4023360" cy="512064"/>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Dispersión del tiempo de sesión</a:t>
            </a:r>
            <a:endParaRPr lang="en-US" sz="1200" dirty="0"/>
          </a:p>
        </p:txBody>
      </p:sp>
      <p:sp>
        <p:nvSpPr>
          <p:cNvPr id="27" name="Shape 25"/>
          <p:cNvSpPr/>
          <p:nvPr/>
        </p:nvSpPr>
        <p:spPr>
          <a:xfrm>
            <a:off x="548640" y="4828032"/>
            <a:ext cx="11064240" cy="512064"/>
          </a:xfrm>
          <a:prstGeom prst="roundRect">
            <a:avLst>
              <a:gd name="adj" fmla="val 10714"/>
            </a:avLst>
          </a:prstGeom>
          <a:solidFill>
            <a:srgbClr val="EDF1F9"/>
          </a:solidFill>
          <a:ln w="12700">
            <a:solidFill>
              <a:srgbClr val="EDF1F9"/>
            </a:solidFill>
            <a:prstDash val="solid"/>
          </a:ln>
        </p:spPr>
      </p:sp>
      <p:sp>
        <p:nvSpPr>
          <p:cNvPr id="28" name="Text 26"/>
          <p:cNvSpPr/>
          <p:nvPr/>
        </p:nvSpPr>
        <p:spPr>
          <a:xfrm>
            <a:off x="822960" y="4828032"/>
            <a:ext cx="2377440" cy="512064"/>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Correlación</a:t>
            </a:r>
            <a:endParaRPr lang="en-US" sz="1300" dirty="0"/>
          </a:p>
        </p:txBody>
      </p:sp>
      <p:sp>
        <p:nvSpPr>
          <p:cNvPr id="29" name="Text 27"/>
          <p:cNvSpPr/>
          <p:nvPr/>
        </p:nvSpPr>
        <p:spPr>
          <a:xfrm>
            <a:off x="3291840" y="4828032"/>
            <a:ext cx="1828800" cy="512064"/>
          </a:xfrm>
          <a:prstGeom prst="rect">
            <a:avLst/>
          </a:prstGeom>
          <a:noFill/>
          <a:ln/>
        </p:spPr>
        <p:txBody>
          <a:bodyPr wrap="square" lIns="0" tIns="0" rIns="0" bIns="0" rtlCol="0" anchor="ctr"/>
          <a:lstStyle/>
          <a:p>
            <a:pPr indent="0" marL="0">
              <a:buNone/>
            </a:pPr>
            <a:r>
              <a:rPr lang="en-US" sz="1550" b="1" dirty="0">
                <a:solidFill>
                  <a:srgbClr val="1A56E8"/>
                </a:solidFill>
                <a:latin typeface="Calibri" pitchFamily="34" charset="0"/>
                <a:ea typeface="Calibri" pitchFamily="34" charset="-122"/>
                <a:cs typeface="Calibri" pitchFamily="34" charset="-120"/>
              </a:rPr>
              <a:t>ρ</a:t>
            </a:r>
            <a:endParaRPr lang="en-US" sz="1550" dirty="0"/>
          </a:p>
        </p:txBody>
      </p:sp>
      <p:sp>
        <p:nvSpPr>
          <p:cNvPr id="30" name="Text 28"/>
          <p:cNvSpPr/>
          <p:nvPr/>
        </p:nvSpPr>
        <p:spPr>
          <a:xfrm>
            <a:off x="5303520" y="4828032"/>
            <a:ext cx="1828800" cy="512064"/>
          </a:xfrm>
          <a:prstGeom prst="rect">
            <a:avLst/>
          </a:prstGeom>
          <a:noFill/>
          <a:ln/>
        </p:spPr>
        <p:txBody>
          <a:bodyPr wrap="square" lIns="0" tIns="0" rIns="0" bIns="0" rtlCol="0" anchor="ctr"/>
          <a:lstStyle/>
          <a:p>
            <a:pPr indent="0" marL="0">
              <a:buNone/>
            </a:pPr>
            <a:r>
              <a:rPr lang="en-US" sz="1550" b="1" dirty="0">
                <a:solidFill>
                  <a:srgbClr val="E6115E"/>
                </a:solidFill>
                <a:latin typeface="Calibri" pitchFamily="34" charset="0"/>
                <a:ea typeface="Calibri" pitchFamily="34" charset="-122"/>
                <a:cs typeface="Calibri" pitchFamily="34" charset="-120"/>
              </a:rPr>
              <a:t>r</a:t>
            </a:r>
            <a:endParaRPr lang="en-US" sz="1550" dirty="0"/>
          </a:p>
        </p:txBody>
      </p:sp>
      <p:sp>
        <p:nvSpPr>
          <p:cNvPr id="31" name="Text 29"/>
          <p:cNvSpPr/>
          <p:nvPr/>
        </p:nvSpPr>
        <p:spPr>
          <a:xfrm>
            <a:off x="7315200" y="4828032"/>
            <a:ext cx="4023360" cy="512064"/>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Relación precio – demanda</a:t>
            </a:r>
            <a:endParaRPr lang="en-US" sz="1200" dirty="0"/>
          </a:p>
        </p:txBody>
      </p:sp>
      <p:sp>
        <p:nvSpPr>
          <p:cNvPr id="32" name="Shape 30"/>
          <p:cNvSpPr/>
          <p:nvPr/>
        </p:nvSpPr>
        <p:spPr>
          <a:xfrm>
            <a:off x="548640" y="5532120"/>
            <a:ext cx="11064240" cy="777240"/>
          </a:xfrm>
          <a:prstGeom prst="roundRect">
            <a:avLst>
              <a:gd name="adj" fmla="val 7059"/>
            </a:avLst>
          </a:prstGeom>
          <a:solidFill>
            <a:srgbClr val="DCE6F8"/>
          </a:solidFill>
          <a:ln w="12700">
            <a:solidFill>
              <a:srgbClr val="C3D5F5"/>
            </a:solidFill>
            <a:prstDash val="solid"/>
          </a:ln>
        </p:spPr>
      </p:sp>
      <p:sp>
        <p:nvSpPr>
          <p:cNvPr id="33" name="Shape 31"/>
          <p:cNvSpPr/>
          <p:nvPr/>
        </p:nvSpPr>
        <p:spPr>
          <a:xfrm>
            <a:off x="786384" y="5861304"/>
            <a:ext cx="118872" cy="118872"/>
          </a:xfrm>
          <a:prstGeom prst="roundRect">
            <a:avLst>
              <a:gd name="adj" fmla="val 30769"/>
            </a:avLst>
          </a:prstGeom>
          <a:solidFill>
            <a:srgbClr val="E6115E"/>
          </a:solidFill>
          <a:ln w="12700">
            <a:solidFill>
              <a:srgbClr val="E6115E"/>
            </a:solidFill>
            <a:prstDash val="solid"/>
          </a:ln>
        </p:spPr>
      </p:sp>
      <p:sp>
        <p:nvSpPr>
          <p:cNvPr id="34" name="Text 32"/>
          <p:cNvSpPr/>
          <p:nvPr/>
        </p:nvSpPr>
        <p:spPr>
          <a:xfrm>
            <a:off x="1024128" y="5532120"/>
            <a:ext cx="10332720" cy="777240"/>
          </a:xfrm>
          <a:prstGeom prst="rect">
            <a:avLst/>
          </a:prstGeom>
          <a:noFill/>
          <a:ln/>
        </p:spPr>
        <p:txBody>
          <a:bodyPr wrap="square" lIns="0" tIns="0" rIns="0" bIns="0" rtlCol="0" anchor="ctr"/>
          <a:lstStyle/>
          <a:p>
            <a:pPr indent="0" marL="0">
              <a:lnSpc>
                <a:spcPts val="1725"/>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725"/>
              </a:lnSpc>
              <a:buNone/>
            </a:pPr>
            <a:r>
              <a:rPr lang="en-US" sz="1250" dirty="0">
                <a:solidFill>
                  <a:srgbClr val="0A2559"/>
                </a:solidFill>
                <a:latin typeface="Calibri" pitchFamily="34" charset="0"/>
                <a:ea typeface="Calibri" pitchFamily="34" charset="-122"/>
                <a:cs typeface="Calibri" pitchFamily="34" charset="-120"/>
              </a:rPr>
              <a:t>El horno y el termómetro. La temperatura real del horno es μ: existe, es fija, y nunca la ves. Lo que marca tu termómetro de mercado es x̄. Escribir σ cuando calculaste s es afirmar que conoces el horno por dentro.</a:t>
            </a:r>
            <a:endParaRPr lang="en-US" sz="1000" dirty="0"/>
          </a:p>
        </p:txBody>
      </p:sp>
      <p:sp>
        <p:nvSpPr>
          <p:cNvPr id="35" name="Text 33"/>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36" name="Text 34"/>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457200"/>
            <a:ext cx="1691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457200"/>
            <a:ext cx="1691640" cy="347472"/>
          </a:xfrm>
          <a:prstGeom prst="rect">
            <a:avLst/>
          </a:prstGeom>
          <a:noFill/>
          <a:ln/>
        </p:spPr>
        <p:txBody>
          <a:bodyPr wrap="square" lIns="0" tIns="0" rIns="0" bIns="0" rtlCol="0" anchor="ctr"/>
          <a:lstStyle/>
          <a:p>
            <a:pPr algn="ctr" indent="0" marL="0">
              <a:buNone/>
            </a:pPr>
            <a:r>
              <a:rPr lang="en-US" sz="1150" b="1" spc="120" kern="0" dirty="0">
                <a:solidFill>
                  <a:srgbClr val="FFFFFF"/>
                </a:solidFill>
                <a:latin typeface="Calibri" pitchFamily="34" charset="0"/>
                <a:ea typeface="Calibri" pitchFamily="34" charset="-122"/>
                <a:cs typeface="Calibri" pitchFamily="34" charset="-120"/>
              </a:rPr>
              <a:t>CASO REAL 01</a:t>
            </a:r>
            <a:endParaRPr lang="en-US" sz="1150" dirty="0"/>
          </a:p>
        </p:txBody>
      </p:sp>
      <p:sp>
        <p:nvSpPr>
          <p:cNvPr id="4" name="Text 2"/>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El piloto promedio no existe</a:t>
            </a:r>
            <a:endParaRPr lang="en-US" sz="3200" dirty="0"/>
          </a:p>
        </p:txBody>
      </p:sp>
      <p:sp>
        <p:nvSpPr>
          <p:cNvPr id="5" name="Text 3"/>
          <p:cNvSpPr/>
          <p:nvPr/>
        </p:nvSpPr>
        <p:spPr>
          <a:xfrm>
            <a:off x="548640" y="1170432"/>
            <a:ext cx="11064240" cy="36576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Fuerza Aérea de EE.UU., Base Wright, 1950–1952</a:t>
            </a:r>
            <a:endParaRPr lang="en-US" sz="1450" dirty="0"/>
          </a:p>
        </p:txBody>
      </p:sp>
      <p:sp>
        <p:nvSpPr>
          <p:cNvPr id="6" name="Shape 4"/>
          <p:cNvSpPr/>
          <p:nvPr/>
        </p:nvSpPr>
        <p:spPr>
          <a:xfrm>
            <a:off x="548640" y="1828800"/>
            <a:ext cx="5760720" cy="2788920"/>
          </a:xfrm>
          <a:prstGeom prst="roundRect">
            <a:avLst>
              <a:gd name="adj" fmla="val 1967"/>
            </a:avLst>
          </a:prstGeom>
          <a:solidFill>
            <a:srgbClr val="E9EEF8"/>
          </a:solidFill>
          <a:ln w="12700">
            <a:solidFill>
              <a:srgbClr val="D2DBEC"/>
            </a:solidFill>
            <a:prstDash val="solid"/>
          </a:ln>
        </p:spPr>
      </p:sp>
      <p:sp>
        <p:nvSpPr>
          <p:cNvPr id="7" name="Shape 5"/>
          <p:cNvSpPr/>
          <p:nvPr/>
        </p:nvSpPr>
        <p:spPr>
          <a:xfrm>
            <a:off x="777240" y="2103120"/>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14984" y="2011680"/>
            <a:ext cx="5065776" cy="310896"/>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Qué pasó</a:t>
            </a:r>
            <a:endParaRPr lang="en-US" sz="1350" dirty="0"/>
          </a:p>
        </p:txBody>
      </p:sp>
      <p:sp>
        <p:nvSpPr>
          <p:cNvPr id="9" name="Text 7"/>
          <p:cNvSpPr/>
          <p:nvPr/>
        </p:nvSpPr>
        <p:spPr>
          <a:xfrm>
            <a:off x="795528" y="2450592"/>
            <a:ext cx="5303520" cy="21031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00" dirty="0">
                <a:solidFill>
                  <a:srgbClr val="2C3A55"/>
                </a:solidFill>
                <a:latin typeface="Calibri" pitchFamily="34" charset="0"/>
                <a:ea typeface="Calibri" pitchFamily="34" charset="-122"/>
                <a:cs typeface="Calibri" pitchFamily="34" charset="-120"/>
              </a:rPr>
              <a:t>Los aviones se caían y se culpaba al “error de piloto”. Las cabinas estaban diseñadas con el promedio de pilotos medidos en 1926.</a:t>
            </a:r>
            <a:endParaRPr lang="en-US" sz="1200" dirty="0"/>
          </a:p>
          <a:p>
            <a:pPr marL="342900" indent="-342900">
              <a:lnSpc>
                <a:spcPts val="1700"/>
              </a:lnSpc>
              <a:spcAft>
                <a:spcPts val="900"/>
              </a:spcAft>
              <a:buSzPct val="100000"/>
              <a:buChar char="•"/>
            </a:pPr>
            <a:r>
              <a:rPr lang="en-US" sz="1200" dirty="0">
                <a:solidFill>
                  <a:srgbClr val="2C3A55"/>
                </a:solidFill>
                <a:latin typeface="Calibri" pitchFamily="34" charset="0"/>
                <a:ea typeface="Calibri" pitchFamily="34" charset="-122"/>
                <a:cs typeface="Calibri" pitchFamily="34" charset="-120"/>
              </a:rPr>
              <a:t>La hipótesis fue que los pilotos habían crecido: bastaba recalcular el promedio con datos nuevos.</a:t>
            </a:r>
            <a:endParaRPr lang="en-US" sz="1200" dirty="0"/>
          </a:p>
          <a:p>
            <a:pPr marL="342900" indent="-342900">
              <a:lnSpc>
                <a:spcPts val="1700"/>
              </a:lnSpc>
              <a:spcAft>
                <a:spcPts val="900"/>
              </a:spcAft>
              <a:buSzPct val="100000"/>
              <a:buChar char="•"/>
            </a:pPr>
            <a:r>
              <a:rPr lang="en-US" sz="1200" dirty="0">
                <a:solidFill>
                  <a:srgbClr val="2C3A55"/>
                </a:solidFill>
                <a:latin typeface="Calibri" pitchFamily="34" charset="0"/>
                <a:ea typeface="Calibri" pitchFamily="34" charset="-122"/>
                <a:cs typeface="Calibri" pitchFamily="34" charset="-120"/>
              </a:rPr>
              <a:t>El teniente Gilbert S. Daniels, 23 años, midió 4,063 pilotos en 140 dimensiones — y decidió verificar el supuesto en lugar de recalcular el promedio.</a:t>
            </a:r>
            <a:endParaRPr lang="en-US" sz="1200" dirty="0"/>
          </a:p>
        </p:txBody>
      </p:sp>
      <p:sp>
        <p:nvSpPr>
          <p:cNvPr id="10" name="Shape 8"/>
          <p:cNvSpPr/>
          <p:nvPr/>
        </p:nvSpPr>
        <p:spPr>
          <a:xfrm>
            <a:off x="6583680" y="1828800"/>
            <a:ext cx="2423160" cy="1298448"/>
          </a:xfrm>
          <a:prstGeom prst="roundRect">
            <a:avLst>
              <a:gd name="adj" fmla="val 4225"/>
            </a:avLst>
          </a:prstGeom>
          <a:solidFill>
            <a:srgbClr val="FFFFFF"/>
          </a:solidFill>
          <a:ln w="12700">
            <a:solidFill>
              <a:srgbClr val="D2DBEC"/>
            </a:solidFill>
            <a:prstDash val="solid"/>
          </a:ln>
        </p:spPr>
      </p:sp>
      <p:sp>
        <p:nvSpPr>
          <p:cNvPr id="11" name="Text 9"/>
          <p:cNvSpPr/>
          <p:nvPr/>
        </p:nvSpPr>
        <p:spPr>
          <a:xfrm>
            <a:off x="6583680" y="1938528"/>
            <a:ext cx="2423160" cy="675193"/>
          </a:xfrm>
          <a:prstGeom prst="rect">
            <a:avLst/>
          </a:prstGeom>
          <a:noFill/>
          <a:ln/>
        </p:spPr>
        <p:txBody>
          <a:bodyPr wrap="square" lIns="0" tIns="0" rIns="0" bIns="0" rtlCol="0" anchor="ctr"/>
          <a:lstStyle/>
          <a:p>
            <a:pPr algn="ctr" indent="0" marL="0">
              <a:buNone/>
            </a:pPr>
            <a:r>
              <a:rPr lang="en-US" sz="2800" b="1" dirty="0">
                <a:solidFill>
                  <a:srgbClr val="1A56E8"/>
                </a:solidFill>
                <a:latin typeface="Calibri" pitchFamily="34" charset="0"/>
                <a:ea typeface="Calibri" pitchFamily="34" charset="-122"/>
                <a:cs typeface="Calibri" pitchFamily="34" charset="-120"/>
              </a:rPr>
              <a:t>4,063</a:t>
            </a:r>
            <a:endParaRPr lang="en-US" sz="2800" dirty="0"/>
          </a:p>
        </p:txBody>
      </p:sp>
      <p:sp>
        <p:nvSpPr>
          <p:cNvPr id="12" name="Text 10"/>
          <p:cNvSpPr/>
          <p:nvPr/>
        </p:nvSpPr>
        <p:spPr>
          <a:xfrm>
            <a:off x="6693408" y="2581900"/>
            <a:ext cx="2203704" cy="467441"/>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pilotos medidos</a:t>
            </a:r>
            <a:endParaRPr lang="en-US" sz="1050" dirty="0"/>
          </a:p>
        </p:txBody>
      </p:sp>
      <p:sp>
        <p:nvSpPr>
          <p:cNvPr id="13" name="Shape 11"/>
          <p:cNvSpPr/>
          <p:nvPr/>
        </p:nvSpPr>
        <p:spPr>
          <a:xfrm>
            <a:off x="9189720" y="1828800"/>
            <a:ext cx="2423160" cy="1298448"/>
          </a:xfrm>
          <a:prstGeom prst="roundRect">
            <a:avLst>
              <a:gd name="adj" fmla="val 4225"/>
            </a:avLst>
          </a:prstGeom>
          <a:solidFill>
            <a:srgbClr val="FFFFFF"/>
          </a:solidFill>
          <a:ln w="12700">
            <a:solidFill>
              <a:srgbClr val="D2DBEC"/>
            </a:solidFill>
            <a:prstDash val="solid"/>
          </a:ln>
        </p:spPr>
      </p:sp>
      <p:sp>
        <p:nvSpPr>
          <p:cNvPr id="14" name="Text 12"/>
          <p:cNvSpPr/>
          <p:nvPr/>
        </p:nvSpPr>
        <p:spPr>
          <a:xfrm>
            <a:off x="9189720" y="1938528"/>
            <a:ext cx="2423160" cy="675193"/>
          </a:xfrm>
          <a:prstGeom prst="rect">
            <a:avLst/>
          </a:prstGeom>
          <a:noFill/>
          <a:ln/>
        </p:spPr>
        <p:txBody>
          <a:bodyPr wrap="square" lIns="0" tIns="0" rIns="0" bIns="0" rtlCol="0" anchor="ctr"/>
          <a:lstStyle/>
          <a:p>
            <a:pPr algn="ctr" indent="0" marL="0">
              <a:buNone/>
            </a:pPr>
            <a:r>
              <a:rPr lang="en-US" sz="2800" b="1" dirty="0">
                <a:solidFill>
                  <a:srgbClr val="1A56E8"/>
                </a:solidFill>
                <a:latin typeface="Calibri" pitchFamily="34" charset="0"/>
                <a:ea typeface="Calibri" pitchFamily="34" charset="-122"/>
                <a:cs typeface="Calibri" pitchFamily="34" charset="-120"/>
              </a:rPr>
              <a:t>140</a:t>
            </a:r>
            <a:endParaRPr lang="en-US" sz="2800" dirty="0"/>
          </a:p>
        </p:txBody>
      </p:sp>
      <p:sp>
        <p:nvSpPr>
          <p:cNvPr id="15" name="Text 13"/>
          <p:cNvSpPr/>
          <p:nvPr/>
        </p:nvSpPr>
        <p:spPr>
          <a:xfrm>
            <a:off x="9299448" y="2581900"/>
            <a:ext cx="2203704" cy="467441"/>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dimensiones registradas</a:t>
            </a:r>
            <a:endParaRPr lang="en-US" sz="1050" dirty="0"/>
          </a:p>
        </p:txBody>
      </p:sp>
      <p:sp>
        <p:nvSpPr>
          <p:cNvPr id="16" name="Shape 14"/>
          <p:cNvSpPr/>
          <p:nvPr/>
        </p:nvSpPr>
        <p:spPr>
          <a:xfrm>
            <a:off x="6583680" y="3273552"/>
            <a:ext cx="2423160" cy="1298448"/>
          </a:xfrm>
          <a:prstGeom prst="roundRect">
            <a:avLst>
              <a:gd name="adj" fmla="val 4225"/>
            </a:avLst>
          </a:prstGeom>
          <a:solidFill>
            <a:srgbClr val="FFFFFF"/>
          </a:solidFill>
          <a:ln w="12700">
            <a:solidFill>
              <a:srgbClr val="D2DBEC"/>
            </a:solidFill>
            <a:prstDash val="solid"/>
          </a:ln>
        </p:spPr>
      </p:sp>
      <p:sp>
        <p:nvSpPr>
          <p:cNvPr id="17" name="Text 15"/>
          <p:cNvSpPr/>
          <p:nvPr/>
        </p:nvSpPr>
        <p:spPr>
          <a:xfrm>
            <a:off x="6583680" y="3383280"/>
            <a:ext cx="2423160" cy="675193"/>
          </a:xfrm>
          <a:prstGeom prst="rect">
            <a:avLst/>
          </a:prstGeom>
          <a:noFill/>
          <a:ln/>
        </p:spPr>
        <p:txBody>
          <a:bodyPr wrap="square" lIns="0" tIns="0" rIns="0" bIns="0" rtlCol="0" anchor="ctr"/>
          <a:lstStyle/>
          <a:p>
            <a:pPr algn="ctr" indent="0" marL="0">
              <a:buNone/>
            </a:pPr>
            <a:r>
              <a:rPr lang="en-US" sz="2800" b="1" dirty="0">
                <a:solidFill>
                  <a:srgbClr val="0A2559"/>
                </a:solidFill>
                <a:latin typeface="Calibri" pitchFamily="34" charset="0"/>
                <a:ea typeface="Calibri" pitchFamily="34" charset="-122"/>
                <a:cs typeface="Calibri" pitchFamily="34" charset="-120"/>
              </a:rPr>
              <a:t>10</a:t>
            </a:r>
            <a:endParaRPr lang="en-US" sz="2800" dirty="0"/>
          </a:p>
        </p:txBody>
      </p:sp>
      <p:sp>
        <p:nvSpPr>
          <p:cNvPr id="18" name="Text 16"/>
          <p:cNvSpPr/>
          <p:nvPr/>
        </p:nvSpPr>
        <p:spPr>
          <a:xfrm>
            <a:off x="6693408" y="4026652"/>
            <a:ext cx="2203704" cy="467441"/>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dimensiones clave para la cabina</a:t>
            </a:r>
            <a:endParaRPr lang="en-US" sz="1050" dirty="0"/>
          </a:p>
        </p:txBody>
      </p:sp>
      <p:sp>
        <p:nvSpPr>
          <p:cNvPr id="19" name="Shape 17"/>
          <p:cNvSpPr/>
          <p:nvPr/>
        </p:nvSpPr>
        <p:spPr>
          <a:xfrm>
            <a:off x="9189720" y="3273552"/>
            <a:ext cx="2423160" cy="1298448"/>
          </a:xfrm>
          <a:prstGeom prst="roundRect">
            <a:avLst>
              <a:gd name="adj" fmla="val 4225"/>
            </a:avLst>
          </a:prstGeom>
          <a:solidFill>
            <a:srgbClr val="FFFFFF"/>
          </a:solidFill>
          <a:ln w="12700">
            <a:solidFill>
              <a:srgbClr val="D2DBEC"/>
            </a:solidFill>
            <a:prstDash val="solid"/>
          </a:ln>
        </p:spPr>
      </p:sp>
      <p:sp>
        <p:nvSpPr>
          <p:cNvPr id="20" name="Text 18"/>
          <p:cNvSpPr/>
          <p:nvPr/>
        </p:nvSpPr>
        <p:spPr>
          <a:xfrm>
            <a:off x="9189720" y="3383280"/>
            <a:ext cx="2423160" cy="675193"/>
          </a:xfrm>
          <a:prstGeom prst="rect">
            <a:avLst/>
          </a:prstGeom>
          <a:noFill/>
          <a:ln/>
        </p:spPr>
        <p:txBody>
          <a:bodyPr wrap="square" lIns="0" tIns="0" rIns="0" bIns="0" rtlCol="0" anchor="ctr"/>
          <a:lstStyle/>
          <a:p>
            <a:pPr algn="ctr" indent="0" marL="0">
              <a:buNone/>
            </a:pPr>
            <a:r>
              <a:rPr lang="en-US" sz="4000" b="1" dirty="0">
                <a:solidFill>
                  <a:srgbClr val="E6115E"/>
                </a:solidFill>
                <a:latin typeface="Calibri" pitchFamily="34" charset="0"/>
                <a:ea typeface="Calibri" pitchFamily="34" charset="-122"/>
                <a:cs typeface="Calibri" pitchFamily="34" charset="-120"/>
              </a:rPr>
              <a:t>0</a:t>
            </a:r>
            <a:endParaRPr lang="en-US" sz="4000" dirty="0"/>
          </a:p>
        </p:txBody>
      </p:sp>
      <p:sp>
        <p:nvSpPr>
          <p:cNvPr id="21" name="Text 19"/>
          <p:cNvSpPr/>
          <p:nvPr/>
        </p:nvSpPr>
        <p:spPr>
          <a:xfrm>
            <a:off x="9299448" y="4026652"/>
            <a:ext cx="2203704" cy="467441"/>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pilotos promedio en las 10</a:t>
            </a:r>
            <a:endParaRPr lang="en-US" sz="1050" dirty="0"/>
          </a:p>
        </p:txBody>
      </p:sp>
      <p:sp>
        <p:nvSpPr>
          <p:cNvPr id="22" name="Shape 20"/>
          <p:cNvSpPr/>
          <p:nvPr/>
        </p:nvSpPr>
        <p:spPr>
          <a:xfrm>
            <a:off x="548640" y="4800600"/>
            <a:ext cx="11064240" cy="1051560"/>
          </a:xfrm>
          <a:prstGeom prst="roundRect">
            <a:avLst>
              <a:gd name="adj" fmla="val 5217"/>
            </a:avLst>
          </a:prstGeom>
          <a:solidFill>
            <a:srgbClr val="0A2559"/>
          </a:solidFill>
          <a:ln w="12700">
            <a:solidFill>
              <a:srgbClr val="0A2559"/>
            </a:solidFill>
            <a:prstDash val="solid"/>
          </a:ln>
        </p:spPr>
      </p:sp>
      <p:sp>
        <p:nvSpPr>
          <p:cNvPr id="23" name="Text 21"/>
          <p:cNvSpPr/>
          <p:nvPr/>
        </p:nvSpPr>
        <p:spPr>
          <a:xfrm>
            <a:off x="822960" y="4892040"/>
            <a:ext cx="2743200" cy="274320"/>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La lección</a:t>
            </a:r>
            <a:endParaRPr lang="en-US" sz="1200" dirty="0"/>
          </a:p>
        </p:txBody>
      </p:sp>
      <p:sp>
        <p:nvSpPr>
          <p:cNvPr id="24" name="Text 22"/>
          <p:cNvSpPr/>
          <p:nvPr/>
        </p:nvSpPr>
        <p:spPr>
          <a:xfrm>
            <a:off x="822960" y="5175504"/>
            <a:ext cx="10515600" cy="621792"/>
          </a:xfrm>
          <a:prstGeom prst="rect">
            <a:avLst/>
          </a:prstGeom>
          <a:noFill/>
          <a:ln/>
        </p:spPr>
        <p:txBody>
          <a:bodyPr wrap="square" lIns="0" tIns="0" rIns="0" bIns="0" rtlCol="0" anchor="t"/>
          <a:lstStyle/>
          <a:p>
            <a:pPr indent="0" marL="0">
              <a:lnSpc>
                <a:spcPts val="1550"/>
              </a:lnSpc>
              <a:buNone/>
            </a:pPr>
            <a:r>
              <a:rPr lang="en-US" sz="1200" dirty="0">
                <a:solidFill>
                  <a:srgbClr val="DCE6F8"/>
                </a:solidFill>
                <a:latin typeface="Calibri" pitchFamily="34" charset="0"/>
                <a:ea typeface="Calibri" pitchFamily="34" charset="-122"/>
                <a:cs typeface="Calibri" pitchFamily="34" charset="-120"/>
              </a:rPr>
              <a:t>Daniels definió “promedio” con generosidad — la banda central del 30% — y aun así ni un solo piloto entró en ella en las diez dimensiones. Menos del 3.5% lo lograba en apenas tres. La respuesta no fue un mejor promedio: fue el asiento regulable. Cada silla de oficina y cada asiento de auto ajustable descienden de este informe.</a:t>
            </a:r>
            <a:endParaRPr lang="en-US" sz="1200" dirty="0"/>
          </a:p>
        </p:txBody>
      </p:sp>
      <p:sp>
        <p:nvSpPr>
          <p:cNvPr id="25" name="Text 23"/>
          <p:cNvSpPr/>
          <p:nvPr/>
        </p:nvSpPr>
        <p:spPr>
          <a:xfrm>
            <a:off x="548640" y="5989320"/>
            <a:ext cx="11064240" cy="274320"/>
          </a:xfrm>
          <a:prstGeom prst="rect">
            <a:avLst/>
          </a:prstGeom>
          <a:noFill/>
          <a:ln/>
        </p:spPr>
        <p:txBody>
          <a:bodyPr wrap="square" lIns="0" tIns="0" rIns="0" bIns="0" rtlCol="0" anchor="ctr"/>
          <a:lstStyle/>
          <a:p>
            <a:pPr indent="0" marL="0">
              <a:buNone/>
            </a:pPr>
            <a:r>
              <a:rPr lang="en-US" sz="1000" i="1" dirty="0">
                <a:solidFill>
                  <a:srgbClr val="5B6B87"/>
                </a:solidFill>
                <a:latin typeface="Calibri" pitchFamily="34" charset="0"/>
                <a:ea typeface="Calibri" pitchFamily="34" charset="-122"/>
                <a:cs typeface="Calibri" pitchFamily="34" charset="-120"/>
              </a:rPr>
              <a:t>Daniels, G. S. (1952). “The ‘Average Man’?” Technical Note WCRD 53-7, Wright Air Force Base. Divulgado en Rose, T. (2016), The End of Average, HarperOne.</a:t>
            </a:r>
            <a:endParaRPr lang="en-US" sz="1000" dirty="0"/>
          </a:p>
        </p:txBody>
      </p:sp>
      <p:sp>
        <p:nvSpPr>
          <p:cNvPr id="26" name="Text 24"/>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7" name="Text 25"/>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Primer aviso: la media miente</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Un solo resumen nunca describe una distribución asimétrica</a:t>
            </a:r>
            <a:endParaRPr lang="en-US" sz="1450" dirty="0"/>
          </a:p>
        </p:txBody>
      </p:sp>
      <p:graphicFrame>
        <p:nvGraphicFramePr>
          <p:cNvPr id="4" name="Chart 0" descr=""/>
          <p:cNvGraphicFramePr/>
          <p:nvPr/>
        </p:nvGraphicFramePr>
        <p:xfrm>
          <a:off x="548640" y="1920240"/>
          <a:ext cx="6035040" cy="3017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766560" y="1920240"/>
            <a:ext cx="4846320" cy="914400"/>
          </a:xfrm>
          <a:prstGeom prst="roundRect">
            <a:avLst>
              <a:gd name="adj" fmla="val 6000"/>
            </a:avLst>
          </a:prstGeom>
          <a:solidFill>
            <a:srgbClr val="E9EEF8"/>
          </a:solidFill>
          <a:ln w="12700">
            <a:solidFill>
              <a:srgbClr val="D2DBEC"/>
            </a:solidFill>
            <a:prstDash val="solid"/>
          </a:ln>
        </p:spPr>
      </p:sp>
      <p:sp>
        <p:nvSpPr>
          <p:cNvPr id="6" name="Text 3"/>
          <p:cNvSpPr/>
          <p:nvPr/>
        </p:nvSpPr>
        <p:spPr>
          <a:xfrm>
            <a:off x="6995160" y="1993392"/>
            <a:ext cx="1828800" cy="237744"/>
          </a:xfrm>
          <a:prstGeom prst="rect">
            <a:avLst/>
          </a:prstGeom>
          <a:noFill/>
          <a:ln/>
        </p:spPr>
        <p:txBody>
          <a:bodyPr wrap="square" lIns="0" tIns="0" rIns="0" bIns="0" rtlCol="0" anchor="ctr"/>
          <a:lstStyle/>
          <a:p>
            <a:pPr indent="0" marL="0">
              <a:buNone/>
            </a:pPr>
            <a:r>
              <a:rPr lang="en-US" sz="1000" b="1" spc="120" kern="0" dirty="0">
                <a:solidFill>
                  <a:srgbClr val="5B6B87"/>
                </a:solidFill>
                <a:latin typeface="Calibri" pitchFamily="34" charset="0"/>
                <a:ea typeface="Calibri" pitchFamily="34" charset="-122"/>
                <a:cs typeface="Calibri" pitchFamily="34" charset="-120"/>
              </a:rPr>
              <a:t>MEDIA</a:t>
            </a:r>
            <a:endParaRPr lang="en-US" sz="1000" dirty="0"/>
          </a:p>
        </p:txBody>
      </p:sp>
      <p:sp>
        <p:nvSpPr>
          <p:cNvPr id="7" name="Text 4"/>
          <p:cNvSpPr/>
          <p:nvPr/>
        </p:nvSpPr>
        <p:spPr>
          <a:xfrm>
            <a:off x="6995160" y="2194560"/>
            <a:ext cx="2194560" cy="384048"/>
          </a:xfrm>
          <a:prstGeom prst="rect">
            <a:avLst/>
          </a:prstGeom>
          <a:noFill/>
          <a:ln/>
        </p:spPr>
        <p:txBody>
          <a:bodyPr wrap="square" lIns="0" tIns="0" rIns="0" bIns="0" rtlCol="0" anchor="ctr"/>
          <a:lstStyle/>
          <a:p>
            <a:pPr indent="0" marL="0">
              <a:buNone/>
            </a:pPr>
            <a:r>
              <a:rPr lang="en-US" sz="2300" b="1" dirty="0">
                <a:solidFill>
                  <a:srgbClr val="1A56E8"/>
                </a:solidFill>
                <a:latin typeface="Calibri" pitchFamily="34" charset="0"/>
                <a:ea typeface="Calibri" pitchFamily="34" charset="-122"/>
                <a:cs typeface="Calibri" pitchFamily="34" charset="-120"/>
              </a:rPr>
              <a:t>S/ 3,410</a:t>
            </a:r>
            <a:endParaRPr lang="en-US" sz="2300" dirty="0"/>
          </a:p>
        </p:txBody>
      </p:sp>
      <p:sp>
        <p:nvSpPr>
          <p:cNvPr id="8" name="Text 5"/>
          <p:cNvSpPr/>
          <p:nvPr/>
        </p:nvSpPr>
        <p:spPr>
          <a:xfrm>
            <a:off x="6995160" y="2578608"/>
            <a:ext cx="4389120" cy="237744"/>
          </a:xfrm>
          <a:prstGeom prst="rect">
            <a:avLst/>
          </a:prstGeom>
          <a:noFill/>
          <a:ln/>
        </p:spPr>
        <p:txBody>
          <a:bodyPr wrap="square" lIns="0" tIns="0" rIns="0" bIns="0" rtlCol="0" anchor="ctr"/>
          <a:lstStyle/>
          <a:p>
            <a:pPr indent="0" marL="0">
              <a:buNone/>
            </a:pPr>
            <a:r>
              <a:rPr lang="en-US" sz="1100" dirty="0">
                <a:solidFill>
                  <a:srgbClr val="2C3A55"/>
                </a:solidFill>
                <a:latin typeface="Calibri" pitchFamily="34" charset="0"/>
                <a:ea typeface="Calibri" pitchFamily="34" charset="-122"/>
                <a:cs typeface="Calibri" pitchFamily="34" charset="-120"/>
              </a:rPr>
              <a:t>Arrastrada por la cola derecha</a:t>
            </a:r>
            <a:endParaRPr lang="en-US" sz="1100" dirty="0"/>
          </a:p>
        </p:txBody>
      </p:sp>
      <p:sp>
        <p:nvSpPr>
          <p:cNvPr id="9" name="Shape 6"/>
          <p:cNvSpPr/>
          <p:nvPr/>
        </p:nvSpPr>
        <p:spPr>
          <a:xfrm>
            <a:off x="6766560" y="2944368"/>
            <a:ext cx="4846320" cy="914400"/>
          </a:xfrm>
          <a:prstGeom prst="roundRect">
            <a:avLst>
              <a:gd name="adj" fmla="val 6000"/>
            </a:avLst>
          </a:prstGeom>
          <a:solidFill>
            <a:srgbClr val="E9EEF8"/>
          </a:solidFill>
          <a:ln w="12700">
            <a:solidFill>
              <a:srgbClr val="D2DBEC"/>
            </a:solidFill>
            <a:prstDash val="solid"/>
          </a:ln>
        </p:spPr>
      </p:sp>
      <p:sp>
        <p:nvSpPr>
          <p:cNvPr id="10" name="Text 7"/>
          <p:cNvSpPr/>
          <p:nvPr/>
        </p:nvSpPr>
        <p:spPr>
          <a:xfrm>
            <a:off x="6995160" y="3017520"/>
            <a:ext cx="1828800" cy="237744"/>
          </a:xfrm>
          <a:prstGeom prst="rect">
            <a:avLst/>
          </a:prstGeom>
          <a:noFill/>
          <a:ln/>
        </p:spPr>
        <p:txBody>
          <a:bodyPr wrap="square" lIns="0" tIns="0" rIns="0" bIns="0" rtlCol="0" anchor="ctr"/>
          <a:lstStyle/>
          <a:p>
            <a:pPr indent="0" marL="0">
              <a:buNone/>
            </a:pPr>
            <a:r>
              <a:rPr lang="en-US" sz="1000" b="1" spc="120" kern="0" dirty="0">
                <a:solidFill>
                  <a:srgbClr val="5B6B87"/>
                </a:solidFill>
                <a:latin typeface="Calibri" pitchFamily="34" charset="0"/>
                <a:ea typeface="Calibri" pitchFamily="34" charset="-122"/>
                <a:cs typeface="Calibri" pitchFamily="34" charset="-120"/>
              </a:rPr>
              <a:t>MEDIANA</a:t>
            </a:r>
            <a:endParaRPr lang="en-US" sz="1000" dirty="0"/>
          </a:p>
        </p:txBody>
      </p:sp>
      <p:sp>
        <p:nvSpPr>
          <p:cNvPr id="11" name="Text 8"/>
          <p:cNvSpPr/>
          <p:nvPr/>
        </p:nvSpPr>
        <p:spPr>
          <a:xfrm>
            <a:off x="6995160" y="3218688"/>
            <a:ext cx="2194560" cy="384048"/>
          </a:xfrm>
          <a:prstGeom prst="rect">
            <a:avLst/>
          </a:prstGeom>
          <a:noFill/>
          <a:ln/>
        </p:spPr>
        <p:txBody>
          <a:bodyPr wrap="square" lIns="0" tIns="0" rIns="0" bIns="0" rtlCol="0" anchor="ctr"/>
          <a:lstStyle/>
          <a:p>
            <a:pPr indent="0" marL="0">
              <a:buNone/>
            </a:pPr>
            <a:r>
              <a:rPr lang="en-US" sz="2300" b="1" dirty="0">
                <a:solidFill>
                  <a:srgbClr val="E6115E"/>
                </a:solidFill>
                <a:latin typeface="Calibri" pitchFamily="34" charset="0"/>
                <a:ea typeface="Calibri" pitchFamily="34" charset="-122"/>
                <a:cs typeface="Calibri" pitchFamily="34" charset="-120"/>
              </a:rPr>
              <a:t>S/ 2,750</a:t>
            </a:r>
            <a:endParaRPr lang="en-US" sz="2300" dirty="0"/>
          </a:p>
        </p:txBody>
      </p:sp>
      <p:sp>
        <p:nvSpPr>
          <p:cNvPr id="12" name="Text 9"/>
          <p:cNvSpPr/>
          <p:nvPr/>
        </p:nvSpPr>
        <p:spPr>
          <a:xfrm>
            <a:off x="6995160" y="3602736"/>
            <a:ext cx="4389120" cy="237744"/>
          </a:xfrm>
          <a:prstGeom prst="rect">
            <a:avLst/>
          </a:prstGeom>
          <a:noFill/>
          <a:ln/>
        </p:spPr>
        <p:txBody>
          <a:bodyPr wrap="square" lIns="0" tIns="0" rIns="0" bIns="0" rtlCol="0" anchor="ctr"/>
          <a:lstStyle/>
          <a:p>
            <a:pPr indent="0" marL="0">
              <a:buNone/>
            </a:pPr>
            <a:r>
              <a:rPr lang="en-US" sz="1100" dirty="0">
                <a:solidFill>
                  <a:srgbClr val="2C3A55"/>
                </a:solidFill>
                <a:latin typeface="Calibri" pitchFamily="34" charset="0"/>
                <a:ea typeface="Calibri" pitchFamily="34" charset="-122"/>
                <a:cs typeface="Calibri" pitchFamily="34" charset="-120"/>
              </a:rPr>
              <a:t>El usuario típico real</a:t>
            </a:r>
            <a:endParaRPr lang="en-US" sz="1100" dirty="0"/>
          </a:p>
        </p:txBody>
      </p:sp>
      <p:sp>
        <p:nvSpPr>
          <p:cNvPr id="13" name="Shape 10"/>
          <p:cNvSpPr/>
          <p:nvPr/>
        </p:nvSpPr>
        <p:spPr>
          <a:xfrm>
            <a:off x="6766560" y="3968496"/>
            <a:ext cx="4846320" cy="914400"/>
          </a:xfrm>
          <a:prstGeom prst="roundRect">
            <a:avLst>
              <a:gd name="adj" fmla="val 6000"/>
            </a:avLst>
          </a:prstGeom>
          <a:solidFill>
            <a:srgbClr val="E9EEF8"/>
          </a:solidFill>
          <a:ln w="12700">
            <a:solidFill>
              <a:srgbClr val="D2DBEC"/>
            </a:solidFill>
            <a:prstDash val="solid"/>
          </a:ln>
        </p:spPr>
      </p:sp>
      <p:sp>
        <p:nvSpPr>
          <p:cNvPr id="14" name="Text 11"/>
          <p:cNvSpPr/>
          <p:nvPr/>
        </p:nvSpPr>
        <p:spPr>
          <a:xfrm>
            <a:off x="6995160" y="4041648"/>
            <a:ext cx="1828800" cy="237744"/>
          </a:xfrm>
          <a:prstGeom prst="rect">
            <a:avLst/>
          </a:prstGeom>
          <a:noFill/>
          <a:ln/>
        </p:spPr>
        <p:txBody>
          <a:bodyPr wrap="square" lIns="0" tIns="0" rIns="0" bIns="0" rtlCol="0" anchor="ctr"/>
          <a:lstStyle/>
          <a:p>
            <a:pPr indent="0" marL="0">
              <a:buNone/>
            </a:pPr>
            <a:r>
              <a:rPr lang="en-US" sz="1000" b="1" spc="120" kern="0" dirty="0">
                <a:solidFill>
                  <a:srgbClr val="5B6B87"/>
                </a:solidFill>
                <a:latin typeface="Calibri" pitchFamily="34" charset="0"/>
                <a:ea typeface="Calibri" pitchFamily="34" charset="-122"/>
                <a:cs typeface="Calibri" pitchFamily="34" charset="-120"/>
              </a:rPr>
              <a:t>CV</a:t>
            </a:r>
            <a:endParaRPr lang="en-US" sz="1000" dirty="0"/>
          </a:p>
        </p:txBody>
      </p:sp>
      <p:sp>
        <p:nvSpPr>
          <p:cNvPr id="15" name="Text 12"/>
          <p:cNvSpPr/>
          <p:nvPr/>
        </p:nvSpPr>
        <p:spPr>
          <a:xfrm>
            <a:off x="6995160" y="4242816"/>
            <a:ext cx="2194560" cy="384048"/>
          </a:xfrm>
          <a:prstGeom prst="rect">
            <a:avLst/>
          </a:prstGeom>
          <a:noFill/>
          <a:ln/>
        </p:spPr>
        <p:txBody>
          <a:bodyPr wrap="square" lIns="0" tIns="0" rIns="0" bIns="0" rtlCol="0" anchor="ctr"/>
          <a:lstStyle/>
          <a:p>
            <a:pPr indent="0" marL="0">
              <a:buNone/>
            </a:pPr>
            <a:r>
              <a:rPr lang="en-US" sz="2300" b="1" dirty="0">
                <a:solidFill>
                  <a:srgbClr val="0A2559"/>
                </a:solidFill>
                <a:latin typeface="Calibri" pitchFamily="34" charset="0"/>
                <a:ea typeface="Calibri" pitchFamily="34" charset="-122"/>
                <a:cs typeface="Calibri" pitchFamily="34" charset="-120"/>
              </a:rPr>
              <a:t>0.71</a:t>
            </a:r>
            <a:endParaRPr lang="en-US" sz="2300" dirty="0"/>
          </a:p>
        </p:txBody>
      </p:sp>
      <p:sp>
        <p:nvSpPr>
          <p:cNvPr id="16" name="Text 13"/>
          <p:cNvSpPr/>
          <p:nvPr/>
        </p:nvSpPr>
        <p:spPr>
          <a:xfrm>
            <a:off x="6995160" y="4626864"/>
            <a:ext cx="4389120" cy="237744"/>
          </a:xfrm>
          <a:prstGeom prst="rect">
            <a:avLst/>
          </a:prstGeom>
          <a:noFill/>
          <a:ln/>
        </p:spPr>
        <p:txBody>
          <a:bodyPr wrap="square" lIns="0" tIns="0" rIns="0" bIns="0" rtlCol="0" anchor="ctr"/>
          <a:lstStyle/>
          <a:p>
            <a:pPr indent="0" marL="0">
              <a:buNone/>
            </a:pPr>
            <a:r>
              <a:rPr lang="en-US" sz="1100" dirty="0">
                <a:solidFill>
                  <a:srgbClr val="2C3A55"/>
                </a:solidFill>
                <a:latin typeface="Calibri" pitchFamily="34" charset="0"/>
                <a:ea typeface="Calibri" pitchFamily="34" charset="-122"/>
                <a:cs typeface="Calibri" pitchFamily="34" charset="-120"/>
              </a:rPr>
              <a:t>Dispersión alta respecto a la media</a:t>
            </a:r>
            <a:endParaRPr lang="en-US" sz="1100" dirty="0"/>
          </a:p>
        </p:txBody>
      </p:sp>
      <p:sp>
        <p:nvSpPr>
          <p:cNvPr id="17" name="Shape 14"/>
          <p:cNvSpPr/>
          <p:nvPr/>
        </p:nvSpPr>
        <p:spPr>
          <a:xfrm>
            <a:off x="548640" y="5074920"/>
            <a:ext cx="11064240" cy="1097280"/>
          </a:xfrm>
          <a:prstGeom prst="roundRect">
            <a:avLst>
              <a:gd name="adj" fmla="val 5000"/>
            </a:avLst>
          </a:prstGeom>
          <a:solidFill>
            <a:srgbClr val="DCE6F8"/>
          </a:solidFill>
          <a:ln w="12700">
            <a:solidFill>
              <a:srgbClr val="C3D5F5"/>
            </a:solidFill>
            <a:prstDash val="solid"/>
          </a:ln>
        </p:spPr>
      </p:sp>
      <p:sp>
        <p:nvSpPr>
          <p:cNvPr id="18" name="Shape 15"/>
          <p:cNvSpPr/>
          <p:nvPr/>
        </p:nvSpPr>
        <p:spPr>
          <a:xfrm>
            <a:off x="786384" y="5564124"/>
            <a:ext cx="118872" cy="118872"/>
          </a:xfrm>
          <a:prstGeom prst="roundRect">
            <a:avLst>
              <a:gd name="adj" fmla="val 30769"/>
            </a:avLst>
          </a:prstGeom>
          <a:solidFill>
            <a:srgbClr val="E6115E"/>
          </a:solidFill>
          <a:ln w="12700">
            <a:solidFill>
              <a:srgbClr val="E6115E"/>
            </a:solidFill>
            <a:prstDash val="solid"/>
          </a:ln>
        </p:spPr>
      </p:sp>
      <p:sp>
        <p:nvSpPr>
          <p:cNvPr id="19" name="Text 16"/>
          <p:cNvSpPr/>
          <p:nvPr/>
        </p:nvSpPr>
        <p:spPr>
          <a:xfrm>
            <a:off x="1024128" y="5074920"/>
            <a:ext cx="10332720" cy="1097280"/>
          </a:xfrm>
          <a:prstGeom prst="rect">
            <a:avLst/>
          </a:prstGeom>
          <a:noFill/>
          <a:ln/>
        </p:spPr>
        <p:txBody>
          <a:bodyPr wrap="square" lIns="0" tIns="0" rIns="0" bIns="0" rtlCol="0" anchor="ctr"/>
          <a:lstStyle/>
          <a:p>
            <a:pPr indent="0" marL="0">
              <a:lnSpc>
                <a:spcPts val="1725"/>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725"/>
              </a:lnSpc>
              <a:buNone/>
            </a:pPr>
            <a:r>
              <a:rPr lang="en-US" sz="1250" dirty="0">
                <a:solidFill>
                  <a:srgbClr val="0A2559"/>
                </a:solidFill>
                <a:latin typeface="Calibri" pitchFamily="34" charset="0"/>
                <a:ea typeface="Calibri" pitchFamily="34" charset="-122"/>
                <a:cs typeface="Calibri" pitchFamily="34" charset="-120"/>
              </a:rPr>
              <a:t>El río de 1.20 m de profundidad promedio. Es un dato correcto y puedes ahogarte cruzándolo: no te avisa del pozo de 3 metros que hay en el medio. Regla práctica: si media y mediana difieren más de ~10%, reporta ambas o la distribución completa.</a:t>
            </a:r>
            <a:endParaRPr lang="en-US" sz="1000" dirty="0"/>
          </a:p>
        </p:txBody>
      </p:sp>
      <p:sp>
        <p:nvSpPr>
          <p:cNvPr id="20" name="Text 17"/>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1" name="Text 18"/>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Cuatro medidas de dispersión y cuándo usar cada una</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La media dice dónde está el centro; la dispersión dice cuánto puedes confiar en ese centro</a:t>
            </a:r>
            <a:endParaRPr lang="en-US" sz="1450" dirty="0"/>
          </a:p>
        </p:txBody>
      </p:sp>
      <p:sp>
        <p:nvSpPr>
          <p:cNvPr id="4" name="Shape 2"/>
          <p:cNvSpPr/>
          <p:nvPr/>
        </p:nvSpPr>
        <p:spPr>
          <a:xfrm>
            <a:off x="548640" y="1965960"/>
            <a:ext cx="11064240" cy="786384"/>
          </a:xfrm>
          <a:prstGeom prst="roundRect">
            <a:avLst>
              <a:gd name="adj" fmla="val 6977"/>
            </a:avLst>
          </a:prstGeom>
          <a:solidFill>
            <a:srgbClr val="E9EEF8"/>
          </a:solidFill>
          <a:ln w="12700">
            <a:solidFill>
              <a:srgbClr val="D2DBEC"/>
            </a:solidFill>
            <a:prstDash val="solid"/>
          </a:ln>
        </p:spPr>
      </p:sp>
      <p:sp>
        <p:nvSpPr>
          <p:cNvPr id="5" name="Shape 3"/>
          <p:cNvSpPr/>
          <p:nvPr/>
        </p:nvSpPr>
        <p:spPr>
          <a:xfrm>
            <a:off x="777240" y="2157984"/>
            <a:ext cx="402336" cy="402336"/>
          </a:xfrm>
          <a:prstGeom prst="ellipse">
            <a:avLst/>
          </a:prstGeom>
          <a:solidFill>
            <a:srgbClr val="1A56E8"/>
          </a:solidFill>
          <a:ln w="12700">
            <a:solidFill>
              <a:srgbClr val="1A56E8"/>
            </a:solidFill>
            <a:prstDash val="solid"/>
          </a:ln>
        </p:spPr>
      </p:sp>
      <p:sp>
        <p:nvSpPr>
          <p:cNvPr id="6" name="Text 4"/>
          <p:cNvSpPr/>
          <p:nvPr/>
        </p:nvSpPr>
        <p:spPr>
          <a:xfrm>
            <a:off x="777240" y="2157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25880" y="2057400"/>
            <a:ext cx="3017520" cy="301752"/>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Varianza  σ²</a:t>
            </a:r>
            <a:endParaRPr lang="en-US" sz="1400" dirty="0"/>
          </a:p>
        </p:txBody>
      </p:sp>
      <p:sp>
        <p:nvSpPr>
          <p:cNvPr id="8" name="Text 6"/>
          <p:cNvSpPr/>
          <p:nvPr/>
        </p:nvSpPr>
        <p:spPr>
          <a:xfrm>
            <a:off x="1325880" y="2377440"/>
            <a:ext cx="3017520" cy="292608"/>
          </a:xfrm>
          <a:prstGeom prst="rect">
            <a:avLst/>
          </a:prstGeom>
          <a:noFill/>
          <a:ln/>
        </p:spPr>
        <p:txBody>
          <a:bodyPr wrap="square" lIns="0" tIns="0" rIns="0" bIns="0" rtlCol="0" anchor="ctr"/>
          <a:lstStyle/>
          <a:p>
            <a:pPr indent="0" marL="0">
              <a:buNone/>
            </a:pPr>
            <a:r>
              <a:rPr lang="en-US" sz="1350" i="1" dirty="0">
                <a:solidFill>
                  <a:srgbClr val="E6115E"/>
                </a:solidFill>
                <a:latin typeface="Calibri" pitchFamily="34" charset="0"/>
                <a:ea typeface="Calibri" pitchFamily="34" charset="-122"/>
                <a:cs typeface="Calibri" pitchFamily="34" charset="-120"/>
              </a:rPr>
              <a:t>E[(X − μ)²]</a:t>
            </a:r>
            <a:endParaRPr lang="en-US" sz="1350" dirty="0"/>
          </a:p>
        </p:txBody>
      </p:sp>
      <p:sp>
        <p:nvSpPr>
          <p:cNvPr id="9" name="Text 7"/>
          <p:cNvSpPr/>
          <p:nvPr/>
        </p:nvSpPr>
        <p:spPr>
          <a:xfrm>
            <a:off x="4617720" y="2057400"/>
            <a:ext cx="6766560" cy="621792"/>
          </a:xfrm>
          <a:prstGeom prst="rect">
            <a:avLst/>
          </a:prstGeom>
          <a:noFill/>
          <a:ln/>
        </p:spPr>
        <p:txBody>
          <a:bodyPr wrap="square" lIns="0" tIns="0" rIns="0" bIns="0" rtlCol="0" anchor="ctr"/>
          <a:lstStyle/>
          <a:p>
            <a:pPr indent="0" marL="0">
              <a:lnSpc>
                <a:spcPts val="1600"/>
              </a:lnSpc>
              <a:buNone/>
            </a:pPr>
            <a:r>
              <a:rPr lang="en-US" sz="1250" dirty="0">
                <a:solidFill>
                  <a:srgbClr val="2C3A55"/>
                </a:solidFill>
                <a:latin typeface="Calibri" pitchFamily="34" charset="0"/>
                <a:ea typeface="Calibri" pitchFamily="34" charset="-122"/>
                <a:cs typeface="Calibri" pitchFamily="34" charset="-120"/>
              </a:rPr>
              <a:t>Base algebraica de casi todo lo que viene. Unidades al cuadrado: no se reporta, se opera.</a:t>
            </a:r>
            <a:endParaRPr lang="en-US" sz="1250" dirty="0"/>
          </a:p>
        </p:txBody>
      </p:sp>
      <p:sp>
        <p:nvSpPr>
          <p:cNvPr id="10" name="Shape 8"/>
          <p:cNvSpPr/>
          <p:nvPr/>
        </p:nvSpPr>
        <p:spPr>
          <a:xfrm>
            <a:off x="548640" y="2843784"/>
            <a:ext cx="11064240" cy="786384"/>
          </a:xfrm>
          <a:prstGeom prst="roundRect">
            <a:avLst>
              <a:gd name="adj" fmla="val 6977"/>
            </a:avLst>
          </a:prstGeom>
          <a:solidFill>
            <a:srgbClr val="E9EEF8"/>
          </a:solidFill>
          <a:ln w="12700">
            <a:solidFill>
              <a:srgbClr val="D2DBEC"/>
            </a:solidFill>
            <a:prstDash val="solid"/>
          </a:ln>
        </p:spPr>
      </p:sp>
      <p:sp>
        <p:nvSpPr>
          <p:cNvPr id="11" name="Shape 9"/>
          <p:cNvSpPr/>
          <p:nvPr/>
        </p:nvSpPr>
        <p:spPr>
          <a:xfrm>
            <a:off x="777240" y="3035808"/>
            <a:ext cx="402336" cy="402336"/>
          </a:xfrm>
          <a:prstGeom prst="ellipse">
            <a:avLst/>
          </a:prstGeom>
          <a:solidFill>
            <a:srgbClr val="1A56E8"/>
          </a:solidFill>
          <a:ln w="12700">
            <a:solidFill>
              <a:srgbClr val="1A56E8"/>
            </a:solidFill>
            <a:prstDash val="solid"/>
          </a:ln>
        </p:spPr>
      </p:sp>
      <p:sp>
        <p:nvSpPr>
          <p:cNvPr id="12" name="Text 10"/>
          <p:cNvSpPr/>
          <p:nvPr/>
        </p:nvSpPr>
        <p:spPr>
          <a:xfrm>
            <a:off x="777240" y="30358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325880" y="2935224"/>
            <a:ext cx="3017520" cy="301752"/>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Desviación estándar  σ</a:t>
            </a:r>
            <a:endParaRPr lang="en-US" sz="1400" dirty="0"/>
          </a:p>
        </p:txBody>
      </p:sp>
      <p:sp>
        <p:nvSpPr>
          <p:cNvPr id="14" name="Text 12"/>
          <p:cNvSpPr/>
          <p:nvPr/>
        </p:nvSpPr>
        <p:spPr>
          <a:xfrm>
            <a:off x="1325880" y="3255264"/>
            <a:ext cx="3017520" cy="292608"/>
          </a:xfrm>
          <a:prstGeom prst="rect">
            <a:avLst/>
          </a:prstGeom>
          <a:noFill/>
          <a:ln/>
        </p:spPr>
        <p:txBody>
          <a:bodyPr wrap="square" lIns="0" tIns="0" rIns="0" bIns="0" rtlCol="0" anchor="ctr"/>
          <a:lstStyle/>
          <a:p>
            <a:pPr indent="0" marL="0">
              <a:buNone/>
            </a:pPr>
            <a:r>
              <a:rPr lang="en-US" sz="1350" i="1" dirty="0">
                <a:solidFill>
                  <a:srgbClr val="E6115E"/>
                </a:solidFill>
                <a:latin typeface="Calibri" pitchFamily="34" charset="0"/>
                <a:ea typeface="Calibri" pitchFamily="34" charset="-122"/>
                <a:cs typeface="Calibri" pitchFamily="34" charset="-120"/>
              </a:rPr>
              <a:t>√σ²</a:t>
            </a:r>
            <a:endParaRPr lang="en-US" sz="1350" dirty="0"/>
          </a:p>
        </p:txBody>
      </p:sp>
      <p:sp>
        <p:nvSpPr>
          <p:cNvPr id="15" name="Text 13"/>
          <p:cNvSpPr/>
          <p:nvPr/>
        </p:nvSpPr>
        <p:spPr>
          <a:xfrm>
            <a:off x="4617720" y="2935224"/>
            <a:ext cx="6766560" cy="621792"/>
          </a:xfrm>
          <a:prstGeom prst="rect">
            <a:avLst/>
          </a:prstGeom>
          <a:noFill/>
          <a:ln/>
        </p:spPr>
        <p:txBody>
          <a:bodyPr wrap="square" lIns="0" tIns="0" rIns="0" bIns="0" rtlCol="0" anchor="ctr"/>
          <a:lstStyle/>
          <a:p>
            <a:pPr indent="0" marL="0">
              <a:lnSpc>
                <a:spcPts val="1600"/>
              </a:lnSpc>
              <a:buNone/>
            </a:pPr>
            <a:r>
              <a:rPr lang="en-US" sz="1250" dirty="0">
                <a:solidFill>
                  <a:srgbClr val="2C3A55"/>
                </a:solidFill>
                <a:latin typeface="Calibri" pitchFamily="34" charset="0"/>
                <a:ea typeface="Calibri" pitchFamily="34" charset="-122"/>
                <a:cs typeface="Calibri" pitchFamily="34" charset="-120"/>
              </a:rPr>
              <a:t>Misma unidad que el dato. Es la medida por defecto para reportar.</a:t>
            </a:r>
            <a:endParaRPr lang="en-US" sz="1250" dirty="0"/>
          </a:p>
        </p:txBody>
      </p:sp>
      <p:sp>
        <p:nvSpPr>
          <p:cNvPr id="16" name="Shape 14"/>
          <p:cNvSpPr/>
          <p:nvPr/>
        </p:nvSpPr>
        <p:spPr>
          <a:xfrm>
            <a:off x="548640" y="3721608"/>
            <a:ext cx="11064240" cy="786384"/>
          </a:xfrm>
          <a:prstGeom prst="roundRect">
            <a:avLst>
              <a:gd name="adj" fmla="val 6977"/>
            </a:avLst>
          </a:prstGeom>
          <a:solidFill>
            <a:srgbClr val="E9EEF8"/>
          </a:solidFill>
          <a:ln w="12700">
            <a:solidFill>
              <a:srgbClr val="D2DBEC"/>
            </a:solidFill>
            <a:prstDash val="solid"/>
          </a:ln>
        </p:spPr>
      </p:sp>
      <p:sp>
        <p:nvSpPr>
          <p:cNvPr id="17" name="Shape 15"/>
          <p:cNvSpPr/>
          <p:nvPr/>
        </p:nvSpPr>
        <p:spPr>
          <a:xfrm>
            <a:off x="777240" y="3913632"/>
            <a:ext cx="402336" cy="402336"/>
          </a:xfrm>
          <a:prstGeom prst="ellipse">
            <a:avLst/>
          </a:prstGeom>
          <a:solidFill>
            <a:srgbClr val="E6115E"/>
          </a:solidFill>
          <a:ln w="12700">
            <a:solidFill>
              <a:srgbClr val="E6115E"/>
            </a:solidFill>
            <a:prstDash val="solid"/>
          </a:ln>
        </p:spPr>
      </p:sp>
      <p:sp>
        <p:nvSpPr>
          <p:cNvPr id="18" name="Text 16"/>
          <p:cNvSpPr/>
          <p:nvPr/>
        </p:nvSpPr>
        <p:spPr>
          <a:xfrm>
            <a:off x="777240" y="39136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325880" y="3813048"/>
            <a:ext cx="3017520" cy="301752"/>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Coeficiente de variación</a:t>
            </a:r>
            <a:endParaRPr lang="en-US" sz="1400" dirty="0"/>
          </a:p>
        </p:txBody>
      </p:sp>
      <p:sp>
        <p:nvSpPr>
          <p:cNvPr id="20" name="Text 18"/>
          <p:cNvSpPr/>
          <p:nvPr/>
        </p:nvSpPr>
        <p:spPr>
          <a:xfrm>
            <a:off x="1325880" y="4133088"/>
            <a:ext cx="3017520" cy="292608"/>
          </a:xfrm>
          <a:prstGeom prst="rect">
            <a:avLst/>
          </a:prstGeom>
          <a:noFill/>
          <a:ln/>
        </p:spPr>
        <p:txBody>
          <a:bodyPr wrap="square" lIns="0" tIns="0" rIns="0" bIns="0" rtlCol="0" anchor="ctr"/>
          <a:lstStyle/>
          <a:p>
            <a:pPr indent="0" marL="0">
              <a:buNone/>
            </a:pPr>
            <a:r>
              <a:rPr lang="en-US" sz="1350" i="1" dirty="0">
                <a:solidFill>
                  <a:srgbClr val="E6115E"/>
                </a:solidFill>
                <a:latin typeface="Calibri" pitchFamily="34" charset="0"/>
                <a:ea typeface="Calibri" pitchFamily="34" charset="-122"/>
                <a:cs typeface="Calibri" pitchFamily="34" charset="-120"/>
              </a:rPr>
              <a:t>σ / μ</a:t>
            </a:r>
            <a:endParaRPr lang="en-US" sz="1350" dirty="0"/>
          </a:p>
        </p:txBody>
      </p:sp>
      <p:sp>
        <p:nvSpPr>
          <p:cNvPr id="21" name="Text 19"/>
          <p:cNvSpPr/>
          <p:nvPr/>
        </p:nvSpPr>
        <p:spPr>
          <a:xfrm>
            <a:off x="4617720" y="3813048"/>
            <a:ext cx="6766560" cy="621792"/>
          </a:xfrm>
          <a:prstGeom prst="rect">
            <a:avLst/>
          </a:prstGeom>
          <a:noFill/>
          <a:ln/>
        </p:spPr>
        <p:txBody>
          <a:bodyPr wrap="square" lIns="0" tIns="0" rIns="0" bIns="0" rtlCol="0" anchor="ctr"/>
          <a:lstStyle/>
          <a:p>
            <a:pPr indent="0" marL="0">
              <a:lnSpc>
                <a:spcPts val="1600"/>
              </a:lnSpc>
              <a:buNone/>
            </a:pPr>
            <a:r>
              <a:rPr lang="en-US" sz="1250" dirty="0">
                <a:solidFill>
                  <a:srgbClr val="2C3A55"/>
                </a:solidFill>
                <a:latin typeface="Calibri" pitchFamily="34" charset="0"/>
                <a:ea typeface="Calibri" pitchFamily="34" charset="-122"/>
                <a:cs typeface="Calibri" pitchFamily="34" charset="-120"/>
              </a:rPr>
              <a:t>Adimensional: compara dispersión entre variables de escalas distintas.</a:t>
            </a:r>
            <a:endParaRPr lang="en-US" sz="1250" dirty="0"/>
          </a:p>
        </p:txBody>
      </p:sp>
      <p:sp>
        <p:nvSpPr>
          <p:cNvPr id="22" name="Shape 20"/>
          <p:cNvSpPr/>
          <p:nvPr/>
        </p:nvSpPr>
        <p:spPr>
          <a:xfrm>
            <a:off x="548640" y="4599432"/>
            <a:ext cx="11064240" cy="786384"/>
          </a:xfrm>
          <a:prstGeom prst="roundRect">
            <a:avLst>
              <a:gd name="adj" fmla="val 6977"/>
            </a:avLst>
          </a:prstGeom>
          <a:solidFill>
            <a:srgbClr val="E9EEF8"/>
          </a:solidFill>
          <a:ln w="12700">
            <a:solidFill>
              <a:srgbClr val="D2DBEC"/>
            </a:solidFill>
            <a:prstDash val="solid"/>
          </a:ln>
        </p:spPr>
      </p:sp>
      <p:sp>
        <p:nvSpPr>
          <p:cNvPr id="23" name="Shape 21"/>
          <p:cNvSpPr/>
          <p:nvPr/>
        </p:nvSpPr>
        <p:spPr>
          <a:xfrm>
            <a:off x="777240" y="4791456"/>
            <a:ext cx="402336" cy="402336"/>
          </a:xfrm>
          <a:prstGeom prst="ellipse">
            <a:avLst/>
          </a:prstGeom>
          <a:solidFill>
            <a:srgbClr val="E6115E"/>
          </a:solidFill>
          <a:ln w="12700">
            <a:solidFill>
              <a:srgbClr val="E6115E"/>
            </a:solidFill>
            <a:prstDash val="solid"/>
          </a:ln>
        </p:spPr>
      </p:sp>
      <p:sp>
        <p:nvSpPr>
          <p:cNvPr id="24" name="Text 22"/>
          <p:cNvSpPr/>
          <p:nvPr/>
        </p:nvSpPr>
        <p:spPr>
          <a:xfrm>
            <a:off x="777240" y="4791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1325880" y="4690872"/>
            <a:ext cx="3017520" cy="301752"/>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Rango interquartílico</a:t>
            </a:r>
            <a:endParaRPr lang="en-US" sz="1400" dirty="0"/>
          </a:p>
        </p:txBody>
      </p:sp>
      <p:sp>
        <p:nvSpPr>
          <p:cNvPr id="26" name="Text 24"/>
          <p:cNvSpPr/>
          <p:nvPr/>
        </p:nvSpPr>
        <p:spPr>
          <a:xfrm>
            <a:off x="1325880" y="5010912"/>
            <a:ext cx="3017520" cy="292608"/>
          </a:xfrm>
          <a:prstGeom prst="rect">
            <a:avLst/>
          </a:prstGeom>
          <a:noFill/>
          <a:ln/>
        </p:spPr>
        <p:txBody>
          <a:bodyPr wrap="square" lIns="0" tIns="0" rIns="0" bIns="0" rtlCol="0" anchor="ctr"/>
          <a:lstStyle/>
          <a:p>
            <a:pPr indent="0" marL="0">
              <a:buNone/>
            </a:pPr>
            <a:r>
              <a:rPr lang="en-US" sz="1350" i="1" dirty="0">
                <a:solidFill>
                  <a:srgbClr val="E6115E"/>
                </a:solidFill>
                <a:latin typeface="Calibri" pitchFamily="34" charset="0"/>
                <a:ea typeface="Calibri" pitchFamily="34" charset="-122"/>
                <a:cs typeface="Calibri" pitchFamily="34" charset="-120"/>
              </a:rPr>
              <a:t>Q₃ − Q₁</a:t>
            </a:r>
            <a:endParaRPr lang="en-US" sz="1350" dirty="0"/>
          </a:p>
        </p:txBody>
      </p:sp>
      <p:sp>
        <p:nvSpPr>
          <p:cNvPr id="27" name="Text 25"/>
          <p:cNvSpPr/>
          <p:nvPr/>
        </p:nvSpPr>
        <p:spPr>
          <a:xfrm>
            <a:off x="4617720" y="4690872"/>
            <a:ext cx="6766560" cy="621792"/>
          </a:xfrm>
          <a:prstGeom prst="rect">
            <a:avLst/>
          </a:prstGeom>
          <a:noFill/>
          <a:ln/>
        </p:spPr>
        <p:txBody>
          <a:bodyPr wrap="square" lIns="0" tIns="0" rIns="0" bIns="0" rtlCol="0" anchor="ctr"/>
          <a:lstStyle/>
          <a:p>
            <a:pPr indent="0" marL="0">
              <a:lnSpc>
                <a:spcPts val="1600"/>
              </a:lnSpc>
              <a:buNone/>
            </a:pPr>
            <a:r>
              <a:rPr lang="en-US" sz="1250" dirty="0">
                <a:solidFill>
                  <a:srgbClr val="2C3A55"/>
                </a:solidFill>
                <a:latin typeface="Calibri" pitchFamily="34" charset="0"/>
                <a:ea typeface="Calibri" pitchFamily="34" charset="-122"/>
                <a:cs typeface="Calibri" pitchFamily="34" charset="-120"/>
              </a:rPr>
              <a:t>Robusto a outliers. Úsalo cuando la distribución es asimétrica o sucia.</a:t>
            </a:r>
            <a:endParaRPr lang="en-US" sz="1250" dirty="0"/>
          </a:p>
        </p:txBody>
      </p:sp>
      <p:sp>
        <p:nvSpPr>
          <p:cNvPr id="28" name="Shape 26"/>
          <p:cNvSpPr/>
          <p:nvPr/>
        </p:nvSpPr>
        <p:spPr>
          <a:xfrm>
            <a:off x="548640" y="5532120"/>
            <a:ext cx="11064240" cy="777240"/>
          </a:xfrm>
          <a:prstGeom prst="roundRect">
            <a:avLst>
              <a:gd name="adj" fmla="val 7059"/>
            </a:avLst>
          </a:prstGeom>
          <a:solidFill>
            <a:srgbClr val="DCE6F8"/>
          </a:solidFill>
          <a:ln w="12700">
            <a:solidFill>
              <a:srgbClr val="C3D5F5"/>
            </a:solidFill>
            <a:prstDash val="solid"/>
          </a:ln>
        </p:spPr>
      </p:sp>
      <p:sp>
        <p:nvSpPr>
          <p:cNvPr id="29" name="Shape 27"/>
          <p:cNvSpPr/>
          <p:nvPr/>
        </p:nvSpPr>
        <p:spPr>
          <a:xfrm>
            <a:off x="786384" y="5861304"/>
            <a:ext cx="118872" cy="118872"/>
          </a:xfrm>
          <a:prstGeom prst="roundRect">
            <a:avLst>
              <a:gd name="adj" fmla="val 30769"/>
            </a:avLst>
          </a:prstGeom>
          <a:solidFill>
            <a:srgbClr val="E6115E"/>
          </a:solidFill>
          <a:ln w="12700">
            <a:solidFill>
              <a:srgbClr val="E6115E"/>
            </a:solidFill>
            <a:prstDash val="solid"/>
          </a:ln>
        </p:spPr>
      </p:sp>
      <p:sp>
        <p:nvSpPr>
          <p:cNvPr id="30" name="Text 28"/>
          <p:cNvSpPr/>
          <p:nvPr/>
        </p:nvSpPr>
        <p:spPr>
          <a:xfrm>
            <a:off x="1024128" y="5532120"/>
            <a:ext cx="10332720" cy="777240"/>
          </a:xfrm>
          <a:prstGeom prst="rect">
            <a:avLst/>
          </a:prstGeom>
          <a:noFill/>
          <a:ln/>
        </p:spPr>
        <p:txBody>
          <a:bodyPr wrap="square" lIns="0" tIns="0" rIns="0" bIns="0" rtlCol="0" anchor="ctr"/>
          <a:lstStyle/>
          <a:p>
            <a:pPr indent="0" marL="0">
              <a:lnSpc>
                <a:spcPts val="1725"/>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725"/>
              </a:lnSpc>
              <a:buNone/>
            </a:pPr>
            <a:r>
              <a:rPr lang="en-US" sz="1250" dirty="0">
                <a:solidFill>
                  <a:srgbClr val="0A2559"/>
                </a:solidFill>
                <a:latin typeface="Calibri" pitchFamily="34" charset="0"/>
                <a:ea typeface="Calibri" pitchFamily="34" charset="-122"/>
                <a:cs typeface="Calibri" pitchFamily="34" charset="-120"/>
              </a:rPr>
              <a:t>Dos rutas al trabajo con la misma duración promedio de 40 minutos: una siempre tarda entre 38 y 42; la otra, entre 20 y 90. Si tienes reunión a las 9, la media es irrelevante — la varianza decide qué ruta tomas.</a:t>
            </a:r>
            <a:endParaRPr lang="en-US" sz="1000" dirty="0"/>
          </a:p>
        </p:txBody>
      </p:sp>
      <p:sp>
        <p:nvSpPr>
          <p:cNvPr id="31" name="Text 29"/>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32" name="Text 30"/>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Variable aleatoria: no es una variable, es una función</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Traduce resultados del mundo real a números con los que se puede hacer matemática</a:t>
            </a:r>
            <a:endParaRPr lang="en-US" sz="1450" dirty="0"/>
          </a:p>
        </p:txBody>
      </p:sp>
      <p:sp>
        <p:nvSpPr>
          <p:cNvPr id="4" name="Shape 2"/>
          <p:cNvSpPr/>
          <p:nvPr/>
        </p:nvSpPr>
        <p:spPr>
          <a:xfrm>
            <a:off x="548640" y="1920240"/>
            <a:ext cx="5577840" cy="1645920"/>
          </a:xfrm>
          <a:prstGeom prst="roundRect">
            <a:avLst>
              <a:gd name="adj" fmla="val 3333"/>
            </a:avLst>
          </a:prstGeom>
          <a:solidFill>
            <a:srgbClr val="0A2559"/>
          </a:solidFill>
          <a:ln w="12700">
            <a:solidFill>
              <a:srgbClr val="0A2559"/>
            </a:solidFill>
            <a:prstDash val="solid"/>
          </a:ln>
        </p:spPr>
      </p:sp>
      <p:sp>
        <p:nvSpPr>
          <p:cNvPr id="5" name="Text 3"/>
          <p:cNvSpPr/>
          <p:nvPr/>
        </p:nvSpPr>
        <p:spPr>
          <a:xfrm>
            <a:off x="777240" y="2148840"/>
            <a:ext cx="512064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X :  Ω  →  ℝ</a:t>
            </a:r>
            <a:endParaRPr lang="en-US" sz="2800" dirty="0"/>
          </a:p>
        </p:txBody>
      </p:sp>
      <p:sp>
        <p:nvSpPr>
          <p:cNvPr id="6" name="Text 4"/>
          <p:cNvSpPr/>
          <p:nvPr/>
        </p:nvSpPr>
        <p:spPr>
          <a:xfrm>
            <a:off x="777240" y="2743200"/>
            <a:ext cx="5120640" cy="685800"/>
          </a:xfrm>
          <a:prstGeom prst="rect">
            <a:avLst/>
          </a:prstGeom>
          <a:noFill/>
          <a:ln/>
        </p:spPr>
        <p:txBody>
          <a:bodyPr wrap="square" lIns="0" tIns="0" rIns="0" bIns="0" rtlCol="0" anchor="ctr"/>
          <a:lstStyle/>
          <a:p>
            <a:pPr indent="0" marL="0">
              <a:lnSpc>
                <a:spcPts val="1700"/>
              </a:lnSpc>
              <a:buNone/>
            </a:pPr>
            <a:r>
              <a:rPr lang="en-US" sz="1300" dirty="0">
                <a:solidFill>
                  <a:srgbClr val="C3D2EE"/>
                </a:solidFill>
                <a:latin typeface="Calibri" pitchFamily="34" charset="0"/>
                <a:ea typeface="Calibri" pitchFamily="34" charset="-122"/>
                <a:cs typeface="Calibri" pitchFamily="34" charset="-120"/>
              </a:rPr>
              <a:t>Asigna a cada resultado posible del experimento (Ω) un número real.</a:t>
            </a:r>
            <a:endParaRPr lang="en-US" sz="1300" dirty="0"/>
          </a:p>
        </p:txBody>
      </p:sp>
      <p:sp>
        <p:nvSpPr>
          <p:cNvPr id="7" name="Shape 5"/>
          <p:cNvSpPr/>
          <p:nvPr/>
        </p:nvSpPr>
        <p:spPr>
          <a:xfrm>
            <a:off x="548640" y="3840480"/>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786384" y="3749040"/>
            <a:ext cx="5340096" cy="310896"/>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Ejemplo: tres visitantes en tu landing</a:t>
            </a:r>
            <a:endParaRPr lang="en-US" sz="1350" dirty="0"/>
          </a:p>
        </p:txBody>
      </p:sp>
      <p:sp>
        <p:nvSpPr>
          <p:cNvPr id="9" name="Text 7"/>
          <p:cNvSpPr/>
          <p:nvPr/>
        </p:nvSpPr>
        <p:spPr>
          <a:xfrm>
            <a:off x="658368" y="4160520"/>
            <a:ext cx="5486400" cy="11887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Ω = {NNN, CNN, NCN, NNC, CCN, CNC, NCC, CCC}</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X = número de conversiones → X ∈ {0, 1, 2, 3}</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El azar está en Ω; X solo lo traduce a un número</a:t>
            </a:r>
            <a:endParaRPr lang="en-US" sz="1250" dirty="0"/>
          </a:p>
        </p:txBody>
      </p:sp>
      <p:sp>
        <p:nvSpPr>
          <p:cNvPr id="10" name="Shape 8"/>
          <p:cNvSpPr/>
          <p:nvPr/>
        </p:nvSpPr>
        <p:spPr>
          <a:xfrm>
            <a:off x="6446520" y="1920240"/>
            <a:ext cx="5166360" cy="3337560"/>
          </a:xfrm>
          <a:prstGeom prst="roundRect">
            <a:avLst>
              <a:gd name="adj" fmla="val 1644"/>
            </a:avLst>
          </a:prstGeom>
          <a:solidFill>
            <a:srgbClr val="E9EEF8"/>
          </a:solidFill>
          <a:ln w="12700">
            <a:solidFill>
              <a:srgbClr val="D2DBEC"/>
            </a:solidFill>
            <a:prstDash val="solid"/>
          </a:ln>
        </p:spPr>
      </p:sp>
      <p:sp>
        <p:nvSpPr>
          <p:cNvPr id="11" name="Shape 9"/>
          <p:cNvSpPr/>
          <p:nvPr/>
        </p:nvSpPr>
        <p:spPr>
          <a:xfrm>
            <a:off x="6675120" y="2194560"/>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6912864" y="2103120"/>
            <a:ext cx="4471416" cy="310896"/>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Por qué esto importa en la práctica</a:t>
            </a:r>
            <a:endParaRPr lang="en-US" sz="1350" dirty="0"/>
          </a:p>
        </p:txBody>
      </p:sp>
      <p:sp>
        <p:nvSpPr>
          <p:cNvPr id="13" name="Text 11"/>
          <p:cNvSpPr/>
          <p:nvPr/>
        </p:nvSpPr>
        <p:spPr>
          <a:xfrm>
            <a:off x="6693408" y="2560320"/>
            <a:ext cx="4663440" cy="2560320"/>
          </a:xfrm>
          <a:prstGeom prst="rect">
            <a:avLst/>
          </a:prstGeom>
          <a:noFill/>
          <a:ln/>
        </p:spPr>
        <p:txBody>
          <a:bodyPr wrap="square" lIns="0" tIns="0" rIns="0" bIns="0" rtlCol="0" anchor="t"/>
          <a:lstStyle/>
          <a:p>
            <a:pPr marL="342900" indent="-342900">
              <a:lnSpc>
                <a:spcPts val="1700"/>
              </a:lnSpc>
              <a:spcAft>
                <a:spcPts val="1100"/>
              </a:spcAft>
              <a:buSzPct val="100000"/>
              <a:buChar char="•"/>
            </a:pPr>
            <a:r>
              <a:rPr lang="en-US" sz="1250" dirty="0">
                <a:solidFill>
                  <a:srgbClr val="2C3A55"/>
                </a:solidFill>
                <a:latin typeface="Calibri" pitchFamily="34" charset="0"/>
                <a:ea typeface="Calibri" pitchFamily="34" charset="-122"/>
                <a:cs typeface="Calibri" pitchFamily="34" charset="-120"/>
              </a:rPr>
              <a:t>Permite hablar de P(X = 2) o P(X ≥ 1) sin describir todo el espacio muestral.</a:t>
            </a:r>
            <a:endParaRPr lang="en-US" sz="1250" dirty="0"/>
          </a:p>
          <a:p>
            <a:pPr marL="342900" indent="-342900">
              <a:lnSpc>
                <a:spcPts val="1700"/>
              </a:lnSpc>
              <a:spcAft>
                <a:spcPts val="1100"/>
              </a:spcAft>
              <a:buSzPct val="100000"/>
              <a:buChar char="•"/>
            </a:pPr>
            <a:r>
              <a:rPr lang="en-US" sz="1250" dirty="0">
                <a:solidFill>
                  <a:srgbClr val="2C3A55"/>
                </a:solidFill>
                <a:latin typeface="Calibri" pitchFamily="34" charset="0"/>
                <a:ea typeface="Calibri" pitchFamily="34" charset="-122"/>
                <a:cs typeface="Calibri" pitchFamily="34" charset="-120"/>
              </a:rPr>
              <a:t>Permite calcular esperanza y varianza: presupuestar y dimensionar riesgo.</a:t>
            </a:r>
            <a:endParaRPr lang="en-US" sz="1250" dirty="0"/>
          </a:p>
          <a:p>
            <a:pPr marL="342900" indent="-342900">
              <a:lnSpc>
                <a:spcPts val="1700"/>
              </a:lnSpc>
              <a:spcAft>
                <a:spcPts val="1100"/>
              </a:spcAft>
              <a:buSzPct val="100000"/>
              <a:buChar char="•"/>
            </a:pPr>
            <a:r>
              <a:rPr lang="en-US" sz="1250" dirty="0">
                <a:solidFill>
                  <a:srgbClr val="2C3A55"/>
                </a:solidFill>
                <a:latin typeface="Calibri" pitchFamily="34" charset="0"/>
                <a:ea typeface="Calibri" pitchFamily="34" charset="-122"/>
                <a:cs typeface="Calibri" pitchFamily="34" charset="-120"/>
              </a:rPr>
              <a:t>Permite elegir un modelo: si sé cómo se comporta X, sé qué distribución le corresponde.</a:t>
            </a:r>
            <a:endParaRPr lang="en-US" sz="1250" dirty="0"/>
          </a:p>
          <a:p>
            <a:pPr marL="342900" indent="-342900">
              <a:lnSpc>
                <a:spcPts val="1700"/>
              </a:lnSpc>
              <a:spcAft>
                <a:spcPts val="1100"/>
              </a:spcAft>
              <a:buSzPct val="100000"/>
              <a:buChar char="•"/>
            </a:pPr>
            <a:r>
              <a:rPr lang="en-US" sz="1250" dirty="0">
                <a:solidFill>
                  <a:srgbClr val="2C3A55"/>
                </a:solidFill>
                <a:latin typeface="Calibri" pitchFamily="34" charset="0"/>
                <a:ea typeface="Calibri" pitchFamily="34" charset="-122"/>
                <a:cs typeface="Calibri" pitchFamily="34" charset="-120"/>
              </a:rPr>
              <a:t>Todo modelo de ML es, en el fondo, un supuesto sobre la distribución de una variable aleatoria.</a:t>
            </a:r>
            <a:endParaRPr lang="en-US" sz="1250" dirty="0"/>
          </a:p>
        </p:txBody>
      </p:sp>
      <p:sp>
        <p:nvSpPr>
          <p:cNvPr id="14" name="Shape 12"/>
          <p:cNvSpPr/>
          <p:nvPr/>
        </p:nvSpPr>
        <p:spPr>
          <a:xfrm>
            <a:off x="548640" y="5440680"/>
            <a:ext cx="11064240" cy="868680"/>
          </a:xfrm>
          <a:prstGeom prst="roundRect">
            <a:avLst>
              <a:gd name="adj" fmla="val 6316"/>
            </a:avLst>
          </a:prstGeom>
          <a:solidFill>
            <a:srgbClr val="DCE6F8"/>
          </a:solidFill>
          <a:ln w="12700">
            <a:solidFill>
              <a:srgbClr val="C3D5F5"/>
            </a:solidFill>
            <a:prstDash val="solid"/>
          </a:ln>
        </p:spPr>
      </p:sp>
      <p:sp>
        <p:nvSpPr>
          <p:cNvPr id="15" name="Shape 13"/>
          <p:cNvSpPr/>
          <p:nvPr/>
        </p:nvSpPr>
        <p:spPr>
          <a:xfrm>
            <a:off x="786384" y="5815584"/>
            <a:ext cx="118872" cy="118872"/>
          </a:xfrm>
          <a:prstGeom prst="roundRect">
            <a:avLst>
              <a:gd name="adj" fmla="val 30769"/>
            </a:avLst>
          </a:prstGeom>
          <a:solidFill>
            <a:srgbClr val="E6115E"/>
          </a:solidFill>
          <a:ln w="12700">
            <a:solidFill>
              <a:srgbClr val="E6115E"/>
            </a:solidFill>
            <a:prstDash val="solid"/>
          </a:ln>
        </p:spPr>
      </p:sp>
      <p:sp>
        <p:nvSpPr>
          <p:cNvPr id="16" name="Text 14"/>
          <p:cNvSpPr/>
          <p:nvPr/>
        </p:nvSpPr>
        <p:spPr>
          <a:xfrm>
            <a:off x="1024128" y="5440680"/>
            <a:ext cx="10332720" cy="868680"/>
          </a:xfrm>
          <a:prstGeom prst="rect">
            <a:avLst/>
          </a:prstGeom>
          <a:noFill/>
          <a:ln/>
        </p:spPr>
        <p:txBody>
          <a:bodyPr wrap="square" lIns="0" tIns="0" rIns="0" bIns="0" rtlCol="0" anchor="ctr"/>
          <a:lstStyle/>
          <a:p>
            <a:pPr indent="0" marL="0">
              <a:lnSpc>
                <a:spcPts val="1725"/>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725"/>
              </a:lnSpc>
              <a:buNone/>
            </a:pPr>
            <a:r>
              <a:rPr lang="en-US" sz="1250" dirty="0">
                <a:solidFill>
                  <a:srgbClr val="0A2559"/>
                </a:solidFill>
                <a:latin typeface="Calibri" pitchFamily="34" charset="0"/>
                <a:ea typeface="Calibri" pitchFamily="34" charset="-122"/>
                <a:cs typeface="Calibri" pitchFamily="34" charset="-120"/>
              </a:rPr>
              <a:t>El marcador de un partido. El partido es el caos: 22 jugadores, lluvia, un árbitro dudoso — eso es Ω. El marcador 2–1 es X: no es el partido, es su traducción a números. Y es lo único con lo que puedes armar una tabla, un promedio o una apuesta.</a:t>
            </a:r>
            <a:endParaRPr lang="en-US" sz="1000" dirty="0"/>
          </a:p>
        </p:txBody>
      </p:sp>
      <p:sp>
        <p:nvSpPr>
          <p:cNvPr id="17" name="Text 15"/>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18" name="Text 16"/>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Discreta o continua: la primera decisión de modelado</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No depende del dato que ves, sino de lo que la variable puede llegar a valer</a:t>
            </a:r>
            <a:endParaRPr lang="en-US" sz="1450" dirty="0"/>
          </a:p>
        </p:txBody>
      </p:sp>
      <p:sp>
        <p:nvSpPr>
          <p:cNvPr id="4" name="Shape 2"/>
          <p:cNvSpPr/>
          <p:nvPr/>
        </p:nvSpPr>
        <p:spPr>
          <a:xfrm>
            <a:off x="548640" y="1920240"/>
            <a:ext cx="5394960" cy="3383280"/>
          </a:xfrm>
          <a:prstGeom prst="roundRect">
            <a:avLst>
              <a:gd name="adj" fmla="val 1622"/>
            </a:avLst>
          </a:prstGeom>
          <a:solidFill>
            <a:srgbClr val="E9EEF8"/>
          </a:solidFill>
          <a:ln w="12700">
            <a:solidFill>
              <a:srgbClr val="D2DBEC"/>
            </a:solidFill>
            <a:prstDash val="solid"/>
          </a:ln>
        </p:spPr>
      </p:sp>
      <p:sp>
        <p:nvSpPr>
          <p:cNvPr id="5" name="Shape 3"/>
          <p:cNvSpPr/>
          <p:nvPr/>
        </p:nvSpPr>
        <p:spPr>
          <a:xfrm>
            <a:off x="822960" y="2121408"/>
            <a:ext cx="1600200" cy="365760"/>
          </a:xfrm>
          <a:prstGeom prst="roundRect">
            <a:avLst>
              <a:gd name="adj" fmla="val 50000"/>
            </a:avLst>
          </a:prstGeom>
          <a:solidFill>
            <a:srgbClr val="1A56E8"/>
          </a:solidFill>
          <a:ln w="12700">
            <a:solidFill>
              <a:srgbClr val="1A56E8"/>
            </a:solidFill>
            <a:prstDash val="solid"/>
          </a:ln>
        </p:spPr>
      </p:sp>
      <p:sp>
        <p:nvSpPr>
          <p:cNvPr id="6" name="Text 4"/>
          <p:cNvSpPr/>
          <p:nvPr/>
        </p:nvSpPr>
        <p:spPr>
          <a:xfrm>
            <a:off x="822960" y="2121408"/>
            <a:ext cx="1600200" cy="365760"/>
          </a:xfrm>
          <a:prstGeom prst="rect">
            <a:avLst/>
          </a:prstGeom>
          <a:noFill/>
          <a:ln/>
        </p:spPr>
        <p:txBody>
          <a:bodyPr wrap="square" lIns="0" tIns="0" rIns="0" bIns="0" rtlCol="0" anchor="ctr"/>
          <a:lstStyle/>
          <a:p>
            <a:pPr algn="ctr" indent="0" marL="0">
              <a:buNone/>
            </a:pPr>
            <a:r>
              <a:rPr lang="en-US" sz="1150" b="1" spc="120" kern="0" dirty="0">
                <a:solidFill>
                  <a:srgbClr val="FFFFFF"/>
                </a:solidFill>
                <a:latin typeface="Calibri" pitchFamily="34" charset="0"/>
                <a:ea typeface="Calibri" pitchFamily="34" charset="-122"/>
                <a:cs typeface="Calibri" pitchFamily="34" charset="-120"/>
              </a:rPr>
              <a:t>DISCRETA</a:t>
            </a:r>
            <a:endParaRPr lang="en-US" sz="1150" dirty="0"/>
          </a:p>
        </p:txBody>
      </p:sp>
      <p:sp>
        <p:nvSpPr>
          <p:cNvPr id="7" name="Text 5"/>
          <p:cNvSpPr/>
          <p:nvPr/>
        </p:nvSpPr>
        <p:spPr>
          <a:xfrm>
            <a:off x="822960" y="2578608"/>
            <a:ext cx="4846320" cy="411480"/>
          </a:xfrm>
          <a:prstGeom prst="rect">
            <a:avLst/>
          </a:prstGeom>
          <a:noFill/>
          <a:ln/>
        </p:spPr>
        <p:txBody>
          <a:bodyPr wrap="square" lIns="0" tIns="0" rIns="0" bIns="0" rtlCol="0" anchor="ctr"/>
          <a:lstStyle/>
          <a:p>
            <a:pPr indent="0" marL="0">
              <a:lnSpc>
                <a:spcPts val="1600"/>
              </a:lnSpc>
              <a:buNone/>
            </a:pPr>
            <a:r>
              <a:rPr lang="en-US" sz="1250" b="1" dirty="0">
                <a:solidFill>
                  <a:srgbClr val="0A2559"/>
                </a:solidFill>
                <a:latin typeface="Calibri" pitchFamily="34" charset="0"/>
                <a:ea typeface="Calibri" pitchFamily="34" charset="-122"/>
                <a:cs typeface="Calibri" pitchFamily="34" charset="-120"/>
              </a:rPr>
              <a:t>Valores contables. Se define por su PMF: P(X = k)</a:t>
            </a:r>
            <a:endParaRPr lang="en-US" sz="1250" dirty="0"/>
          </a:p>
        </p:txBody>
      </p:sp>
      <p:sp>
        <p:nvSpPr>
          <p:cNvPr id="8" name="Text 6"/>
          <p:cNvSpPr/>
          <p:nvPr/>
        </p:nvSpPr>
        <p:spPr>
          <a:xfrm>
            <a:off x="841248" y="3063240"/>
            <a:ext cx="4800600" cy="16459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Nº de conversiones en 1,000 visitas</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Nº de reclamos por hora</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Nº de intentos hasta el primer pago</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¿El cliente cayó en default? (0/1)</a:t>
            </a:r>
            <a:endParaRPr lang="en-US" sz="1250" dirty="0"/>
          </a:p>
        </p:txBody>
      </p:sp>
      <p:sp>
        <p:nvSpPr>
          <p:cNvPr id="9" name="Shape 7"/>
          <p:cNvSpPr/>
          <p:nvPr/>
        </p:nvSpPr>
        <p:spPr>
          <a:xfrm>
            <a:off x="822960" y="4681728"/>
            <a:ext cx="4846320" cy="457200"/>
          </a:xfrm>
          <a:prstGeom prst="roundRect">
            <a:avLst>
              <a:gd name="adj" fmla="val 12000"/>
            </a:avLst>
          </a:prstGeom>
          <a:solidFill>
            <a:srgbClr val="DCE6F8"/>
          </a:solidFill>
          <a:ln w="12700">
            <a:solidFill>
              <a:srgbClr val="DCE6F8"/>
            </a:solidFill>
            <a:prstDash val="solid"/>
          </a:ln>
        </p:spPr>
      </p:sp>
      <p:sp>
        <p:nvSpPr>
          <p:cNvPr id="10" name="Text 8"/>
          <p:cNvSpPr/>
          <p:nvPr/>
        </p:nvSpPr>
        <p:spPr>
          <a:xfrm>
            <a:off x="960120" y="4681728"/>
            <a:ext cx="4572000" cy="457200"/>
          </a:xfrm>
          <a:prstGeom prst="rect">
            <a:avLst/>
          </a:prstGeom>
          <a:noFill/>
          <a:ln/>
        </p:spPr>
        <p:txBody>
          <a:bodyPr wrap="square" lIns="0" tIns="0" rIns="0" bIns="0" rtlCol="0" anchor="ctr"/>
          <a:lstStyle/>
          <a:p>
            <a:pPr indent="0" marL="0">
              <a:buNone/>
            </a:pPr>
            <a:r>
              <a:rPr lang="en-US" sz="1200" b="1" dirty="0">
                <a:solidFill>
                  <a:srgbClr val="1A56E8"/>
                </a:solidFill>
                <a:latin typeface="Calibri" pitchFamily="34" charset="0"/>
                <a:ea typeface="Calibri" pitchFamily="34" charset="-122"/>
                <a:cs typeface="Calibri" pitchFamily="34" charset="-120"/>
              </a:rPr>
              <a:t>P(X = k) tiene sentido y es &gt; 0</a:t>
            </a:r>
            <a:endParaRPr lang="en-US" sz="1200" dirty="0"/>
          </a:p>
        </p:txBody>
      </p:sp>
      <p:sp>
        <p:nvSpPr>
          <p:cNvPr id="11" name="Shape 9"/>
          <p:cNvSpPr/>
          <p:nvPr/>
        </p:nvSpPr>
        <p:spPr>
          <a:xfrm>
            <a:off x="6217920" y="1920240"/>
            <a:ext cx="5394960" cy="3383280"/>
          </a:xfrm>
          <a:prstGeom prst="roundRect">
            <a:avLst>
              <a:gd name="adj" fmla="val 1622"/>
            </a:avLst>
          </a:prstGeom>
          <a:solidFill>
            <a:srgbClr val="E9EEF8"/>
          </a:solidFill>
          <a:ln w="12700">
            <a:solidFill>
              <a:srgbClr val="D2DBEC"/>
            </a:solidFill>
            <a:prstDash val="solid"/>
          </a:ln>
        </p:spPr>
      </p:sp>
      <p:sp>
        <p:nvSpPr>
          <p:cNvPr id="12" name="Shape 10"/>
          <p:cNvSpPr/>
          <p:nvPr/>
        </p:nvSpPr>
        <p:spPr>
          <a:xfrm>
            <a:off x="6492240" y="2121408"/>
            <a:ext cx="1600200" cy="365760"/>
          </a:xfrm>
          <a:prstGeom prst="roundRect">
            <a:avLst>
              <a:gd name="adj" fmla="val 50000"/>
            </a:avLst>
          </a:prstGeom>
          <a:solidFill>
            <a:srgbClr val="E6115E"/>
          </a:solidFill>
          <a:ln w="12700">
            <a:solidFill>
              <a:srgbClr val="E6115E"/>
            </a:solidFill>
            <a:prstDash val="solid"/>
          </a:ln>
        </p:spPr>
      </p:sp>
      <p:sp>
        <p:nvSpPr>
          <p:cNvPr id="13" name="Text 11"/>
          <p:cNvSpPr/>
          <p:nvPr/>
        </p:nvSpPr>
        <p:spPr>
          <a:xfrm>
            <a:off x="6492240" y="2121408"/>
            <a:ext cx="1600200" cy="365760"/>
          </a:xfrm>
          <a:prstGeom prst="rect">
            <a:avLst/>
          </a:prstGeom>
          <a:noFill/>
          <a:ln/>
        </p:spPr>
        <p:txBody>
          <a:bodyPr wrap="square" lIns="0" tIns="0" rIns="0" bIns="0" rtlCol="0" anchor="ctr"/>
          <a:lstStyle/>
          <a:p>
            <a:pPr algn="ctr" indent="0" marL="0">
              <a:buNone/>
            </a:pPr>
            <a:r>
              <a:rPr lang="en-US" sz="1150" b="1" spc="120" kern="0" dirty="0">
                <a:solidFill>
                  <a:srgbClr val="FFFFFF"/>
                </a:solidFill>
                <a:latin typeface="Calibri" pitchFamily="34" charset="0"/>
                <a:ea typeface="Calibri" pitchFamily="34" charset="-122"/>
                <a:cs typeface="Calibri" pitchFamily="34" charset="-120"/>
              </a:rPr>
              <a:t>CONTINUA</a:t>
            </a:r>
            <a:endParaRPr lang="en-US" sz="1150" dirty="0"/>
          </a:p>
        </p:txBody>
      </p:sp>
      <p:sp>
        <p:nvSpPr>
          <p:cNvPr id="14" name="Text 12"/>
          <p:cNvSpPr/>
          <p:nvPr/>
        </p:nvSpPr>
        <p:spPr>
          <a:xfrm>
            <a:off x="6492240" y="2578608"/>
            <a:ext cx="4846320" cy="411480"/>
          </a:xfrm>
          <a:prstGeom prst="rect">
            <a:avLst/>
          </a:prstGeom>
          <a:noFill/>
          <a:ln/>
        </p:spPr>
        <p:txBody>
          <a:bodyPr wrap="square" lIns="0" tIns="0" rIns="0" bIns="0" rtlCol="0" anchor="ctr"/>
          <a:lstStyle/>
          <a:p>
            <a:pPr indent="0" marL="0">
              <a:lnSpc>
                <a:spcPts val="1600"/>
              </a:lnSpc>
              <a:buNone/>
            </a:pPr>
            <a:r>
              <a:rPr lang="en-US" sz="1250" b="1" dirty="0">
                <a:solidFill>
                  <a:srgbClr val="0A2559"/>
                </a:solidFill>
                <a:latin typeface="Calibri" pitchFamily="34" charset="0"/>
                <a:ea typeface="Calibri" pitchFamily="34" charset="-122"/>
                <a:cs typeface="Calibri" pitchFamily="34" charset="-120"/>
              </a:rPr>
              <a:t>Valores en un intervalo. Se define por su densidad f(x)</a:t>
            </a:r>
            <a:endParaRPr lang="en-US" sz="1250" dirty="0"/>
          </a:p>
        </p:txBody>
      </p:sp>
      <p:sp>
        <p:nvSpPr>
          <p:cNvPr id="15" name="Text 13"/>
          <p:cNvSpPr/>
          <p:nvPr/>
        </p:nvSpPr>
        <p:spPr>
          <a:xfrm>
            <a:off x="6510528" y="3063240"/>
            <a:ext cx="4800600" cy="16459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Monto del ticket de compra</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Tiempo de sesión en la app</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Score de riesgo entre 0 y 1</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Latencia de una consulta</a:t>
            </a:r>
            <a:endParaRPr lang="en-US" sz="1250" dirty="0"/>
          </a:p>
        </p:txBody>
      </p:sp>
      <p:sp>
        <p:nvSpPr>
          <p:cNvPr id="16" name="Shape 14"/>
          <p:cNvSpPr/>
          <p:nvPr/>
        </p:nvSpPr>
        <p:spPr>
          <a:xfrm>
            <a:off x="6492240" y="4681728"/>
            <a:ext cx="4846320" cy="457200"/>
          </a:xfrm>
          <a:prstGeom prst="roundRect">
            <a:avLst>
              <a:gd name="adj" fmla="val 12000"/>
            </a:avLst>
          </a:prstGeom>
          <a:solidFill>
            <a:srgbClr val="FBDCE8"/>
          </a:solidFill>
          <a:ln w="12700">
            <a:solidFill>
              <a:srgbClr val="FBDCE8"/>
            </a:solidFill>
            <a:prstDash val="solid"/>
          </a:ln>
        </p:spPr>
      </p:sp>
      <p:sp>
        <p:nvSpPr>
          <p:cNvPr id="17" name="Text 15"/>
          <p:cNvSpPr/>
          <p:nvPr/>
        </p:nvSpPr>
        <p:spPr>
          <a:xfrm>
            <a:off x="6629400" y="4681728"/>
            <a:ext cx="4572000" cy="457200"/>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P(X = k) = 0 · solo P(a ≤ X ≤ b)</a:t>
            </a:r>
            <a:endParaRPr lang="en-US" sz="1200" dirty="0"/>
          </a:p>
        </p:txBody>
      </p:sp>
      <p:sp>
        <p:nvSpPr>
          <p:cNvPr id="18" name="Shape 16"/>
          <p:cNvSpPr/>
          <p:nvPr/>
        </p:nvSpPr>
        <p:spPr>
          <a:xfrm>
            <a:off x="548640" y="5440680"/>
            <a:ext cx="11064240" cy="868680"/>
          </a:xfrm>
          <a:prstGeom prst="roundRect">
            <a:avLst>
              <a:gd name="adj" fmla="val 6316"/>
            </a:avLst>
          </a:prstGeom>
          <a:solidFill>
            <a:srgbClr val="DCE6F8"/>
          </a:solidFill>
          <a:ln w="12700">
            <a:solidFill>
              <a:srgbClr val="C3D5F5"/>
            </a:solidFill>
            <a:prstDash val="solid"/>
          </a:ln>
        </p:spPr>
      </p:sp>
      <p:sp>
        <p:nvSpPr>
          <p:cNvPr id="19" name="Shape 17"/>
          <p:cNvSpPr/>
          <p:nvPr/>
        </p:nvSpPr>
        <p:spPr>
          <a:xfrm>
            <a:off x="786384" y="5815584"/>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24128" y="5440680"/>
            <a:ext cx="10332720" cy="868680"/>
          </a:xfrm>
          <a:prstGeom prst="rect">
            <a:avLst/>
          </a:prstGeom>
          <a:noFill/>
          <a:ln/>
        </p:spPr>
        <p:txBody>
          <a:bodyPr wrap="square" lIns="0" tIns="0" rIns="0" bIns="0" rtlCol="0" anchor="ctr"/>
          <a:lstStyle/>
          <a:p>
            <a:pPr indent="0" marL="0">
              <a:lnSpc>
                <a:spcPts val="1725"/>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725"/>
              </a:lnSpc>
              <a:buNone/>
            </a:pPr>
            <a:r>
              <a:rPr lang="en-US" sz="1250" dirty="0">
                <a:solidFill>
                  <a:srgbClr val="0A2559"/>
                </a:solidFill>
                <a:latin typeface="Calibri" pitchFamily="34" charset="0"/>
                <a:ea typeface="Calibri" pitchFamily="34" charset="-122"/>
                <a:cs typeface="Calibri" pitchFamily="34" charset="-120"/>
              </a:rPr>
              <a:t>La escalera y la rampa. En la escalera te paras en el escalón 3 o en el 4, nunca en el 3.5 — tiene sentido preguntar “¿qué chance hay de estar en el 3?”. En la rampa estás en cualquier punto, y preguntar por “exactamente 3.0000 m” no significa nada: solo puedes preguntar por un tramo.</a:t>
            </a:r>
            <a:endParaRPr lang="en-US" sz="1000" dirty="0"/>
          </a:p>
        </p:txBody>
      </p:sp>
      <p:sp>
        <p:nvSpPr>
          <p:cNvPr id="21" name="Text 19"/>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2" name="Text 20"/>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PMF y CDF: las dos caras de la misma distribución</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La PMF responde “¿cuánto vale exactamente k?”. La CDF, “¿cuánto vale como máximo k?”</a:t>
            </a:r>
            <a:endParaRPr lang="en-US" sz="1450" dirty="0"/>
          </a:p>
        </p:txBody>
      </p:sp>
      <p:graphicFrame>
        <p:nvGraphicFramePr>
          <p:cNvPr id="4" name="Chart 0" descr=""/>
          <p:cNvGraphicFramePr/>
          <p:nvPr/>
        </p:nvGraphicFramePr>
        <p:xfrm>
          <a:off x="548640" y="1920240"/>
          <a:ext cx="5486400" cy="27889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920240"/>
          <a:ext cx="5440680" cy="278892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4828032"/>
            <a:ext cx="11064240" cy="566928"/>
          </a:xfrm>
          <a:prstGeom prst="roundRect">
            <a:avLst>
              <a:gd name="adj" fmla="val 9677"/>
            </a:avLst>
          </a:prstGeom>
          <a:solidFill>
            <a:srgbClr val="E9EEF8"/>
          </a:solidFill>
          <a:ln w="12700">
            <a:solidFill>
              <a:srgbClr val="D2DBEC"/>
            </a:solidFill>
            <a:prstDash val="solid"/>
          </a:ln>
        </p:spPr>
      </p:sp>
      <p:sp>
        <p:nvSpPr>
          <p:cNvPr id="7" name="Text 3"/>
          <p:cNvSpPr/>
          <p:nvPr/>
        </p:nvSpPr>
        <p:spPr>
          <a:xfrm>
            <a:off x="777240" y="4828032"/>
            <a:ext cx="10607040" cy="566928"/>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Suma de toda la PMF = 1. </a:t>
            </a:r>
            <a:pPr indent="0" marL="0">
              <a:buNone/>
            </a:pPr>
            <a:r>
              <a:rPr lang="en-US" sz="1250" dirty="0">
                <a:solidFill>
                  <a:srgbClr val="2C3A55"/>
                </a:solidFill>
                <a:latin typeface="Calibri" pitchFamily="34" charset="0"/>
                <a:ea typeface="Calibri" pitchFamily="34" charset="-122"/>
                <a:cs typeface="Calibri" pitchFamily="34" charset="-120"/>
              </a:rPr>
              <a:t>La CDF es monótona no decreciente y va de 0 a 1. En código: </a:t>
            </a:r>
            <a:pPr indent="0" marL="0">
              <a:buNone/>
            </a:pPr>
            <a:r>
              <a:rPr lang="en-US" sz="1200" b="1" dirty="0">
                <a:solidFill>
                  <a:srgbClr val="1A56E8"/>
                </a:solidFill>
                <a:latin typeface="Courier New" pitchFamily="34" charset="0"/>
                <a:ea typeface="Courier New" pitchFamily="34" charset="-122"/>
                <a:cs typeface="Courier New" pitchFamily="34" charset="-120"/>
              </a:rPr>
              <a:t>binom.pmf(k, n, p)</a:t>
            </a:r>
            <a:pPr indent="0" marL="0">
              <a:buNone/>
            </a:pPr>
            <a:r>
              <a:rPr lang="en-US" sz="1250" dirty="0">
                <a:solidFill>
                  <a:srgbClr val="2C3A55"/>
                </a:solidFill>
                <a:latin typeface="Calibri" pitchFamily="34" charset="0"/>
                <a:ea typeface="Calibri" pitchFamily="34" charset="-122"/>
                <a:cs typeface="Calibri" pitchFamily="34" charset="-120"/>
              </a:rPr>
              <a:t> y </a:t>
            </a:r>
            <a:pPr indent="0" marL="0">
              <a:buNone/>
            </a:pPr>
            <a:r>
              <a:rPr lang="en-US" sz="1200" b="1" dirty="0">
                <a:solidFill>
                  <a:srgbClr val="E6115E"/>
                </a:solidFill>
                <a:latin typeface="Courier New" pitchFamily="34" charset="0"/>
                <a:ea typeface="Courier New" pitchFamily="34" charset="-122"/>
                <a:cs typeface="Courier New" pitchFamily="34" charset="-120"/>
              </a:rPr>
              <a:t>binom.cdf(k, n, p)</a:t>
            </a:r>
            <a:endParaRPr lang="en-US" sz="1250" dirty="0"/>
          </a:p>
        </p:txBody>
      </p:sp>
      <p:sp>
        <p:nvSpPr>
          <p:cNvPr id="8" name="Shape 4"/>
          <p:cNvSpPr/>
          <p:nvPr/>
        </p:nvSpPr>
        <p:spPr>
          <a:xfrm>
            <a:off x="548640" y="5504688"/>
            <a:ext cx="11064240" cy="804672"/>
          </a:xfrm>
          <a:prstGeom prst="roundRect">
            <a:avLst>
              <a:gd name="adj" fmla="val 6818"/>
            </a:avLst>
          </a:prstGeom>
          <a:solidFill>
            <a:srgbClr val="DCE6F8"/>
          </a:solidFill>
          <a:ln w="12700">
            <a:solidFill>
              <a:srgbClr val="C3D5F5"/>
            </a:solidFill>
            <a:prstDash val="solid"/>
          </a:ln>
        </p:spPr>
      </p:sp>
      <p:sp>
        <p:nvSpPr>
          <p:cNvPr id="9" name="Shape 5"/>
          <p:cNvSpPr/>
          <p:nvPr/>
        </p:nvSpPr>
        <p:spPr>
          <a:xfrm>
            <a:off x="786384" y="5847588"/>
            <a:ext cx="118872" cy="118872"/>
          </a:xfrm>
          <a:prstGeom prst="roundRect">
            <a:avLst>
              <a:gd name="adj" fmla="val 30769"/>
            </a:avLst>
          </a:prstGeom>
          <a:solidFill>
            <a:srgbClr val="E6115E"/>
          </a:solidFill>
          <a:ln w="12700">
            <a:solidFill>
              <a:srgbClr val="E6115E"/>
            </a:solidFill>
            <a:prstDash val="solid"/>
          </a:ln>
        </p:spPr>
      </p:sp>
      <p:sp>
        <p:nvSpPr>
          <p:cNvPr id="10" name="Text 6"/>
          <p:cNvSpPr/>
          <p:nvPr/>
        </p:nvSpPr>
        <p:spPr>
          <a:xfrm>
            <a:off x="1024128" y="5504688"/>
            <a:ext cx="10332720" cy="804672"/>
          </a:xfrm>
          <a:prstGeom prst="rect">
            <a:avLst/>
          </a:prstGeom>
          <a:noFill/>
          <a:ln/>
        </p:spPr>
        <p:txBody>
          <a:bodyPr wrap="square" lIns="0" tIns="0" rIns="0" bIns="0" rtlCol="0" anchor="ctr"/>
          <a:lstStyle/>
          <a:p>
            <a:pPr indent="0" marL="0">
              <a:lnSpc>
                <a:spcPts val="1725"/>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725"/>
              </a:lnSpc>
              <a:buNone/>
            </a:pPr>
            <a:r>
              <a:rPr lang="en-US" sz="1250" dirty="0">
                <a:solidFill>
                  <a:srgbClr val="0A2559"/>
                </a:solidFill>
                <a:latin typeface="Calibri" pitchFamily="34" charset="0"/>
                <a:ea typeface="Calibri" pitchFamily="34" charset="-122"/>
                <a:cs typeface="Calibri" pitchFamily="34" charset="-120"/>
              </a:rPr>
              <a:t>El velocímetro y el odómetro. La PMF es el velocímetro: el valor exacto en este punto. La CDF es el odómetro: todo lo acumulado hasta aquí, y nunca baja. Miran el mismo viaje y ninguno reemplaza al otro.</a:t>
            </a:r>
            <a:endParaRPr lang="en-US" sz="1000" dirty="0"/>
          </a:p>
        </p:txBody>
      </p:sp>
      <p:sp>
        <p:nvSpPr>
          <p:cNvPr id="11" name="Text 7"/>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12" name="Text 8"/>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Bernoulli: el ladrillo de todo</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Un solo intento, dos resultados. Es la distribución del sí/no</a:t>
            </a:r>
            <a:endParaRPr lang="en-US" sz="1450" dirty="0"/>
          </a:p>
        </p:txBody>
      </p:sp>
      <p:sp>
        <p:nvSpPr>
          <p:cNvPr id="4" name="Shape 2"/>
          <p:cNvSpPr/>
          <p:nvPr/>
        </p:nvSpPr>
        <p:spPr>
          <a:xfrm>
            <a:off x="548640" y="1920240"/>
            <a:ext cx="4937760" cy="3931920"/>
          </a:xfrm>
          <a:prstGeom prst="roundRect">
            <a:avLst>
              <a:gd name="adj" fmla="val 1395"/>
            </a:avLst>
          </a:prstGeom>
          <a:solidFill>
            <a:srgbClr val="E9EEF8"/>
          </a:solidFill>
          <a:ln w="12700">
            <a:solidFill>
              <a:srgbClr val="D2DBEC"/>
            </a:solidFill>
            <a:prstDash val="solid"/>
          </a:ln>
        </p:spPr>
      </p:sp>
      <p:sp>
        <p:nvSpPr>
          <p:cNvPr id="5" name="Shape 3"/>
          <p:cNvSpPr/>
          <p:nvPr/>
        </p:nvSpPr>
        <p:spPr>
          <a:xfrm>
            <a:off x="777240" y="2194560"/>
            <a:ext cx="118872" cy="118872"/>
          </a:xfrm>
          <a:prstGeom prst="roundRect">
            <a:avLst>
              <a:gd name="adj" fmla="val 30769"/>
            </a:avLst>
          </a:prstGeom>
          <a:solidFill>
            <a:srgbClr val="E6115E"/>
          </a:solidFill>
          <a:ln w="12700">
            <a:solidFill>
              <a:srgbClr val="E6115E"/>
            </a:solidFill>
            <a:prstDash val="solid"/>
          </a:ln>
        </p:spPr>
      </p:sp>
      <p:sp>
        <p:nvSpPr>
          <p:cNvPr id="6" name="Text 4"/>
          <p:cNvSpPr/>
          <p:nvPr/>
        </p:nvSpPr>
        <p:spPr>
          <a:xfrm>
            <a:off x="1014984" y="2103120"/>
            <a:ext cx="4242816" cy="310896"/>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Función de masa</a:t>
            </a:r>
            <a:endParaRPr lang="en-US" sz="1300" dirty="0"/>
          </a:p>
        </p:txBody>
      </p:sp>
      <p:sp>
        <p:nvSpPr>
          <p:cNvPr id="7" name="Shape 5"/>
          <p:cNvSpPr/>
          <p:nvPr/>
        </p:nvSpPr>
        <p:spPr>
          <a:xfrm>
            <a:off x="777240" y="2514600"/>
            <a:ext cx="4480560" cy="685800"/>
          </a:xfrm>
          <a:prstGeom prst="roundRect">
            <a:avLst>
              <a:gd name="adj" fmla="val 8000"/>
            </a:avLst>
          </a:prstGeom>
          <a:solidFill>
            <a:srgbClr val="0A2559"/>
          </a:solidFill>
          <a:ln w="12700">
            <a:solidFill>
              <a:srgbClr val="0A2559"/>
            </a:solidFill>
            <a:prstDash val="solid"/>
          </a:ln>
        </p:spPr>
      </p:sp>
      <p:sp>
        <p:nvSpPr>
          <p:cNvPr id="8" name="Text 6"/>
          <p:cNvSpPr/>
          <p:nvPr/>
        </p:nvSpPr>
        <p:spPr>
          <a:xfrm>
            <a:off x="868680" y="2514600"/>
            <a:ext cx="4297680" cy="68580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P(X = k) = pᵏ(1 − p)¹⁻ᵏ</a:t>
            </a:r>
            <a:endParaRPr lang="en-US" sz="1550" dirty="0"/>
          </a:p>
        </p:txBody>
      </p:sp>
      <p:sp>
        <p:nvSpPr>
          <p:cNvPr id="9" name="Text 7"/>
          <p:cNvSpPr/>
          <p:nvPr/>
        </p:nvSpPr>
        <p:spPr>
          <a:xfrm>
            <a:off x="777240" y="3273552"/>
            <a:ext cx="4480560" cy="320040"/>
          </a:xfrm>
          <a:prstGeom prst="rect">
            <a:avLst/>
          </a:prstGeom>
          <a:noFill/>
          <a:ln/>
        </p:spPr>
        <p:txBody>
          <a:bodyPr wrap="square" lIns="0" tIns="0" rIns="0" bIns="0" rtlCol="0" anchor="ctr"/>
          <a:lstStyle/>
          <a:p>
            <a:pPr indent="0" marL="0">
              <a:buNone/>
            </a:pPr>
            <a:r>
              <a:rPr lang="en-US" sz="1150" i="1" dirty="0">
                <a:solidFill>
                  <a:srgbClr val="5B6B87"/>
                </a:solidFill>
                <a:latin typeface="Calibri" pitchFamily="34" charset="0"/>
                <a:ea typeface="Calibri" pitchFamily="34" charset="-122"/>
                <a:cs typeface="Calibri" pitchFamily="34" charset="-120"/>
              </a:rPr>
              <a:t>k ∈ {0, 1} · parámetro: p ∈ [0, 1]</a:t>
            </a:r>
            <a:endParaRPr lang="en-US" sz="1150" dirty="0"/>
          </a:p>
        </p:txBody>
      </p:sp>
      <p:sp>
        <p:nvSpPr>
          <p:cNvPr id="10" name="Shape 8"/>
          <p:cNvSpPr/>
          <p:nvPr/>
        </p:nvSpPr>
        <p:spPr>
          <a:xfrm>
            <a:off x="777240" y="3657600"/>
            <a:ext cx="2103120" cy="841248"/>
          </a:xfrm>
          <a:prstGeom prst="roundRect">
            <a:avLst>
              <a:gd name="adj" fmla="val 6522"/>
            </a:avLst>
          </a:prstGeom>
          <a:solidFill>
            <a:srgbClr val="FFFFFF"/>
          </a:solidFill>
          <a:ln w="12700">
            <a:solidFill>
              <a:srgbClr val="D2DBEC"/>
            </a:solidFill>
            <a:prstDash val="solid"/>
          </a:ln>
        </p:spPr>
      </p:sp>
      <p:sp>
        <p:nvSpPr>
          <p:cNvPr id="11" name="Text 9"/>
          <p:cNvSpPr/>
          <p:nvPr/>
        </p:nvSpPr>
        <p:spPr>
          <a:xfrm>
            <a:off x="777240" y="3730752"/>
            <a:ext cx="2103120" cy="256032"/>
          </a:xfrm>
          <a:prstGeom prst="rect">
            <a:avLst/>
          </a:prstGeom>
          <a:noFill/>
          <a:ln/>
        </p:spPr>
        <p:txBody>
          <a:bodyPr wrap="square" lIns="0" tIns="0" rIns="0" bIns="0" rtlCol="0" anchor="ctr"/>
          <a:lstStyle/>
          <a:p>
            <a:pPr algn="ctr" indent="0" marL="0">
              <a:buNone/>
            </a:pPr>
            <a:r>
              <a:rPr lang="en-US" sz="1050" b="1" spc="100" kern="0" dirty="0">
                <a:solidFill>
                  <a:srgbClr val="5B6B87"/>
                </a:solidFill>
                <a:latin typeface="Calibri" pitchFamily="34" charset="0"/>
                <a:ea typeface="Calibri" pitchFamily="34" charset="-122"/>
                <a:cs typeface="Calibri" pitchFamily="34" charset="-120"/>
              </a:rPr>
              <a:t>E[X]</a:t>
            </a:r>
            <a:endParaRPr lang="en-US" sz="1050" dirty="0"/>
          </a:p>
        </p:txBody>
      </p:sp>
      <p:sp>
        <p:nvSpPr>
          <p:cNvPr id="12" name="Text 10"/>
          <p:cNvSpPr/>
          <p:nvPr/>
        </p:nvSpPr>
        <p:spPr>
          <a:xfrm>
            <a:off x="777240" y="3977640"/>
            <a:ext cx="2103120" cy="411480"/>
          </a:xfrm>
          <a:prstGeom prst="rect">
            <a:avLst/>
          </a:prstGeom>
          <a:noFill/>
          <a:ln/>
        </p:spPr>
        <p:txBody>
          <a:bodyPr wrap="square" lIns="0" tIns="0" rIns="0" bIns="0" rtlCol="0" anchor="ctr"/>
          <a:lstStyle/>
          <a:p>
            <a:pPr algn="ctr" indent="0" marL="0">
              <a:buNone/>
            </a:pPr>
            <a:r>
              <a:rPr lang="en-US" sz="1800" b="1" dirty="0">
                <a:solidFill>
                  <a:srgbClr val="1A56E8"/>
                </a:solidFill>
                <a:latin typeface="Calibri" pitchFamily="34" charset="0"/>
                <a:ea typeface="Calibri" pitchFamily="34" charset="-122"/>
                <a:cs typeface="Calibri" pitchFamily="34" charset="-120"/>
              </a:rPr>
              <a:t>p</a:t>
            </a:r>
            <a:endParaRPr lang="en-US" sz="1800" dirty="0"/>
          </a:p>
        </p:txBody>
      </p:sp>
      <p:sp>
        <p:nvSpPr>
          <p:cNvPr id="13" name="Shape 11"/>
          <p:cNvSpPr/>
          <p:nvPr/>
        </p:nvSpPr>
        <p:spPr>
          <a:xfrm>
            <a:off x="3063240" y="3657600"/>
            <a:ext cx="2103120" cy="841248"/>
          </a:xfrm>
          <a:prstGeom prst="roundRect">
            <a:avLst>
              <a:gd name="adj" fmla="val 6522"/>
            </a:avLst>
          </a:prstGeom>
          <a:solidFill>
            <a:srgbClr val="FFFFFF"/>
          </a:solidFill>
          <a:ln w="12700">
            <a:solidFill>
              <a:srgbClr val="D2DBEC"/>
            </a:solidFill>
            <a:prstDash val="solid"/>
          </a:ln>
        </p:spPr>
      </p:sp>
      <p:sp>
        <p:nvSpPr>
          <p:cNvPr id="14" name="Text 12"/>
          <p:cNvSpPr/>
          <p:nvPr/>
        </p:nvSpPr>
        <p:spPr>
          <a:xfrm>
            <a:off x="3063240" y="3730752"/>
            <a:ext cx="2103120" cy="256032"/>
          </a:xfrm>
          <a:prstGeom prst="rect">
            <a:avLst/>
          </a:prstGeom>
          <a:noFill/>
          <a:ln/>
        </p:spPr>
        <p:txBody>
          <a:bodyPr wrap="square" lIns="0" tIns="0" rIns="0" bIns="0" rtlCol="0" anchor="ctr"/>
          <a:lstStyle/>
          <a:p>
            <a:pPr algn="ctr" indent="0" marL="0">
              <a:buNone/>
            </a:pPr>
            <a:r>
              <a:rPr lang="en-US" sz="1050" b="1" spc="100" kern="0" dirty="0">
                <a:solidFill>
                  <a:srgbClr val="5B6B87"/>
                </a:solidFill>
                <a:latin typeface="Calibri" pitchFamily="34" charset="0"/>
                <a:ea typeface="Calibri" pitchFamily="34" charset="-122"/>
                <a:cs typeface="Calibri" pitchFamily="34" charset="-120"/>
              </a:rPr>
              <a:t>Var(X)</a:t>
            </a:r>
            <a:endParaRPr lang="en-US" sz="1050" dirty="0"/>
          </a:p>
        </p:txBody>
      </p:sp>
      <p:sp>
        <p:nvSpPr>
          <p:cNvPr id="15" name="Text 13"/>
          <p:cNvSpPr/>
          <p:nvPr/>
        </p:nvSpPr>
        <p:spPr>
          <a:xfrm>
            <a:off x="3063240" y="3977640"/>
            <a:ext cx="2103120" cy="411480"/>
          </a:xfrm>
          <a:prstGeom prst="rect">
            <a:avLst/>
          </a:prstGeom>
          <a:noFill/>
          <a:ln/>
        </p:spPr>
        <p:txBody>
          <a:bodyPr wrap="square" lIns="0" tIns="0" rIns="0" bIns="0" rtlCol="0" anchor="ctr"/>
          <a:lstStyle/>
          <a:p>
            <a:pPr algn="ctr" indent="0" marL="0">
              <a:buNone/>
            </a:pPr>
            <a:r>
              <a:rPr lang="en-US" sz="1800" b="1" dirty="0">
                <a:solidFill>
                  <a:srgbClr val="E6115E"/>
                </a:solidFill>
                <a:latin typeface="Calibri" pitchFamily="34" charset="0"/>
                <a:ea typeface="Calibri" pitchFamily="34" charset="-122"/>
                <a:cs typeface="Calibri" pitchFamily="34" charset="-120"/>
              </a:rPr>
              <a:t>p(1 − p)</a:t>
            </a:r>
            <a:endParaRPr lang="en-US" sz="1800" dirty="0"/>
          </a:p>
        </p:txBody>
      </p:sp>
      <p:sp>
        <p:nvSpPr>
          <p:cNvPr id="16" name="Shape 14"/>
          <p:cNvSpPr/>
          <p:nvPr/>
        </p:nvSpPr>
        <p:spPr>
          <a:xfrm>
            <a:off x="777240" y="4709160"/>
            <a:ext cx="118872" cy="118872"/>
          </a:xfrm>
          <a:prstGeom prst="roundRect">
            <a:avLst>
              <a:gd name="adj" fmla="val 30769"/>
            </a:avLst>
          </a:prstGeom>
          <a:solidFill>
            <a:srgbClr val="E6115E"/>
          </a:solidFill>
          <a:ln w="12700">
            <a:solidFill>
              <a:srgbClr val="E6115E"/>
            </a:solidFill>
            <a:prstDash val="solid"/>
          </a:ln>
        </p:spPr>
      </p:sp>
      <p:sp>
        <p:nvSpPr>
          <p:cNvPr id="17" name="Text 15"/>
          <p:cNvSpPr/>
          <p:nvPr/>
        </p:nvSpPr>
        <p:spPr>
          <a:xfrm>
            <a:off x="1014984" y="4617720"/>
            <a:ext cx="4242816" cy="310896"/>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Caso de negocio</a:t>
            </a:r>
            <a:endParaRPr lang="en-US" sz="1300" dirty="0"/>
          </a:p>
        </p:txBody>
      </p:sp>
      <p:sp>
        <p:nvSpPr>
          <p:cNvPr id="18" name="Text 16"/>
          <p:cNvSpPr/>
          <p:nvPr/>
        </p:nvSpPr>
        <p:spPr>
          <a:xfrm>
            <a:off x="1014984" y="4983480"/>
            <a:ext cx="4251960" cy="777240"/>
          </a:xfrm>
          <a:prstGeom prst="rect">
            <a:avLst/>
          </a:prstGeom>
          <a:noFill/>
          <a:ln/>
        </p:spPr>
        <p:txBody>
          <a:bodyPr wrap="square" lIns="0" tIns="0" rIns="0" bIns="0" rtlCol="0" anchor="ctr"/>
          <a:lstStyle/>
          <a:p>
            <a:pPr indent="0" marL="0">
              <a:lnSpc>
                <a:spcPts val="1550"/>
              </a:lnSpc>
              <a:buNone/>
            </a:pPr>
            <a:r>
              <a:rPr lang="en-US" sz="1200" dirty="0">
                <a:solidFill>
                  <a:srgbClr val="2C3A55"/>
                </a:solidFill>
                <a:latin typeface="Calibri" pitchFamily="34" charset="0"/>
                <a:ea typeface="Calibri" pitchFamily="34" charset="-122"/>
                <a:cs typeface="Calibri" pitchFamily="34" charset="-120"/>
              </a:rPr>
              <a:t>¿Este usuario convirtió? ¿Este crédito cayó en default? La variable objetivo de todo modelo de clasificación binaria es Bernoulli.</a:t>
            </a:r>
            <a:endParaRPr lang="en-US" sz="1200" dirty="0"/>
          </a:p>
        </p:txBody>
      </p:sp>
      <p:graphicFrame>
        <p:nvGraphicFramePr>
          <p:cNvPr id="19" name="Chart 0" descr=""/>
          <p:cNvGraphicFramePr/>
          <p:nvPr/>
        </p:nvGraphicFramePr>
        <p:xfrm>
          <a:off x="5806440" y="1920240"/>
          <a:ext cx="5806440" cy="2834640"/>
        </p:xfrm>
        <a:graphic xmlns:a="http://schemas.openxmlformats.org/drawingml/2006/main">
          <a:graphicData uri="http://schemas.openxmlformats.org/drawingml/2006/chart">
            <c:chart xmlns:c="http://schemas.openxmlformats.org/drawingml/2006/chart" r:id="rId1"/>
          </a:graphicData>
        </a:graphic>
      </p:graphicFrame>
      <p:sp>
        <p:nvSpPr>
          <p:cNvPr id="20" name="Shape 17"/>
          <p:cNvSpPr/>
          <p:nvPr/>
        </p:nvSpPr>
        <p:spPr>
          <a:xfrm>
            <a:off x="5806440" y="4892040"/>
            <a:ext cx="5806440" cy="960120"/>
          </a:xfrm>
          <a:prstGeom prst="roundRect">
            <a:avLst>
              <a:gd name="adj" fmla="val 5714"/>
            </a:avLst>
          </a:prstGeom>
          <a:solidFill>
            <a:srgbClr val="DCE6F8"/>
          </a:solidFill>
          <a:ln w="12700">
            <a:solidFill>
              <a:srgbClr val="C3D5F5"/>
            </a:solidFill>
            <a:prstDash val="solid"/>
          </a:ln>
        </p:spPr>
      </p:sp>
      <p:sp>
        <p:nvSpPr>
          <p:cNvPr id="21" name="Shape 18"/>
          <p:cNvSpPr/>
          <p:nvPr/>
        </p:nvSpPr>
        <p:spPr>
          <a:xfrm>
            <a:off x="6044184" y="5312664"/>
            <a:ext cx="118872" cy="118872"/>
          </a:xfrm>
          <a:prstGeom prst="roundRect">
            <a:avLst>
              <a:gd name="adj" fmla="val 30769"/>
            </a:avLst>
          </a:prstGeom>
          <a:solidFill>
            <a:srgbClr val="E6115E"/>
          </a:solidFill>
          <a:ln w="12700">
            <a:solidFill>
              <a:srgbClr val="E6115E"/>
            </a:solidFill>
            <a:prstDash val="solid"/>
          </a:ln>
        </p:spPr>
      </p:sp>
      <p:sp>
        <p:nvSpPr>
          <p:cNvPr id="22" name="Text 19"/>
          <p:cNvSpPr/>
          <p:nvPr/>
        </p:nvSpPr>
        <p:spPr>
          <a:xfrm>
            <a:off x="6281928" y="4892040"/>
            <a:ext cx="5074920" cy="960120"/>
          </a:xfrm>
          <a:prstGeom prst="rect">
            <a:avLst/>
          </a:prstGeom>
          <a:noFill/>
          <a:ln/>
        </p:spPr>
        <p:txBody>
          <a:bodyPr wrap="square" lIns="0" tIns="0" rIns="0" bIns="0" rtlCol="0" anchor="ctr"/>
          <a:lstStyle/>
          <a:p>
            <a:pPr indent="0" marL="0">
              <a:lnSpc>
                <a:spcPts val="1656"/>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656"/>
              </a:lnSpc>
              <a:buNone/>
            </a:pPr>
            <a:r>
              <a:rPr lang="en-US" sz="1200" dirty="0">
                <a:solidFill>
                  <a:srgbClr val="0A2559"/>
                </a:solidFill>
                <a:latin typeface="Calibri" pitchFamily="34" charset="0"/>
                <a:ea typeface="Calibri" pitchFamily="34" charset="-122"/>
                <a:cs typeface="Calibri" pitchFamily="34" charset="-120"/>
              </a:rPr>
              <a:t>El torniquete del metro. Pasa o no pasa: un intento, dos resultados, un solo número que lo describe todo.</a:t>
            </a:r>
            <a:endParaRPr lang="en-US" sz="1000" dirty="0"/>
          </a:p>
        </p:txBody>
      </p:sp>
      <p:sp>
        <p:nvSpPr>
          <p:cNvPr id="23" name="Text 20"/>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1"/>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Binomial: cuántos éxitos en n intentos</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n Bernoulli independientes con el mismo p, sumados</a:t>
            </a:r>
            <a:endParaRPr lang="en-US" sz="1450" dirty="0"/>
          </a:p>
        </p:txBody>
      </p:sp>
      <p:sp>
        <p:nvSpPr>
          <p:cNvPr id="4" name="Shape 2"/>
          <p:cNvSpPr/>
          <p:nvPr/>
        </p:nvSpPr>
        <p:spPr>
          <a:xfrm>
            <a:off x="548640" y="1920240"/>
            <a:ext cx="4937760" cy="3931920"/>
          </a:xfrm>
          <a:prstGeom prst="roundRect">
            <a:avLst>
              <a:gd name="adj" fmla="val 1395"/>
            </a:avLst>
          </a:prstGeom>
          <a:solidFill>
            <a:srgbClr val="E9EEF8"/>
          </a:solidFill>
          <a:ln w="12700">
            <a:solidFill>
              <a:srgbClr val="D2DBEC"/>
            </a:solidFill>
            <a:prstDash val="solid"/>
          </a:ln>
        </p:spPr>
      </p:sp>
      <p:sp>
        <p:nvSpPr>
          <p:cNvPr id="5" name="Shape 3"/>
          <p:cNvSpPr/>
          <p:nvPr/>
        </p:nvSpPr>
        <p:spPr>
          <a:xfrm>
            <a:off x="777240" y="2194560"/>
            <a:ext cx="118872" cy="118872"/>
          </a:xfrm>
          <a:prstGeom prst="roundRect">
            <a:avLst>
              <a:gd name="adj" fmla="val 30769"/>
            </a:avLst>
          </a:prstGeom>
          <a:solidFill>
            <a:srgbClr val="E6115E"/>
          </a:solidFill>
          <a:ln w="12700">
            <a:solidFill>
              <a:srgbClr val="E6115E"/>
            </a:solidFill>
            <a:prstDash val="solid"/>
          </a:ln>
        </p:spPr>
      </p:sp>
      <p:sp>
        <p:nvSpPr>
          <p:cNvPr id="6" name="Text 4"/>
          <p:cNvSpPr/>
          <p:nvPr/>
        </p:nvSpPr>
        <p:spPr>
          <a:xfrm>
            <a:off x="1014984" y="2103120"/>
            <a:ext cx="4242816" cy="310896"/>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Función de masa</a:t>
            </a:r>
            <a:endParaRPr lang="en-US" sz="1300" dirty="0"/>
          </a:p>
        </p:txBody>
      </p:sp>
      <p:sp>
        <p:nvSpPr>
          <p:cNvPr id="7" name="Shape 5"/>
          <p:cNvSpPr/>
          <p:nvPr/>
        </p:nvSpPr>
        <p:spPr>
          <a:xfrm>
            <a:off x="777240" y="2514600"/>
            <a:ext cx="4480560" cy="685800"/>
          </a:xfrm>
          <a:prstGeom prst="roundRect">
            <a:avLst>
              <a:gd name="adj" fmla="val 8000"/>
            </a:avLst>
          </a:prstGeom>
          <a:solidFill>
            <a:srgbClr val="0A2559"/>
          </a:solidFill>
          <a:ln w="12700">
            <a:solidFill>
              <a:srgbClr val="0A2559"/>
            </a:solidFill>
            <a:prstDash val="solid"/>
          </a:ln>
        </p:spPr>
      </p:sp>
      <p:sp>
        <p:nvSpPr>
          <p:cNvPr id="8" name="Text 6"/>
          <p:cNvSpPr/>
          <p:nvPr/>
        </p:nvSpPr>
        <p:spPr>
          <a:xfrm>
            <a:off x="868680" y="2514600"/>
            <a:ext cx="4297680" cy="68580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P(X = k) = C(n,k) pᵏ(1 − p)ⁿ⁻ᵏ</a:t>
            </a:r>
            <a:endParaRPr lang="en-US" sz="1550" dirty="0"/>
          </a:p>
        </p:txBody>
      </p:sp>
      <p:sp>
        <p:nvSpPr>
          <p:cNvPr id="9" name="Text 7"/>
          <p:cNvSpPr/>
          <p:nvPr/>
        </p:nvSpPr>
        <p:spPr>
          <a:xfrm>
            <a:off x="777240" y="3273552"/>
            <a:ext cx="4480560" cy="320040"/>
          </a:xfrm>
          <a:prstGeom prst="rect">
            <a:avLst/>
          </a:prstGeom>
          <a:noFill/>
          <a:ln/>
        </p:spPr>
        <p:txBody>
          <a:bodyPr wrap="square" lIns="0" tIns="0" rIns="0" bIns="0" rtlCol="0" anchor="ctr"/>
          <a:lstStyle/>
          <a:p>
            <a:pPr indent="0" marL="0">
              <a:buNone/>
            </a:pPr>
            <a:r>
              <a:rPr lang="en-US" sz="1150" i="1" dirty="0">
                <a:solidFill>
                  <a:srgbClr val="5B6B87"/>
                </a:solidFill>
                <a:latin typeface="Calibri" pitchFamily="34" charset="0"/>
                <a:ea typeface="Calibri" pitchFamily="34" charset="-122"/>
                <a:cs typeface="Calibri" pitchFamily="34" charset="-120"/>
              </a:rPr>
              <a:t>k ∈ {0, 1, …, n} · parámetros: n, p</a:t>
            </a:r>
            <a:endParaRPr lang="en-US" sz="1150" dirty="0"/>
          </a:p>
        </p:txBody>
      </p:sp>
      <p:sp>
        <p:nvSpPr>
          <p:cNvPr id="10" name="Shape 8"/>
          <p:cNvSpPr/>
          <p:nvPr/>
        </p:nvSpPr>
        <p:spPr>
          <a:xfrm>
            <a:off x="777240" y="3657600"/>
            <a:ext cx="2103120" cy="841248"/>
          </a:xfrm>
          <a:prstGeom prst="roundRect">
            <a:avLst>
              <a:gd name="adj" fmla="val 6522"/>
            </a:avLst>
          </a:prstGeom>
          <a:solidFill>
            <a:srgbClr val="FFFFFF"/>
          </a:solidFill>
          <a:ln w="12700">
            <a:solidFill>
              <a:srgbClr val="D2DBEC"/>
            </a:solidFill>
            <a:prstDash val="solid"/>
          </a:ln>
        </p:spPr>
      </p:sp>
      <p:sp>
        <p:nvSpPr>
          <p:cNvPr id="11" name="Text 9"/>
          <p:cNvSpPr/>
          <p:nvPr/>
        </p:nvSpPr>
        <p:spPr>
          <a:xfrm>
            <a:off x="777240" y="3730752"/>
            <a:ext cx="2103120" cy="256032"/>
          </a:xfrm>
          <a:prstGeom prst="rect">
            <a:avLst/>
          </a:prstGeom>
          <a:noFill/>
          <a:ln/>
        </p:spPr>
        <p:txBody>
          <a:bodyPr wrap="square" lIns="0" tIns="0" rIns="0" bIns="0" rtlCol="0" anchor="ctr"/>
          <a:lstStyle/>
          <a:p>
            <a:pPr algn="ctr" indent="0" marL="0">
              <a:buNone/>
            </a:pPr>
            <a:r>
              <a:rPr lang="en-US" sz="1050" b="1" spc="100" kern="0" dirty="0">
                <a:solidFill>
                  <a:srgbClr val="5B6B87"/>
                </a:solidFill>
                <a:latin typeface="Calibri" pitchFamily="34" charset="0"/>
                <a:ea typeface="Calibri" pitchFamily="34" charset="-122"/>
                <a:cs typeface="Calibri" pitchFamily="34" charset="-120"/>
              </a:rPr>
              <a:t>E[X]</a:t>
            </a:r>
            <a:endParaRPr lang="en-US" sz="1050" dirty="0"/>
          </a:p>
        </p:txBody>
      </p:sp>
      <p:sp>
        <p:nvSpPr>
          <p:cNvPr id="12" name="Text 10"/>
          <p:cNvSpPr/>
          <p:nvPr/>
        </p:nvSpPr>
        <p:spPr>
          <a:xfrm>
            <a:off x="777240" y="3977640"/>
            <a:ext cx="2103120" cy="411480"/>
          </a:xfrm>
          <a:prstGeom prst="rect">
            <a:avLst/>
          </a:prstGeom>
          <a:noFill/>
          <a:ln/>
        </p:spPr>
        <p:txBody>
          <a:bodyPr wrap="square" lIns="0" tIns="0" rIns="0" bIns="0" rtlCol="0" anchor="ctr"/>
          <a:lstStyle/>
          <a:p>
            <a:pPr algn="ctr" indent="0" marL="0">
              <a:buNone/>
            </a:pPr>
            <a:r>
              <a:rPr lang="en-US" sz="1800" b="1" dirty="0">
                <a:solidFill>
                  <a:srgbClr val="1A56E8"/>
                </a:solidFill>
                <a:latin typeface="Calibri" pitchFamily="34" charset="0"/>
                <a:ea typeface="Calibri" pitchFamily="34" charset="-122"/>
                <a:cs typeface="Calibri" pitchFamily="34" charset="-120"/>
              </a:rPr>
              <a:t>n p</a:t>
            </a:r>
            <a:endParaRPr lang="en-US" sz="1800" dirty="0"/>
          </a:p>
        </p:txBody>
      </p:sp>
      <p:sp>
        <p:nvSpPr>
          <p:cNvPr id="13" name="Shape 11"/>
          <p:cNvSpPr/>
          <p:nvPr/>
        </p:nvSpPr>
        <p:spPr>
          <a:xfrm>
            <a:off x="3063240" y="3657600"/>
            <a:ext cx="2103120" cy="841248"/>
          </a:xfrm>
          <a:prstGeom prst="roundRect">
            <a:avLst>
              <a:gd name="adj" fmla="val 6522"/>
            </a:avLst>
          </a:prstGeom>
          <a:solidFill>
            <a:srgbClr val="FFFFFF"/>
          </a:solidFill>
          <a:ln w="12700">
            <a:solidFill>
              <a:srgbClr val="D2DBEC"/>
            </a:solidFill>
            <a:prstDash val="solid"/>
          </a:ln>
        </p:spPr>
      </p:sp>
      <p:sp>
        <p:nvSpPr>
          <p:cNvPr id="14" name="Text 12"/>
          <p:cNvSpPr/>
          <p:nvPr/>
        </p:nvSpPr>
        <p:spPr>
          <a:xfrm>
            <a:off x="3063240" y="3730752"/>
            <a:ext cx="2103120" cy="256032"/>
          </a:xfrm>
          <a:prstGeom prst="rect">
            <a:avLst/>
          </a:prstGeom>
          <a:noFill/>
          <a:ln/>
        </p:spPr>
        <p:txBody>
          <a:bodyPr wrap="square" lIns="0" tIns="0" rIns="0" bIns="0" rtlCol="0" anchor="ctr"/>
          <a:lstStyle/>
          <a:p>
            <a:pPr algn="ctr" indent="0" marL="0">
              <a:buNone/>
            </a:pPr>
            <a:r>
              <a:rPr lang="en-US" sz="1050" b="1" spc="100" kern="0" dirty="0">
                <a:solidFill>
                  <a:srgbClr val="5B6B87"/>
                </a:solidFill>
                <a:latin typeface="Calibri" pitchFamily="34" charset="0"/>
                <a:ea typeface="Calibri" pitchFamily="34" charset="-122"/>
                <a:cs typeface="Calibri" pitchFamily="34" charset="-120"/>
              </a:rPr>
              <a:t>Var(X)</a:t>
            </a:r>
            <a:endParaRPr lang="en-US" sz="1050" dirty="0"/>
          </a:p>
        </p:txBody>
      </p:sp>
      <p:sp>
        <p:nvSpPr>
          <p:cNvPr id="15" name="Text 13"/>
          <p:cNvSpPr/>
          <p:nvPr/>
        </p:nvSpPr>
        <p:spPr>
          <a:xfrm>
            <a:off x="3063240" y="3977640"/>
            <a:ext cx="2103120" cy="411480"/>
          </a:xfrm>
          <a:prstGeom prst="rect">
            <a:avLst/>
          </a:prstGeom>
          <a:noFill/>
          <a:ln/>
        </p:spPr>
        <p:txBody>
          <a:bodyPr wrap="square" lIns="0" tIns="0" rIns="0" bIns="0" rtlCol="0" anchor="ctr"/>
          <a:lstStyle/>
          <a:p>
            <a:pPr algn="ctr" indent="0" marL="0">
              <a:buNone/>
            </a:pPr>
            <a:r>
              <a:rPr lang="en-US" sz="1800" b="1" dirty="0">
                <a:solidFill>
                  <a:srgbClr val="E6115E"/>
                </a:solidFill>
                <a:latin typeface="Calibri" pitchFamily="34" charset="0"/>
                <a:ea typeface="Calibri" pitchFamily="34" charset="-122"/>
                <a:cs typeface="Calibri" pitchFamily="34" charset="-120"/>
              </a:rPr>
              <a:t>n p(1 − p)</a:t>
            </a:r>
            <a:endParaRPr lang="en-US" sz="1800" dirty="0"/>
          </a:p>
        </p:txBody>
      </p:sp>
      <p:sp>
        <p:nvSpPr>
          <p:cNvPr id="16" name="Shape 14"/>
          <p:cNvSpPr/>
          <p:nvPr/>
        </p:nvSpPr>
        <p:spPr>
          <a:xfrm>
            <a:off x="777240" y="4709160"/>
            <a:ext cx="118872" cy="118872"/>
          </a:xfrm>
          <a:prstGeom prst="roundRect">
            <a:avLst>
              <a:gd name="adj" fmla="val 30769"/>
            </a:avLst>
          </a:prstGeom>
          <a:solidFill>
            <a:srgbClr val="E6115E"/>
          </a:solidFill>
          <a:ln w="12700">
            <a:solidFill>
              <a:srgbClr val="E6115E"/>
            </a:solidFill>
            <a:prstDash val="solid"/>
          </a:ln>
        </p:spPr>
      </p:sp>
      <p:sp>
        <p:nvSpPr>
          <p:cNvPr id="17" name="Text 15"/>
          <p:cNvSpPr/>
          <p:nvPr/>
        </p:nvSpPr>
        <p:spPr>
          <a:xfrm>
            <a:off x="1014984" y="4617720"/>
            <a:ext cx="4242816" cy="310896"/>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Caso de negocio</a:t>
            </a:r>
            <a:endParaRPr lang="en-US" sz="1300" dirty="0"/>
          </a:p>
        </p:txBody>
      </p:sp>
      <p:sp>
        <p:nvSpPr>
          <p:cNvPr id="18" name="Text 16"/>
          <p:cNvSpPr/>
          <p:nvPr/>
        </p:nvSpPr>
        <p:spPr>
          <a:xfrm>
            <a:off x="1014984" y="4983480"/>
            <a:ext cx="4251960" cy="777240"/>
          </a:xfrm>
          <a:prstGeom prst="rect">
            <a:avLst/>
          </a:prstGeom>
          <a:noFill/>
          <a:ln/>
        </p:spPr>
        <p:txBody>
          <a:bodyPr wrap="square" lIns="0" tIns="0" rIns="0" bIns="0" rtlCol="0" anchor="ctr"/>
          <a:lstStyle/>
          <a:p>
            <a:pPr indent="0" marL="0">
              <a:lnSpc>
                <a:spcPts val="1550"/>
              </a:lnSpc>
              <a:buNone/>
            </a:pPr>
            <a:r>
              <a:rPr lang="en-US" sz="1200" dirty="0">
                <a:solidFill>
                  <a:srgbClr val="2C3A55"/>
                </a:solidFill>
                <a:latin typeface="Calibri" pitchFamily="34" charset="0"/>
                <a:ea typeface="Calibri" pitchFamily="34" charset="-122"/>
                <a:cs typeface="Calibri" pitchFamily="34" charset="-120"/>
              </a:rPr>
              <a:t>De 1,000 visitantes con conversión esperada del 3%, ¿cuál es la probabilidad de cerrar 40 o más ventas este mes?</a:t>
            </a:r>
            <a:endParaRPr lang="en-US" sz="1200" dirty="0"/>
          </a:p>
        </p:txBody>
      </p:sp>
      <p:graphicFrame>
        <p:nvGraphicFramePr>
          <p:cNvPr id="19" name="Chart 0" descr=""/>
          <p:cNvGraphicFramePr/>
          <p:nvPr/>
        </p:nvGraphicFramePr>
        <p:xfrm>
          <a:off x="5806440" y="1920240"/>
          <a:ext cx="5806440" cy="2834640"/>
        </p:xfrm>
        <a:graphic xmlns:a="http://schemas.openxmlformats.org/drawingml/2006/main">
          <a:graphicData uri="http://schemas.openxmlformats.org/drawingml/2006/chart">
            <c:chart xmlns:c="http://schemas.openxmlformats.org/drawingml/2006/chart" r:id="rId1"/>
          </a:graphicData>
        </a:graphic>
      </p:graphicFrame>
      <p:sp>
        <p:nvSpPr>
          <p:cNvPr id="20" name="Shape 17"/>
          <p:cNvSpPr/>
          <p:nvPr/>
        </p:nvSpPr>
        <p:spPr>
          <a:xfrm>
            <a:off x="5806440" y="4892040"/>
            <a:ext cx="5806440" cy="960120"/>
          </a:xfrm>
          <a:prstGeom prst="roundRect">
            <a:avLst>
              <a:gd name="adj" fmla="val 5714"/>
            </a:avLst>
          </a:prstGeom>
          <a:solidFill>
            <a:srgbClr val="DCE6F8"/>
          </a:solidFill>
          <a:ln w="12700">
            <a:solidFill>
              <a:srgbClr val="C3D5F5"/>
            </a:solidFill>
            <a:prstDash val="solid"/>
          </a:ln>
        </p:spPr>
      </p:sp>
      <p:sp>
        <p:nvSpPr>
          <p:cNvPr id="21" name="Shape 18"/>
          <p:cNvSpPr/>
          <p:nvPr/>
        </p:nvSpPr>
        <p:spPr>
          <a:xfrm>
            <a:off x="6044184" y="5312664"/>
            <a:ext cx="118872" cy="118872"/>
          </a:xfrm>
          <a:prstGeom prst="roundRect">
            <a:avLst>
              <a:gd name="adj" fmla="val 30769"/>
            </a:avLst>
          </a:prstGeom>
          <a:solidFill>
            <a:srgbClr val="E6115E"/>
          </a:solidFill>
          <a:ln w="12700">
            <a:solidFill>
              <a:srgbClr val="E6115E"/>
            </a:solidFill>
            <a:prstDash val="solid"/>
          </a:ln>
        </p:spPr>
      </p:sp>
      <p:sp>
        <p:nvSpPr>
          <p:cNvPr id="22" name="Text 19"/>
          <p:cNvSpPr/>
          <p:nvPr/>
        </p:nvSpPr>
        <p:spPr>
          <a:xfrm>
            <a:off x="6281928" y="4892040"/>
            <a:ext cx="5074920" cy="960120"/>
          </a:xfrm>
          <a:prstGeom prst="rect">
            <a:avLst/>
          </a:prstGeom>
          <a:noFill/>
          <a:ln/>
        </p:spPr>
        <p:txBody>
          <a:bodyPr wrap="square" lIns="0" tIns="0" rIns="0" bIns="0" rtlCol="0" anchor="ctr"/>
          <a:lstStyle/>
          <a:p>
            <a:pPr indent="0" marL="0">
              <a:lnSpc>
                <a:spcPts val="1656"/>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656"/>
              </a:lnSpc>
              <a:buNone/>
            </a:pPr>
            <a:r>
              <a:rPr lang="en-US" sz="1200" dirty="0">
                <a:solidFill>
                  <a:srgbClr val="0A2559"/>
                </a:solidFill>
                <a:latin typeface="Calibri" pitchFamily="34" charset="0"/>
                <a:ea typeface="Calibri" pitchFamily="34" charset="-122"/>
                <a:cs typeface="Calibri" pitchFamily="34" charset="-120"/>
              </a:rPr>
              <a:t>La caja de 30 huevos. El n está fijo por la caja; lo que no sabes es cuántos llegaron rotos.</a:t>
            </a:r>
            <a:endParaRPr lang="en-US" sz="1000" dirty="0"/>
          </a:p>
        </p:txBody>
      </p:sp>
      <p:sp>
        <p:nvSpPr>
          <p:cNvPr id="23" name="Text 20"/>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1"/>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457200"/>
            <a:ext cx="1691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457200"/>
            <a:ext cx="1691640" cy="347472"/>
          </a:xfrm>
          <a:prstGeom prst="rect">
            <a:avLst/>
          </a:prstGeom>
          <a:noFill/>
          <a:ln/>
        </p:spPr>
        <p:txBody>
          <a:bodyPr wrap="square" lIns="0" tIns="0" rIns="0" bIns="0" rtlCol="0" anchor="ctr"/>
          <a:lstStyle/>
          <a:p>
            <a:pPr algn="ctr" indent="0" marL="0">
              <a:buNone/>
            </a:pPr>
            <a:r>
              <a:rPr lang="en-US" sz="1150" b="1" spc="120" kern="0" dirty="0">
                <a:solidFill>
                  <a:srgbClr val="FFFFFF"/>
                </a:solidFill>
                <a:latin typeface="Calibri" pitchFamily="34" charset="0"/>
                <a:ea typeface="Calibri" pitchFamily="34" charset="-122"/>
                <a:cs typeface="Calibri" pitchFamily="34" charset="-120"/>
              </a:rPr>
              <a:t>CASO REAL 02</a:t>
            </a:r>
            <a:endParaRPr lang="en-US" sz="1150" dirty="0"/>
          </a:p>
        </p:txBody>
      </p:sp>
      <p:sp>
        <p:nvSpPr>
          <p:cNvPr id="4" name="Text 2"/>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Muertes por patada de caballo</a:t>
            </a:r>
            <a:endParaRPr lang="en-US" sz="3200" dirty="0"/>
          </a:p>
        </p:txBody>
      </p:sp>
      <p:sp>
        <p:nvSpPr>
          <p:cNvPr id="5" name="Text 3"/>
          <p:cNvSpPr/>
          <p:nvPr/>
        </p:nvSpPr>
        <p:spPr>
          <a:xfrm>
            <a:off x="548640" y="1170432"/>
            <a:ext cx="11064240" cy="36576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Ejército prusiano, 10 cuerpos de caballería, 1875–1894</a:t>
            </a:r>
            <a:endParaRPr lang="en-US" sz="1450" dirty="0"/>
          </a:p>
        </p:txBody>
      </p:sp>
      <p:graphicFrame>
        <p:nvGraphicFramePr>
          <p:cNvPr id="6" name="Chart 0" descr=""/>
          <p:cNvGraphicFramePr/>
          <p:nvPr/>
        </p:nvGraphicFramePr>
        <p:xfrm>
          <a:off x="548640" y="1828800"/>
          <a:ext cx="6492240" cy="2926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269480" y="1828800"/>
            <a:ext cx="2103120" cy="1371600"/>
          </a:xfrm>
          <a:prstGeom prst="roundRect">
            <a:avLst>
              <a:gd name="adj" fmla="val 4000"/>
            </a:avLst>
          </a:prstGeom>
          <a:solidFill>
            <a:srgbClr val="FFFFFF"/>
          </a:solidFill>
          <a:ln w="12700">
            <a:solidFill>
              <a:srgbClr val="D2DBEC"/>
            </a:solidFill>
            <a:prstDash val="solid"/>
          </a:ln>
        </p:spPr>
      </p:sp>
      <p:sp>
        <p:nvSpPr>
          <p:cNvPr id="8" name="Text 5"/>
          <p:cNvSpPr/>
          <p:nvPr/>
        </p:nvSpPr>
        <p:spPr>
          <a:xfrm>
            <a:off x="7269480" y="1938528"/>
            <a:ext cx="2103120" cy="713232"/>
          </a:xfrm>
          <a:prstGeom prst="rect">
            <a:avLst/>
          </a:prstGeom>
          <a:noFill/>
          <a:ln/>
        </p:spPr>
        <p:txBody>
          <a:bodyPr wrap="square" lIns="0" tIns="0" rIns="0" bIns="0" rtlCol="0" anchor="ctr"/>
          <a:lstStyle/>
          <a:p>
            <a:pPr algn="ctr" indent="0" marL="0">
              <a:buNone/>
            </a:pPr>
            <a:r>
              <a:rPr lang="en-US" sz="2600" b="1" dirty="0">
                <a:solidFill>
                  <a:srgbClr val="0A2559"/>
                </a:solidFill>
                <a:latin typeface="Calibri" pitchFamily="34" charset="0"/>
                <a:ea typeface="Calibri" pitchFamily="34" charset="-122"/>
                <a:cs typeface="Calibri" pitchFamily="34" charset="-120"/>
              </a:rPr>
              <a:t>200</a:t>
            </a:r>
            <a:endParaRPr lang="en-US" sz="2600" dirty="0"/>
          </a:p>
        </p:txBody>
      </p:sp>
      <p:sp>
        <p:nvSpPr>
          <p:cNvPr id="9" name="Text 6"/>
          <p:cNvSpPr/>
          <p:nvPr/>
        </p:nvSpPr>
        <p:spPr>
          <a:xfrm>
            <a:off x="7379208" y="2624328"/>
            <a:ext cx="1883664" cy="493776"/>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cuerpos-año observados</a:t>
            </a:r>
            <a:endParaRPr lang="en-US" sz="1050" dirty="0"/>
          </a:p>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(10 cuerpos × 20 años)</a:t>
            </a:r>
            <a:endParaRPr lang="en-US" sz="1050" dirty="0"/>
          </a:p>
        </p:txBody>
      </p:sp>
      <p:sp>
        <p:nvSpPr>
          <p:cNvPr id="10" name="Shape 7"/>
          <p:cNvSpPr/>
          <p:nvPr/>
        </p:nvSpPr>
        <p:spPr>
          <a:xfrm>
            <a:off x="9509760" y="1828800"/>
            <a:ext cx="2103120" cy="1371600"/>
          </a:xfrm>
          <a:prstGeom prst="roundRect">
            <a:avLst>
              <a:gd name="adj" fmla="val 4000"/>
            </a:avLst>
          </a:prstGeom>
          <a:solidFill>
            <a:srgbClr val="FFFFFF"/>
          </a:solidFill>
          <a:ln w="12700">
            <a:solidFill>
              <a:srgbClr val="D2DBEC"/>
            </a:solidFill>
            <a:prstDash val="solid"/>
          </a:ln>
        </p:spPr>
      </p:sp>
      <p:sp>
        <p:nvSpPr>
          <p:cNvPr id="11" name="Text 8"/>
          <p:cNvSpPr/>
          <p:nvPr/>
        </p:nvSpPr>
        <p:spPr>
          <a:xfrm>
            <a:off x="9509760" y="1938528"/>
            <a:ext cx="2103120" cy="713232"/>
          </a:xfrm>
          <a:prstGeom prst="rect">
            <a:avLst/>
          </a:prstGeom>
          <a:noFill/>
          <a:ln/>
        </p:spPr>
        <p:txBody>
          <a:bodyPr wrap="square" lIns="0" tIns="0" rIns="0" bIns="0" rtlCol="0" anchor="ctr"/>
          <a:lstStyle/>
          <a:p>
            <a:pPr algn="ctr" indent="0" marL="0">
              <a:buNone/>
            </a:pPr>
            <a:r>
              <a:rPr lang="en-US" sz="2600" b="1" dirty="0">
                <a:solidFill>
                  <a:srgbClr val="0A2559"/>
                </a:solidFill>
                <a:latin typeface="Calibri" pitchFamily="34" charset="0"/>
                <a:ea typeface="Calibri" pitchFamily="34" charset="-122"/>
                <a:cs typeface="Calibri" pitchFamily="34" charset="-120"/>
              </a:rPr>
              <a:t>122</a:t>
            </a:r>
            <a:endParaRPr lang="en-US" sz="2600" dirty="0"/>
          </a:p>
        </p:txBody>
      </p:sp>
      <p:sp>
        <p:nvSpPr>
          <p:cNvPr id="12" name="Text 9"/>
          <p:cNvSpPr/>
          <p:nvPr/>
        </p:nvSpPr>
        <p:spPr>
          <a:xfrm>
            <a:off x="9619488" y="2624328"/>
            <a:ext cx="1883664" cy="493776"/>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muertes en total</a:t>
            </a:r>
            <a:endParaRPr lang="en-US" sz="1050" dirty="0"/>
          </a:p>
        </p:txBody>
      </p:sp>
      <p:sp>
        <p:nvSpPr>
          <p:cNvPr id="13" name="Shape 10"/>
          <p:cNvSpPr/>
          <p:nvPr/>
        </p:nvSpPr>
        <p:spPr>
          <a:xfrm>
            <a:off x="7269480" y="3337560"/>
            <a:ext cx="2103120" cy="1371600"/>
          </a:xfrm>
          <a:prstGeom prst="roundRect">
            <a:avLst>
              <a:gd name="adj" fmla="val 4000"/>
            </a:avLst>
          </a:prstGeom>
          <a:solidFill>
            <a:srgbClr val="FFFFFF"/>
          </a:solidFill>
          <a:ln w="12700">
            <a:solidFill>
              <a:srgbClr val="D2DBEC"/>
            </a:solidFill>
            <a:prstDash val="solid"/>
          </a:ln>
        </p:spPr>
      </p:sp>
      <p:sp>
        <p:nvSpPr>
          <p:cNvPr id="14" name="Text 11"/>
          <p:cNvSpPr/>
          <p:nvPr/>
        </p:nvSpPr>
        <p:spPr>
          <a:xfrm>
            <a:off x="7269480" y="3447288"/>
            <a:ext cx="2103120" cy="713232"/>
          </a:xfrm>
          <a:prstGeom prst="rect">
            <a:avLst/>
          </a:prstGeom>
          <a:noFill/>
          <a:ln/>
        </p:spPr>
        <p:txBody>
          <a:bodyPr wrap="square" lIns="0" tIns="0" rIns="0" bIns="0" rtlCol="0" anchor="ctr"/>
          <a:lstStyle/>
          <a:p>
            <a:pPr algn="ctr" indent="0" marL="0">
              <a:buNone/>
            </a:pPr>
            <a:r>
              <a:rPr lang="en-US" sz="2600" b="1" dirty="0">
                <a:solidFill>
                  <a:srgbClr val="1A56E8"/>
                </a:solidFill>
                <a:latin typeface="Calibri" pitchFamily="34" charset="0"/>
                <a:ea typeface="Calibri" pitchFamily="34" charset="-122"/>
                <a:cs typeface="Calibri" pitchFamily="34" charset="-120"/>
              </a:rPr>
              <a:t>0.61</a:t>
            </a:r>
            <a:endParaRPr lang="en-US" sz="2600" dirty="0"/>
          </a:p>
        </p:txBody>
      </p:sp>
      <p:sp>
        <p:nvSpPr>
          <p:cNvPr id="15" name="Text 12"/>
          <p:cNvSpPr/>
          <p:nvPr/>
        </p:nvSpPr>
        <p:spPr>
          <a:xfrm>
            <a:off x="7379208" y="4133088"/>
            <a:ext cx="1883664" cy="493776"/>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λ = 122 / 200</a:t>
            </a:r>
            <a:endParaRPr lang="en-US" sz="1050" dirty="0"/>
          </a:p>
        </p:txBody>
      </p:sp>
      <p:sp>
        <p:nvSpPr>
          <p:cNvPr id="16" name="Shape 13"/>
          <p:cNvSpPr/>
          <p:nvPr/>
        </p:nvSpPr>
        <p:spPr>
          <a:xfrm>
            <a:off x="9509760" y="3337560"/>
            <a:ext cx="2103120" cy="1371600"/>
          </a:xfrm>
          <a:prstGeom prst="roundRect">
            <a:avLst>
              <a:gd name="adj" fmla="val 4000"/>
            </a:avLst>
          </a:prstGeom>
          <a:solidFill>
            <a:srgbClr val="FFFFFF"/>
          </a:solidFill>
          <a:ln w="12700">
            <a:solidFill>
              <a:srgbClr val="D2DBEC"/>
            </a:solidFill>
            <a:prstDash val="solid"/>
          </a:ln>
        </p:spPr>
      </p:sp>
      <p:sp>
        <p:nvSpPr>
          <p:cNvPr id="17" name="Text 14"/>
          <p:cNvSpPr/>
          <p:nvPr/>
        </p:nvSpPr>
        <p:spPr>
          <a:xfrm>
            <a:off x="9509760" y="3447288"/>
            <a:ext cx="2103120" cy="713232"/>
          </a:xfrm>
          <a:prstGeom prst="rect">
            <a:avLst/>
          </a:prstGeom>
          <a:noFill/>
          <a:ln/>
        </p:spPr>
        <p:txBody>
          <a:bodyPr wrap="square" lIns="0" tIns="0" rIns="0" bIns="0" rtlCol="0" anchor="ctr"/>
          <a:lstStyle/>
          <a:p>
            <a:pPr algn="ctr" indent="0" marL="0">
              <a:buNone/>
            </a:pPr>
            <a:r>
              <a:rPr lang="en-US" sz="1700" b="1" dirty="0">
                <a:solidFill>
                  <a:srgbClr val="E6115E"/>
                </a:solidFill>
                <a:latin typeface="Calibri" pitchFamily="34" charset="0"/>
                <a:ea typeface="Calibri" pitchFamily="34" charset="-122"/>
                <a:cs typeface="Calibri" pitchFamily="34" charset="-120"/>
              </a:rPr>
              <a:t>0.76 vs 0.70</a:t>
            </a:r>
            <a:endParaRPr lang="en-US" sz="1700" dirty="0"/>
          </a:p>
        </p:txBody>
      </p:sp>
      <p:sp>
        <p:nvSpPr>
          <p:cNvPr id="18" name="Text 15"/>
          <p:cNvSpPr/>
          <p:nvPr/>
        </p:nvSpPr>
        <p:spPr>
          <a:xfrm>
            <a:off x="9619488" y="4133088"/>
            <a:ext cx="1883664" cy="493776"/>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varianza vs media:</a:t>
            </a:r>
            <a:endParaRPr lang="en-US" sz="1050" dirty="0"/>
          </a:p>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prácticamente iguales</a:t>
            </a:r>
            <a:endParaRPr lang="en-US" sz="1050" dirty="0"/>
          </a:p>
        </p:txBody>
      </p:sp>
      <p:sp>
        <p:nvSpPr>
          <p:cNvPr id="19" name="Shape 16"/>
          <p:cNvSpPr/>
          <p:nvPr/>
        </p:nvSpPr>
        <p:spPr>
          <a:xfrm>
            <a:off x="548640" y="4892040"/>
            <a:ext cx="11064240" cy="960120"/>
          </a:xfrm>
          <a:prstGeom prst="roundRect">
            <a:avLst>
              <a:gd name="adj" fmla="val 5714"/>
            </a:avLst>
          </a:prstGeom>
          <a:solidFill>
            <a:srgbClr val="0A2559"/>
          </a:solidFill>
          <a:ln w="12700">
            <a:solidFill>
              <a:srgbClr val="0A2559"/>
            </a:solidFill>
            <a:prstDash val="solid"/>
          </a:ln>
        </p:spPr>
      </p:sp>
      <p:sp>
        <p:nvSpPr>
          <p:cNvPr id="20" name="Text 17"/>
          <p:cNvSpPr/>
          <p:nvPr/>
        </p:nvSpPr>
        <p:spPr>
          <a:xfrm>
            <a:off x="822960" y="4974336"/>
            <a:ext cx="2743200" cy="256032"/>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La lección</a:t>
            </a:r>
            <a:endParaRPr lang="en-US" sz="1200" dirty="0"/>
          </a:p>
        </p:txBody>
      </p:sp>
      <p:sp>
        <p:nvSpPr>
          <p:cNvPr id="21" name="Text 18"/>
          <p:cNvSpPr/>
          <p:nvPr/>
        </p:nvSpPr>
        <p:spPr>
          <a:xfrm>
            <a:off x="822960" y="5230368"/>
            <a:ext cx="10515600" cy="548640"/>
          </a:xfrm>
          <a:prstGeom prst="rect">
            <a:avLst/>
          </a:prstGeom>
          <a:noFill/>
          <a:ln/>
        </p:spPr>
        <p:txBody>
          <a:bodyPr wrap="square" lIns="0" tIns="0" rIns="0" bIns="0" rtlCol="0" anchor="t"/>
          <a:lstStyle/>
          <a:p>
            <a:pPr indent="0" marL="0">
              <a:lnSpc>
                <a:spcPts val="1450"/>
              </a:lnSpc>
              <a:buNone/>
            </a:pPr>
            <a:r>
              <a:rPr lang="en-US" sz="1150" dirty="0">
                <a:solidFill>
                  <a:srgbClr val="DCE6F8"/>
                </a:solidFill>
                <a:latin typeface="Calibri" pitchFamily="34" charset="0"/>
                <a:ea typeface="Calibri" pitchFamily="34" charset="-122"/>
                <a:cs typeface="Calibri" pitchFamily="34" charset="-120"/>
              </a:rPr>
              <a:t>Bortkiewicz demostró que un evento rarísimo, sin causa común y en unidades muy distintas entre sí, produce igual un patrón predecible. Hoy los hospitales aplican exactamente esta idea a los “never events”: no son eventos que nunca ocurren, son eventos con tasa baja y patrón Poisson — y confundir una fluctuación normal con una falla del sistema cuesta caro en ambos sentidos.</a:t>
            </a:r>
            <a:endParaRPr lang="en-US" sz="1150" dirty="0"/>
          </a:p>
        </p:txBody>
      </p:sp>
      <p:sp>
        <p:nvSpPr>
          <p:cNvPr id="22" name="Text 19"/>
          <p:cNvSpPr/>
          <p:nvPr/>
        </p:nvSpPr>
        <p:spPr>
          <a:xfrm>
            <a:off x="548640" y="5989320"/>
            <a:ext cx="11064240" cy="274320"/>
          </a:xfrm>
          <a:prstGeom prst="rect">
            <a:avLst/>
          </a:prstGeom>
          <a:noFill/>
          <a:ln/>
        </p:spPr>
        <p:txBody>
          <a:bodyPr wrap="square" lIns="0" tIns="0" rIns="0" bIns="0" rtlCol="0" anchor="ctr"/>
          <a:lstStyle/>
          <a:p>
            <a:pPr indent="0" marL="0">
              <a:buNone/>
            </a:pPr>
            <a:r>
              <a:rPr lang="en-US" sz="1000" i="1" dirty="0">
                <a:solidFill>
                  <a:srgbClr val="5B6B87"/>
                </a:solidFill>
                <a:latin typeface="Calibri" pitchFamily="34" charset="0"/>
                <a:ea typeface="Calibri" pitchFamily="34" charset="-122"/>
                <a:cs typeface="Calibri" pitchFamily="34" charset="-120"/>
              </a:rPr>
              <a:t>Bortkiewicz, L. von (1898). Das Gesetz der kleinen Zahlen. Leipzig: Teubner. Reanálisis clínico en Pandit, J. (2016), Anaesthesia 71(1).</a:t>
            </a:r>
            <a:endParaRPr lang="en-US" sz="1000" dirty="0"/>
          </a:p>
        </p:txBody>
      </p:sp>
      <p:sp>
        <p:nvSpPr>
          <p:cNvPr id="23" name="Text 20"/>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1"/>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Poisson: cuántos eventos por unidad de tiempo</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Eventos raros e independientes en una ventana fija. Un solo parámetro: λ</a:t>
            </a:r>
            <a:endParaRPr lang="en-US" sz="1450" dirty="0"/>
          </a:p>
        </p:txBody>
      </p:sp>
      <p:sp>
        <p:nvSpPr>
          <p:cNvPr id="4" name="Shape 2"/>
          <p:cNvSpPr/>
          <p:nvPr/>
        </p:nvSpPr>
        <p:spPr>
          <a:xfrm>
            <a:off x="548640" y="1920240"/>
            <a:ext cx="4937760" cy="3931920"/>
          </a:xfrm>
          <a:prstGeom prst="roundRect">
            <a:avLst>
              <a:gd name="adj" fmla="val 1395"/>
            </a:avLst>
          </a:prstGeom>
          <a:solidFill>
            <a:srgbClr val="E9EEF8"/>
          </a:solidFill>
          <a:ln w="12700">
            <a:solidFill>
              <a:srgbClr val="D2DBEC"/>
            </a:solidFill>
            <a:prstDash val="solid"/>
          </a:ln>
        </p:spPr>
      </p:sp>
      <p:sp>
        <p:nvSpPr>
          <p:cNvPr id="5" name="Shape 3"/>
          <p:cNvSpPr/>
          <p:nvPr/>
        </p:nvSpPr>
        <p:spPr>
          <a:xfrm>
            <a:off x="777240" y="2194560"/>
            <a:ext cx="118872" cy="118872"/>
          </a:xfrm>
          <a:prstGeom prst="roundRect">
            <a:avLst>
              <a:gd name="adj" fmla="val 30769"/>
            </a:avLst>
          </a:prstGeom>
          <a:solidFill>
            <a:srgbClr val="E6115E"/>
          </a:solidFill>
          <a:ln w="12700">
            <a:solidFill>
              <a:srgbClr val="E6115E"/>
            </a:solidFill>
            <a:prstDash val="solid"/>
          </a:ln>
        </p:spPr>
      </p:sp>
      <p:sp>
        <p:nvSpPr>
          <p:cNvPr id="6" name="Text 4"/>
          <p:cNvSpPr/>
          <p:nvPr/>
        </p:nvSpPr>
        <p:spPr>
          <a:xfrm>
            <a:off x="1014984" y="2103120"/>
            <a:ext cx="4242816" cy="310896"/>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Función de masa</a:t>
            </a:r>
            <a:endParaRPr lang="en-US" sz="1300" dirty="0"/>
          </a:p>
        </p:txBody>
      </p:sp>
      <p:sp>
        <p:nvSpPr>
          <p:cNvPr id="7" name="Shape 5"/>
          <p:cNvSpPr/>
          <p:nvPr/>
        </p:nvSpPr>
        <p:spPr>
          <a:xfrm>
            <a:off x="777240" y="2514600"/>
            <a:ext cx="4480560" cy="685800"/>
          </a:xfrm>
          <a:prstGeom prst="roundRect">
            <a:avLst>
              <a:gd name="adj" fmla="val 8000"/>
            </a:avLst>
          </a:prstGeom>
          <a:solidFill>
            <a:srgbClr val="0A2559"/>
          </a:solidFill>
          <a:ln w="12700">
            <a:solidFill>
              <a:srgbClr val="0A2559"/>
            </a:solidFill>
            <a:prstDash val="solid"/>
          </a:ln>
        </p:spPr>
      </p:sp>
      <p:sp>
        <p:nvSpPr>
          <p:cNvPr id="8" name="Text 6"/>
          <p:cNvSpPr/>
          <p:nvPr/>
        </p:nvSpPr>
        <p:spPr>
          <a:xfrm>
            <a:off x="868680" y="2514600"/>
            <a:ext cx="4297680" cy="68580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P(X = k) = λᵏ · e^(−λ) / k!</a:t>
            </a:r>
            <a:endParaRPr lang="en-US" sz="1550" dirty="0"/>
          </a:p>
        </p:txBody>
      </p:sp>
      <p:sp>
        <p:nvSpPr>
          <p:cNvPr id="9" name="Text 7"/>
          <p:cNvSpPr/>
          <p:nvPr/>
        </p:nvSpPr>
        <p:spPr>
          <a:xfrm>
            <a:off x="777240" y="3273552"/>
            <a:ext cx="4480560" cy="320040"/>
          </a:xfrm>
          <a:prstGeom prst="rect">
            <a:avLst/>
          </a:prstGeom>
          <a:noFill/>
          <a:ln/>
        </p:spPr>
        <p:txBody>
          <a:bodyPr wrap="square" lIns="0" tIns="0" rIns="0" bIns="0" rtlCol="0" anchor="ctr"/>
          <a:lstStyle/>
          <a:p>
            <a:pPr indent="0" marL="0">
              <a:buNone/>
            </a:pPr>
            <a:r>
              <a:rPr lang="en-US" sz="1150" i="1" dirty="0">
                <a:solidFill>
                  <a:srgbClr val="5B6B87"/>
                </a:solidFill>
                <a:latin typeface="Calibri" pitchFamily="34" charset="0"/>
                <a:ea typeface="Calibri" pitchFamily="34" charset="-122"/>
                <a:cs typeface="Calibri" pitchFamily="34" charset="-120"/>
              </a:rPr>
              <a:t>k ∈ {0, 1, 2, …} · parámetro: λ &gt; 0 (tasa)</a:t>
            </a:r>
            <a:endParaRPr lang="en-US" sz="1150" dirty="0"/>
          </a:p>
        </p:txBody>
      </p:sp>
      <p:sp>
        <p:nvSpPr>
          <p:cNvPr id="10" name="Shape 8"/>
          <p:cNvSpPr/>
          <p:nvPr/>
        </p:nvSpPr>
        <p:spPr>
          <a:xfrm>
            <a:off x="777240" y="3657600"/>
            <a:ext cx="2103120" cy="841248"/>
          </a:xfrm>
          <a:prstGeom prst="roundRect">
            <a:avLst>
              <a:gd name="adj" fmla="val 6522"/>
            </a:avLst>
          </a:prstGeom>
          <a:solidFill>
            <a:srgbClr val="FFFFFF"/>
          </a:solidFill>
          <a:ln w="12700">
            <a:solidFill>
              <a:srgbClr val="D2DBEC"/>
            </a:solidFill>
            <a:prstDash val="solid"/>
          </a:ln>
        </p:spPr>
      </p:sp>
      <p:sp>
        <p:nvSpPr>
          <p:cNvPr id="11" name="Text 9"/>
          <p:cNvSpPr/>
          <p:nvPr/>
        </p:nvSpPr>
        <p:spPr>
          <a:xfrm>
            <a:off x="777240" y="3730752"/>
            <a:ext cx="2103120" cy="256032"/>
          </a:xfrm>
          <a:prstGeom prst="rect">
            <a:avLst/>
          </a:prstGeom>
          <a:noFill/>
          <a:ln/>
        </p:spPr>
        <p:txBody>
          <a:bodyPr wrap="square" lIns="0" tIns="0" rIns="0" bIns="0" rtlCol="0" anchor="ctr"/>
          <a:lstStyle/>
          <a:p>
            <a:pPr algn="ctr" indent="0" marL="0">
              <a:buNone/>
            </a:pPr>
            <a:r>
              <a:rPr lang="en-US" sz="1050" b="1" spc="100" kern="0" dirty="0">
                <a:solidFill>
                  <a:srgbClr val="5B6B87"/>
                </a:solidFill>
                <a:latin typeface="Calibri" pitchFamily="34" charset="0"/>
                <a:ea typeface="Calibri" pitchFamily="34" charset="-122"/>
                <a:cs typeface="Calibri" pitchFamily="34" charset="-120"/>
              </a:rPr>
              <a:t>E[X]</a:t>
            </a:r>
            <a:endParaRPr lang="en-US" sz="1050" dirty="0"/>
          </a:p>
        </p:txBody>
      </p:sp>
      <p:sp>
        <p:nvSpPr>
          <p:cNvPr id="12" name="Text 10"/>
          <p:cNvSpPr/>
          <p:nvPr/>
        </p:nvSpPr>
        <p:spPr>
          <a:xfrm>
            <a:off x="777240" y="3977640"/>
            <a:ext cx="2103120" cy="411480"/>
          </a:xfrm>
          <a:prstGeom prst="rect">
            <a:avLst/>
          </a:prstGeom>
          <a:noFill/>
          <a:ln/>
        </p:spPr>
        <p:txBody>
          <a:bodyPr wrap="square" lIns="0" tIns="0" rIns="0" bIns="0" rtlCol="0" anchor="ctr"/>
          <a:lstStyle/>
          <a:p>
            <a:pPr algn="ctr" indent="0" marL="0">
              <a:buNone/>
            </a:pPr>
            <a:r>
              <a:rPr lang="en-US" sz="1800" b="1" dirty="0">
                <a:solidFill>
                  <a:srgbClr val="1A56E8"/>
                </a:solidFill>
                <a:latin typeface="Calibri" pitchFamily="34" charset="0"/>
                <a:ea typeface="Calibri" pitchFamily="34" charset="-122"/>
                <a:cs typeface="Calibri" pitchFamily="34" charset="-120"/>
              </a:rPr>
              <a:t>λ</a:t>
            </a:r>
            <a:endParaRPr lang="en-US" sz="1800" dirty="0"/>
          </a:p>
        </p:txBody>
      </p:sp>
      <p:sp>
        <p:nvSpPr>
          <p:cNvPr id="13" name="Shape 11"/>
          <p:cNvSpPr/>
          <p:nvPr/>
        </p:nvSpPr>
        <p:spPr>
          <a:xfrm>
            <a:off x="3063240" y="3657600"/>
            <a:ext cx="2103120" cy="841248"/>
          </a:xfrm>
          <a:prstGeom prst="roundRect">
            <a:avLst>
              <a:gd name="adj" fmla="val 6522"/>
            </a:avLst>
          </a:prstGeom>
          <a:solidFill>
            <a:srgbClr val="FFFFFF"/>
          </a:solidFill>
          <a:ln w="12700">
            <a:solidFill>
              <a:srgbClr val="D2DBEC"/>
            </a:solidFill>
            <a:prstDash val="solid"/>
          </a:ln>
        </p:spPr>
      </p:sp>
      <p:sp>
        <p:nvSpPr>
          <p:cNvPr id="14" name="Text 12"/>
          <p:cNvSpPr/>
          <p:nvPr/>
        </p:nvSpPr>
        <p:spPr>
          <a:xfrm>
            <a:off x="3063240" y="3730752"/>
            <a:ext cx="2103120" cy="256032"/>
          </a:xfrm>
          <a:prstGeom prst="rect">
            <a:avLst/>
          </a:prstGeom>
          <a:noFill/>
          <a:ln/>
        </p:spPr>
        <p:txBody>
          <a:bodyPr wrap="square" lIns="0" tIns="0" rIns="0" bIns="0" rtlCol="0" anchor="ctr"/>
          <a:lstStyle/>
          <a:p>
            <a:pPr algn="ctr" indent="0" marL="0">
              <a:buNone/>
            </a:pPr>
            <a:r>
              <a:rPr lang="en-US" sz="1050" b="1" spc="100" kern="0" dirty="0">
                <a:solidFill>
                  <a:srgbClr val="5B6B87"/>
                </a:solidFill>
                <a:latin typeface="Calibri" pitchFamily="34" charset="0"/>
                <a:ea typeface="Calibri" pitchFamily="34" charset="-122"/>
                <a:cs typeface="Calibri" pitchFamily="34" charset="-120"/>
              </a:rPr>
              <a:t>Var(X)</a:t>
            </a:r>
            <a:endParaRPr lang="en-US" sz="1050" dirty="0"/>
          </a:p>
        </p:txBody>
      </p:sp>
      <p:sp>
        <p:nvSpPr>
          <p:cNvPr id="15" name="Text 13"/>
          <p:cNvSpPr/>
          <p:nvPr/>
        </p:nvSpPr>
        <p:spPr>
          <a:xfrm>
            <a:off x="3063240" y="3977640"/>
            <a:ext cx="2103120" cy="411480"/>
          </a:xfrm>
          <a:prstGeom prst="rect">
            <a:avLst/>
          </a:prstGeom>
          <a:noFill/>
          <a:ln/>
        </p:spPr>
        <p:txBody>
          <a:bodyPr wrap="square" lIns="0" tIns="0" rIns="0" bIns="0" rtlCol="0" anchor="ctr"/>
          <a:lstStyle/>
          <a:p>
            <a:pPr algn="ctr" indent="0" marL="0">
              <a:buNone/>
            </a:pPr>
            <a:r>
              <a:rPr lang="en-US" sz="1800" b="1" dirty="0">
                <a:solidFill>
                  <a:srgbClr val="E6115E"/>
                </a:solidFill>
                <a:latin typeface="Calibri" pitchFamily="34" charset="0"/>
                <a:ea typeface="Calibri" pitchFamily="34" charset="-122"/>
                <a:cs typeface="Calibri" pitchFamily="34" charset="-120"/>
              </a:rPr>
              <a:t>λ</a:t>
            </a:r>
            <a:endParaRPr lang="en-US" sz="1800" dirty="0"/>
          </a:p>
        </p:txBody>
      </p:sp>
      <p:sp>
        <p:nvSpPr>
          <p:cNvPr id="16" name="Shape 14"/>
          <p:cNvSpPr/>
          <p:nvPr/>
        </p:nvSpPr>
        <p:spPr>
          <a:xfrm>
            <a:off x="777240" y="4709160"/>
            <a:ext cx="118872" cy="118872"/>
          </a:xfrm>
          <a:prstGeom prst="roundRect">
            <a:avLst>
              <a:gd name="adj" fmla="val 30769"/>
            </a:avLst>
          </a:prstGeom>
          <a:solidFill>
            <a:srgbClr val="E6115E"/>
          </a:solidFill>
          <a:ln w="12700">
            <a:solidFill>
              <a:srgbClr val="E6115E"/>
            </a:solidFill>
            <a:prstDash val="solid"/>
          </a:ln>
        </p:spPr>
      </p:sp>
      <p:sp>
        <p:nvSpPr>
          <p:cNvPr id="17" name="Text 15"/>
          <p:cNvSpPr/>
          <p:nvPr/>
        </p:nvSpPr>
        <p:spPr>
          <a:xfrm>
            <a:off x="1014984" y="4617720"/>
            <a:ext cx="4242816" cy="310896"/>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Caso de negocio</a:t>
            </a:r>
            <a:endParaRPr lang="en-US" sz="1300" dirty="0"/>
          </a:p>
        </p:txBody>
      </p:sp>
      <p:sp>
        <p:nvSpPr>
          <p:cNvPr id="18" name="Text 16"/>
          <p:cNvSpPr/>
          <p:nvPr/>
        </p:nvSpPr>
        <p:spPr>
          <a:xfrm>
            <a:off x="1014984" y="4983480"/>
            <a:ext cx="4251960" cy="777240"/>
          </a:xfrm>
          <a:prstGeom prst="rect">
            <a:avLst/>
          </a:prstGeom>
          <a:noFill/>
          <a:ln/>
        </p:spPr>
        <p:txBody>
          <a:bodyPr wrap="square" lIns="0" tIns="0" rIns="0" bIns="0" rtlCol="0" anchor="ctr"/>
          <a:lstStyle/>
          <a:p>
            <a:pPr indent="0" marL="0">
              <a:lnSpc>
                <a:spcPts val="1550"/>
              </a:lnSpc>
              <a:buNone/>
            </a:pPr>
            <a:r>
              <a:rPr lang="en-US" sz="1200" dirty="0">
                <a:solidFill>
                  <a:srgbClr val="2C3A55"/>
                </a:solidFill>
                <a:latin typeface="Calibri" pitchFamily="34" charset="0"/>
                <a:ea typeface="Calibri" pitchFamily="34" charset="-122"/>
                <a:cs typeface="Calibri" pitchFamily="34" charset="-120"/>
              </a:rPr>
              <a:t>Reclamos por hora en el call center, transacciones fraudulentas por día, fallos de un servicio por semana. Base del dimensionamiento de capacidad.</a:t>
            </a:r>
            <a:endParaRPr lang="en-US" sz="1200" dirty="0"/>
          </a:p>
        </p:txBody>
      </p:sp>
      <p:graphicFrame>
        <p:nvGraphicFramePr>
          <p:cNvPr id="19" name="Chart 0" descr=""/>
          <p:cNvGraphicFramePr/>
          <p:nvPr/>
        </p:nvGraphicFramePr>
        <p:xfrm>
          <a:off x="5806440" y="1920240"/>
          <a:ext cx="5806440" cy="2834640"/>
        </p:xfrm>
        <a:graphic xmlns:a="http://schemas.openxmlformats.org/drawingml/2006/main">
          <a:graphicData uri="http://schemas.openxmlformats.org/drawingml/2006/chart">
            <c:chart xmlns:c="http://schemas.openxmlformats.org/drawingml/2006/chart" r:id="rId1"/>
          </a:graphicData>
        </a:graphic>
      </p:graphicFrame>
      <p:sp>
        <p:nvSpPr>
          <p:cNvPr id="20" name="Shape 17"/>
          <p:cNvSpPr/>
          <p:nvPr/>
        </p:nvSpPr>
        <p:spPr>
          <a:xfrm>
            <a:off x="5806440" y="4892040"/>
            <a:ext cx="5806440" cy="960120"/>
          </a:xfrm>
          <a:prstGeom prst="roundRect">
            <a:avLst>
              <a:gd name="adj" fmla="val 5714"/>
            </a:avLst>
          </a:prstGeom>
          <a:solidFill>
            <a:srgbClr val="DCE6F8"/>
          </a:solidFill>
          <a:ln w="12700">
            <a:solidFill>
              <a:srgbClr val="C3D5F5"/>
            </a:solidFill>
            <a:prstDash val="solid"/>
          </a:ln>
        </p:spPr>
      </p:sp>
      <p:sp>
        <p:nvSpPr>
          <p:cNvPr id="21" name="Shape 18"/>
          <p:cNvSpPr/>
          <p:nvPr/>
        </p:nvSpPr>
        <p:spPr>
          <a:xfrm>
            <a:off x="6044184" y="5312664"/>
            <a:ext cx="118872" cy="118872"/>
          </a:xfrm>
          <a:prstGeom prst="roundRect">
            <a:avLst>
              <a:gd name="adj" fmla="val 30769"/>
            </a:avLst>
          </a:prstGeom>
          <a:solidFill>
            <a:srgbClr val="E6115E"/>
          </a:solidFill>
          <a:ln w="12700">
            <a:solidFill>
              <a:srgbClr val="E6115E"/>
            </a:solidFill>
            <a:prstDash val="solid"/>
          </a:ln>
        </p:spPr>
      </p:sp>
      <p:sp>
        <p:nvSpPr>
          <p:cNvPr id="22" name="Text 19"/>
          <p:cNvSpPr/>
          <p:nvPr/>
        </p:nvSpPr>
        <p:spPr>
          <a:xfrm>
            <a:off x="6281928" y="4892040"/>
            <a:ext cx="5074920" cy="960120"/>
          </a:xfrm>
          <a:prstGeom prst="rect">
            <a:avLst/>
          </a:prstGeom>
          <a:noFill/>
          <a:ln/>
        </p:spPr>
        <p:txBody>
          <a:bodyPr wrap="square" lIns="0" tIns="0" rIns="0" bIns="0" rtlCol="0" anchor="ctr"/>
          <a:lstStyle/>
          <a:p>
            <a:pPr indent="0" marL="0">
              <a:lnSpc>
                <a:spcPts val="1656"/>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656"/>
              </a:lnSpc>
              <a:buNone/>
            </a:pPr>
            <a:r>
              <a:rPr lang="en-US" sz="1200" dirty="0">
                <a:solidFill>
                  <a:srgbClr val="0A2559"/>
                </a:solidFill>
                <a:latin typeface="Calibri" pitchFamily="34" charset="0"/>
                <a:ea typeface="Calibri" pitchFamily="34" charset="-122"/>
                <a:cs typeface="Calibri" pitchFamily="34" charset="-120"/>
              </a:rPr>
              <a:t>Gotas de lluvia sobre una loseta. No sabes cuál gota ni cuándo, pero sí cuántas por minuto. No hay “n intentos”: hay una tasa y una ventana.</a:t>
            </a:r>
            <a:endParaRPr lang="en-US" sz="1000" dirty="0"/>
          </a:p>
        </p:txBody>
      </p:sp>
      <p:sp>
        <p:nvSpPr>
          <p:cNvPr id="23" name="Text 20"/>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1"/>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457200"/>
            <a:ext cx="1691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457200"/>
            <a:ext cx="1691640" cy="347472"/>
          </a:xfrm>
          <a:prstGeom prst="rect">
            <a:avLst/>
          </a:prstGeom>
          <a:noFill/>
          <a:ln/>
        </p:spPr>
        <p:txBody>
          <a:bodyPr wrap="square" lIns="0" tIns="0" rIns="0" bIns="0" rtlCol="0" anchor="ctr"/>
          <a:lstStyle/>
          <a:p>
            <a:pPr algn="ctr" indent="0" marL="0">
              <a:buNone/>
            </a:pPr>
            <a:r>
              <a:rPr lang="en-US" sz="1150" b="1" spc="120" kern="0" dirty="0">
                <a:solidFill>
                  <a:srgbClr val="FFFFFF"/>
                </a:solidFill>
                <a:latin typeface="Calibri" pitchFamily="34" charset="0"/>
                <a:ea typeface="Calibri" pitchFamily="34" charset="-122"/>
                <a:cs typeface="Calibri" pitchFamily="34" charset="-120"/>
              </a:rPr>
              <a:t>CASO REAL 03</a:t>
            </a:r>
            <a:endParaRPr lang="en-US" sz="1150" dirty="0"/>
          </a:p>
        </p:txBody>
      </p:sp>
      <p:sp>
        <p:nvSpPr>
          <p:cNvPr id="4" name="Text 2"/>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¿Estaban apuntando a mi barrio?</a:t>
            </a:r>
            <a:endParaRPr lang="en-US" sz="3200" dirty="0"/>
          </a:p>
        </p:txBody>
      </p:sp>
      <p:sp>
        <p:nvSpPr>
          <p:cNvPr id="5" name="Text 3"/>
          <p:cNvSpPr/>
          <p:nvPr/>
        </p:nvSpPr>
        <p:spPr>
          <a:xfrm>
            <a:off x="548640" y="1170432"/>
            <a:ext cx="11064240" cy="36576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Bombas voladoras V-1 sobre el sur de Londres, 1944 · analizadas por R. D. Clarke en 1946</a:t>
            </a:r>
            <a:endParaRPr lang="en-US" sz="1450" dirty="0"/>
          </a:p>
        </p:txBody>
      </p:sp>
      <p:graphicFrame>
        <p:nvGraphicFramePr>
          <p:cNvPr id="6" name="Chart 0" descr=""/>
          <p:cNvGraphicFramePr/>
          <p:nvPr/>
        </p:nvGraphicFramePr>
        <p:xfrm>
          <a:off x="548640" y="1828800"/>
          <a:ext cx="6492240" cy="2926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269480" y="1828800"/>
            <a:ext cx="2103120" cy="1371600"/>
          </a:xfrm>
          <a:prstGeom prst="roundRect">
            <a:avLst>
              <a:gd name="adj" fmla="val 4000"/>
            </a:avLst>
          </a:prstGeom>
          <a:solidFill>
            <a:srgbClr val="FFFFFF"/>
          </a:solidFill>
          <a:ln w="12700">
            <a:solidFill>
              <a:srgbClr val="D2DBEC"/>
            </a:solidFill>
            <a:prstDash val="solid"/>
          </a:ln>
        </p:spPr>
      </p:sp>
      <p:sp>
        <p:nvSpPr>
          <p:cNvPr id="8" name="Text 5"/>
          <p:cNvSpPr/>
          <p:nvPr/>
        </p:nvSpPr>
        <p:spPr>
          <a:xfrm>
            <a:off x="7269480" y="1938528"/>
            <a:ext cx="2103120" cy="713232"/>
          </a:xfrm>
          <a:prstGeom prst="rect">
            <a:avLst/>
          </a:prstGeom>
          <a:noFill/>
          <a:ln/>
        </p:spPr>
        <p:txBody>
          <a:bodyPr wrap="square" lIns="0" tIns="0" rIns="0" bIns="0" rtlCol="0" anchor="ctr"/>
          <a:lstStyle/>
          <a:p>
            <a:pPr algn="ctr" indent="0" marL="0">
              <a:buNone/>
            </a:pPr>
            <a:r>
              <a:rPr lang="en-US" sz="2600" b="1" dirty="0">
                <a:solidFill>
                  <a:srgbClr val="0A2559"/>
                </a:solidFill>
                <a:latin typeface="Calibri" pitchFamily="34" charset="0"/>
                <a:ea typeface="Calibri" pitchFamily="34" charset="-122"/>
                <a:cs typeface="Calibri" pitchFamily="34" charset="-120"/>
              </a:rPr>
              <a:t>576</a:t>
            </a:r>
            <a:endParaRPr lang="en-US" sz="2600" dirty="0"/>
          </a:p>
        </p:txBody>
      </p:sp>
      <p:sp>
        <p:nvSpPr>
          <p:cNvPr id="9" name="Text 6"/>
          <p:cNvSpPr/>
          <p:nvPr/>
        </p:nvSpPr>
        <p:spPr>
          <a:xfrm>
            <a:off x="7379208" y="2624328"/>
            <a:ext cx="1883664" cy="493776"/>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cuadrículas de 0.25 km²</a:t>
            </a:r>
            <a:endParaRPr lang="en-US" sz="1050" dirty="0"/>
          </a:p>
        </p:txBody>
      </p:sp>
      <p:sp>
        <p:nvSpPr>
          <p:cNvPr id="10" name="Shape 7"/>
          <p:cNvSpPr/>
          <p:nvPr/>
        </p:nvSpPr>
        <p:spPr>
          <a:xfrm>
            <a:off x="9509760" y="1828800"/>
            <a:ext cx="2103120" cy="1371600"/>
          </a:xfrm>
          <a:prstGeom prst="roundRect">
            <a:avLst>
              <a:gd name="adj" fmla="val 4000"/>
            </a:avLst>
          </a:prstGeom>
          <a:solidFill>
            <a:srgbClr val="FFFFFF"/>
          </a:solidFill>
          <a:ln w="12700">
            <a:solidFill>
              <a:srgbClr val="D2DBEC"/>
            </a:solidFill>
            <a:prstDash val="solid"/>
          </a:ln>
        </p:spPr>
      </p:sp>
      <p:sp>
        <p:nvSpPr>
          <p:cNvPr id="11" name="Text 8"/>
          <p:cNvSpPr/>
          <p:nvPr/>
        </p:nvSpPr>
        <p:spPr>
          <a:xfrm>
            <a:off x="9509760" y="1938528"/>
            <a:ext cx="2103120" cy="713232"/>
          </a:xfrm>
          <a:prstGeom prst="rect">
            <a:avLst/>
          </a:prstGeom>
          <a:noFill/>
          <a:ln/>
        </p:spPr>
        <p:txBody>
          <a:bodyPr wrap="square" lIns="0" tIns="0" rIns="0" bIns="0" rtlCol="0" anchor="ctr"/>
          <a:lstStyle/>
          <a:p>
            <a:pPr algn="ctr" indent="0" marL="0">
              <a:buNone/>
            </a:pPr>
            <a:r>
              <a:rPr lang="en-US" sz="2600" b="1" dirty="0">
                <a:solidFill>
                  <a:srgbClr val="0A2559"/>
                </a:solidFill>
                <a:latin typeface="Calibri" pitchFamily="34" charset="0"/>
                <a:ea typeface="Calibri" pitchFamily="34" charset="-122"/>
                <a:cs typeface="Calibri" pitchFamily="34" charset="-120"/>
              </a:rPr>
              <a:t>537</a:t>
            </a:r>
            <a:endParaRPr lang="en-US" sz="2600" dirty="0"/>
          </a:p>
        </p:txBody>
      </p:sp>
      <p:sp>
        <p:nvSpPr>
          <p:cNvPr id="12" name="Text 9"/>
          <p:cNvSpPr/>
          <p:nvPr/>
        </p:nvSpPr>
        <p:spPr>
          <a:xfrm>
            <a:off x="9619488" y="2624328"/>
            <a:ext cx="1883664" cy="493776"/>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impactos registrados</a:t>
            </a:r>
            <a:endParaRPr lang="en-US" sz="1050" dirty="0"/>
          </a:p>
        </p:txBody>
      </p:sp>
      <p:sp>
        <p:nvSpPr>
          <p:cNvPr id="13" name="Shape 10"/>
          <p:cNvSpPr/>
          <p:nvPr/>
        </p:nvSpPr>
        <p:spPr>
          <a:xfrm>
            <a:off x="7269480" y="3337560"/>
            <a:ext cx="2103120" cy="1371600"/>
          </a:xfrm>
          <a:prstGeom prst="roundRect">
            <a:avLst>
              <a:gd name="adj" fmla="val 4000"/>
            </a:avLst>
          </a:prstGeom>
          <a:solidFill>
            <a:srgbClr val="FFFFFF"/>
          </a:solidFill>
          <a:ln w="12700">
            <a:solidFill>
              <a:srgbClr val="D2DBEC"/>
            </a:solidFill>
            <a:prstDash val="solid"/>
          </a:ln>
        </p:spPr>
      </p:sp>
      <p:sp>
        <p:nvSpPr>
          <p:cNvPr id="14" name="Text 11"/>
          <p:cNvSpPr/>
          <p:nvPr/>
        </p:nvSpPr>
        <p:spPr>
          <a:xfrm>
            <a:off x="7269480" y="3447288"/>
            <a:ext cx="2103120" cy="713232"/>
          </a:xfrm>
          <a:prstGeom prst="rect">
            <a:avLst/>
          </a:prstGeom>
          <a:noFill/>
          <a:ln/>
        </p:spPr>
        <p:txBody>
          <a:bodyPr wrap="square" lIns="0" tIns="0" rIns="0" bIns="0" rtlCol="0" anchor="ctr"/>
          <a:lstStyle/>
          <a:p>
            <a:pPr algn="ctr" indent="0" marL="0">
              <a:buNone/>
            </a:pPr>
            <a:r>
              <a:rPr lang="en-US" sz="2600" b="1" dirty="0">
                <a:solidFill>
                  <a:srgbClr val="1A56E8"/>
                </a:solidFill>
                <a:latin typeface="Calibri" pitchFamily="34" charset="0"/>
                <a:ea typeface="Calibri" pitchFamily="34" charset="-122"/>
                <a:cs typeface="Calibri" pitchFamily="34" charset="-120"/>
              </a:rPr>
              <a:t>0.93</a:t>
            </a:r>
            <a:endParaRPr lang="en-US" sz="2600" dirty="0"/>
          </a:p>
        </p:txBody>
      </p:sp>
      <p:sp>
        <p:nvSpPr>
          <p:cNvPr id="15" name="Text 12"/>
          <p:cNvSpPr/>
          <p:nvPr/>
        </p:nvSpPr>
        <p:spPr>
          <a:xfrm>
            <a:off x="7379208" y="4133088"/>
            <a:ext cx="1883664" cy="493776"/>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λ = 537 / 576</a:t>
            </a:r>
            <a:endParaRPr lang="en-US" sz="1050" dirty="0"/>
          </a:p>
        </p:txBody>
      </p:sp>
      <p:sp>
        <p:nvSpPr>
          <p:cNvPr id="16" name="Shape 13"/>
          <p:cNvSpPr/>
          <p:nvPr/>
        </p:nvSpPr>
        <p:spPr>
          <a:xfrm>
            <a:off x="9509760" y="3337560"/>
            <a:ext cx="2103120" cy="1371600"/>
          </a:xfrm>
          <a:prstGeom prst="roundRect">
            <a:avLst>
              <a:gd name="adj" fmla="val 4000"/>
            </a:avLst>
          </a:prstGeom>
          <a:solidFill>
            <a:srgbClr val="FFFFFF"/>
          </a:solidFill>
          <a:ln w="12700">
            <a:solidFill>
              <a:srgbClr val="D2DBEC"/>
            </a:solidFill>
            <a:prstDash val="solid"/>
          </a:ln>
        </p:spPr>
      </p:sp>
      <p:sp>
        <p:nvSpPr>
          <p:cNvPr id="17" name="Text 14"/>
          <p:cNvSpPr/>
          <p:nvPr/>
        </p:nvSpPr>
        <p:spPr>
          <a:xfrm>
            <a:off x="9509760" y="3447288"/>
            <a:ext cx="2103120" cy="713232"/>
          </a:xfrm>
          <a:prstGeom prst="rect">
            <a:avLst/>
          </a:prstGeom>
          <a:noFill/>
          <a:ln/>
        </p:spPr>
        <p:txBody>
          <a:bodyPr wrap="square" lIns="0" tIns="0" rIns="0" bIns="0" rtlCol="0" anchor="ctr"/>
          <a:lstStyle/>
          <a:p>
            <a:pPr algn="ctr" indent="0" marL="0">
              <a:buNone/>
            </a:pPr>
            <a:r>
              <a:rPr lang="en-US" sz="2200" b="1" dirty="0">
                <a:solidFill>
                  <a:srgbClr val="E6115E"/>
                </a:solidFill>
                <a:latin typeface="Calibri" pitchFamily="34" charset="0"/>
                <a:ea typeface="Calibri" pitchFamily="34" charset="-122"/>
                <a:cs typeface="Calibri" pitchFamily="34" charset="-120"/>
              </a:rPr>
              <a:t>p = 0.88</a:t>
            </a:r>
            <a:endParaRPr lang="en-US" sz="2200" dirty="0"/>
          </a:p>
        </p:txBody>
      </p:sp>
      <p:sp>
        <p:nvSpPr>
          <p:cNvPr id="18" name="Text 15"/>
          <p:cNvSpPr/>
          <p:nvPr/>
        </p:nvSpPr>
        <p:spPr>
          <a:xfrm>
            <a:off x="9619488" y="4133088"/>
            <a:ext cx="1883664" cy="493776"/>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el azar explica el patrón</a:t>
            </a:r>
            <a:endParaRPr lang="en-US" sz="1050" dirty="0"/>
          </a:p>
        </p:txBody>
      </p:sp>
      <p:sp>
        <p:nvSpPr>
          <p:cNvPr id="19" name="Shape 16"/>
          <p:cNvSpPr/>
          <p:nvPr/>
        </p:nvSpPr>
        <p:spPr>
          <a:xfrm>
            <a:off x="548640" y="4892040"/>
            <a:ext cx="11064240" cy="960120"/>
          </a:xfrm>
          <a:prstGeom prst="roundRect">
            <a:avLst>
              <a:gd name="adj" fmla="val 5714"/>
            </a:avLst>
          </a:prstGeom>
          <a:solidFill>
            <a:srgbClr val="0A2559"/>
          </a:solidFill>
          <a:ln w="12700">
            <a:solidFill>
              <a:srgbClr val="0A2559"/>
            </a:solidFill>
            <a:prstDash val="solid"/>
          </a:ln>
        </p:spPr>
      </p:sp>
      <p:sp>
        <p:nvSpPr>
          <p:cNvPr id="20" name="Text 17"/>
          <p:cNvSpPr/>
          <p:nvPr/>
        </p:nvSpPr>
        <p:spPr>
          <a:xfrm>
            <a:off x="822960" y="4974336"/>
            <a:ext cx="2743200" cy="256032"/>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La lección</a:t>
            </a:r>
            <a:endParaRPr lang="en-US" sz="1200" dirty="0"/>
          </a:p>
        </p:txBody>
      </p:sp>
      <p:sp>
        <p:nvSpPr>
          <p:cNvPr id="21" name="Text 18"/>
          <p:cNvSpPr/>
          <p:nvPr/>
        </p:nvSpPr>
        <p:spPr>
          <a:xfrm>
            <a:off x="822960" y="5230368"/>
            <a:ext cx="10515600" cy="548640"/>
          </a:xfrm>
          <a:prstGeom prst="rect">
            <a:avLst/>
          </a:prstGeom>
          <a:noFill/>
          <a:ln/>
        </p:spPr>
        <p:txBody>
          <a:bodyPr wrap="square" lIns="0" tIns="0" rIns="0" bIns="0" rtlCol="0" anchor="t"/>
          <a:lstStyle/>
          <a:p>
            <a:pPr indent="0" marL="0">
              <a:lnSpc>
                <a:spcPts val="1450"/>
              </a:lnSpc>
              <a:buNone/>
            </a:pPr>
            <a:r>
              <a:rPr lang="en-US" sz="1150" dirty="0">
                <a:solidFill>
                  <a:srgbClr val="DCE6F8"/>
                </a:solidFill>
                <a:latin typeface="Calibri" pitchFamily="34" charset="0"/>
                <a:ea typeface="Calibri" pitchFamily="34" charset="-122"/>
                <a:cs typeface="Calibri" pitchFamily="34" charset="-120"/>
              </a:rPr>
              <a:t>Los londinenses estaban convencidos de que las bombas caían en racimos sobre ciertos barrios y evacuaban en consecuencia. Clarke mostró que la distribución era indistinguible del azar puro. El ojo humano no tolera la aleatoriedad: la lee como intención. Es el mismo sesgo que aparece cuando un dashboard muestra tres semanas malas seguidas y alguien pide una reorganización.</a:t>
            </a:r>
            <a:endParaRPr lang="en-US" sz="1150" dirty="0"/>
          </a:p>
        </p:txBody>
      </p:sp>
      <p:sp>
        <p:nvSpPr>
          <p:cNvPr id="22" name="Text 19"/>
          <p:cNvSpPr/>
          <p:nvPr/>
        </p:nvSpPr>
        <p:spPr>
          <a:xfrm>
            <a:off x="548640" y="5989320"/>
            <a:ext cx="11064240" cy="274320"/>
          </a:xfrm>
          <a:prstGeom prst="rect">
            <a:avLst/>
          </a:prstGeom>
          <a:noFill/>
          <a:ln/>
        </p:spPr>
        <p:txBody>
          <a:bodyPr wrap="square" lIns="0" tIns="0" rIns="0" bIns="0" rtlCol="0" anchor="ctr"/>
          <a:lstStyle/>
          <a:p>
            <a:pPr indent="0" marL="0">
              <a:buNone/>
            </a:pPr>
            <a:r>
              <a:rPr lang="en-US" sz="1000" i="1" dirty="0">
                <a:solidFill>
                  <a:srgbClr val="5B6B87"/>
                </a:solidFill>
                <a:latin typeface="Calibri" pitchFamily="34" charset="0"/>
                <a:ea typeface="Calibri" pitchFamily="34" charset="-122"/>
                <a:cs typeface="Calibri" pitchFamily="34" charset="-120"/>
              </a:rPr>
              <a:t>Clarke, R. D. (1946). “An application of the Poisson distribution”. Journal of the Institute of Actuaries, 72. Revisado en Shaw &amp; Shaw (2019), Significance 16(5).</a:t>
            </a:r>
            <a:endParaRPr lang="en-US" sz="1000" dirty="0"/>
          </a:p>
        </p:txBody>
      </p:sp>
      <p:sp>
        <p:nvSpPr>
          <p:cNvPr id="23" name="Text 20"/>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1"/>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Geométrica: cuántos intentos hasta el primer éxito</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La distribución de la espera. Sin memoria: lo que pasó antes no cambia lo que viene</a:t>
            </a:r>
            <a:endParaRPr lang="en-US" sz="1450" dirty="0"/>
          </a:p>
        </p:txBody>
      </p:sp>
      <p:sp>
        <p:nvSpPr>
          <p:cNvPr id="4" name="Shape 2"/>
          <p:cNvSpPr/>
          <p:nvPr/>
        </p:nvSpPr>
        <p:spPr>
          <a:xfrm>
            <a:off x="548640" y="1920240"/>
            <a:ext cx="4937760" cy="3931920"/>
          </a:xfrm>
          <a:prstGeom prst="roundRect">
            <a:avLst>
              <a:gd name="adj" fmla="val 1395"/>
            </a:avLst>
          </a:prstGeom>
          <a:solidFill>
            <a:srgbClr val="E9EEF8"/>
          </a:solidFill>
          <a:ln w="12700">
            <a:solidFill>
              <a:srgbClr val="D2DBEC"/>
            </a:solidFill>
            <a:prstDash val="solid"/>
          </a:ln>
        </p:spPr>
      </p:sp>
      <p:sp>
        <p:nvSpPr>
          <p:cNvPr id="5" name="Shape 3"/>
          <p:cNvSpPr/>
          <p:nvPr/>
        </p:nvSpPr>
        <p:spPr>
          <a:xfrm>
            <a:off x="777240" y="2194560"/>
            <a:ext cx="118872" cy="118872"/>
          </a:xfrm>
          <a:prstGeom prst="roundRect">
            <a:avLst>
              <a:gd name="adj" fmla="val 30769"/>
            </a:avLst>
          </a:prstGeom>
          <a:solidFill>
            <a:srgbClr val="E6115E"/>
          </a:solidFill>
          <a:ln w="12700">
            <a:solidFill>
              <a:srgbClr val="E6115E"/>
            </a:solidFill>
            <a:prstDash val="solid"/>
          </a:ln>
        </p:spPr>
      </p:sp>
      <p:sp>
        <p:nvSpPr>
          <p:cNvPr id="6" name="Text 4"/>
          <p:cNvSpPr/>
          <p:nvPr/>
        </p:nvSpPr>
        <p:spPr>
          <a:xfrm>
            <a:off x="1014984" y="2103120"/>
            <a:ext cx="4242816" cy="310896"/>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Función de masa</a:t>
            </a:r>
            <a:endParaRPr lang="en-US" sz="1300" dirty="0"/>
          </a:p>
        </p:txBody>
      </p:sp>
      <p:sp>
        <p:nvSpPr>
          <p:cNvPr id="7" name="Shape 5"/>
          <p:cNvSpPr/>
          <p:nvPr/>
        </p:nvSpPr>
        <p:spPr>
          <a:xfrm>
            <a:off x="777240" y="2514600"/>
            <a:ext cx="4480560" cy="685800"/>
          </a:xfrm>
          <a:prstGeom prst="roundRect">
            <a:avLst>
              <a:gd name="adj" fmla="val 8000"/>
            </a:avLst>
          </a:prstGeom>
          <a:solidFill>
            <a:srgbClr val="0A2559"/>
          </a:solidFill>
          <a:ln w="12700">
            <a:solidFill>
              <a:srgbClr val="0A2559"/>
            </a:solidFill>
            <a:prstDash val="solid"/>
          </a:ln>
        </p:spPr>
      </p:sp>
      <p:sp>
        <p:nvSpPr>
          <p:cNvPr id="8" name="Text 6"/>
          <p:cNvSpPr/>
          <p:nvPr/>
        </p:nvSpPr>
        <p:spPr>
          <a:xfrm>
            <a:off x="868680" y="2514600"/>
            <a:ext cx="4297680" cy="68580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P(X = k) = (1 − p)ᵏ⁻¹ p</a:t>
            </a:r>
            <a:endParaRPr lang="en-US" sz="1550" dirty="0"/>
          </a:p>
        </p:txBody>
      </p:sp>
      <p:sp>
        <p:nvSpPr>
          <p:cNvPr id="9" name="Text 7"/>
          <p:cNvSpPr/>
          <p:nvPr/>
        </p:nvSpPr>
        <p:spPr>
          <a:xfrm>
            <a:off x="777240" y="3273552"/>
            <a:ext cx="4480560" cy="320040"/>
          </a:xfrm>
          <a:prstGeom prst="rect">
            <a:avLst/>
          </a:prstGeom>
          <a:noFill/>
          <a:ln/>
        </p:spPr>
        <p:txBody>
          <a:bodyPr wrap="square" lIns="0" tIns="0" rIns="0" bIns="0" rtlCol="0" anchor="ctr"/>
          <a:lstStyle/>
          <a:p>
            <a:pPr indent="0" marL="0">
              <a:buNone/>
            </a:pPr>
            <a:r>
              <a:rPr lang="en-US" sz="1150" i="1" dirty="0">
                <a:solidFill>
                  <a:srgbClr val="5B6B87"/>
                </a:solidFill>
                <a:latin typeface="Calibri" pitchFamily="34" charset="0"/>
                <a:ea typeface="Calibri" pitchFamily="34" charset="-122"/>
                <a:cs typeface="Calibri" pitchFamily="34" charset="-120"/>
              </a:rPr>
              <a:t>k ∈ {1, 2, 3, …} · parámetro: p</a:t>
            </a:r>
            <a:endParaRPr lang="en-US" sz="1150" dirty="0"/>
          </a:p>
        </p:txBody>
      </p:sp>
      <p:sp>
        <p:nvSpPr>
          <p:cNvPr id="10" name="Shape 8"/>
          <p:cNvSpPr/>
          <p:nvPr/>
        </p:nvSpPr>
        <p:spPr>
          <a:xfrm>
            <a:off x="777240" y="3657600"/>
            <a:ext cx="2103120" cy="841248"/>
          </a:xfrm>
          <a:prstGeom prst="roundRect">
            <a:avLst>
              <a:gd name="adj" fmla="val 6522"/>
            </a:avLst>
          </a:prstGeom>
          <a:solidFill>
            <a:srgbClr val="FFFFFF"/>
          </a:solidFill>
          <a:ln w="12700">
            <a:solidFill>
              <a:srgbClr val="D2DBEC"/>
            </a:solidFill>
            <a:prstDash val="solid"/>
          </a:ln>
        </p:spPr>
      </p:sp>
      <p:sp>
        <p:nvSpPr>
          <p:cNvPr id="11" name="Text 9"/>
          <p:cNvSpPr/>
          <p:nvPr/>
        </p:nvSpPr>
        <p:spPr>
          <a:xfrm>
            <a:off x="777240" y="3730752"/>
            <a:ext cx="2103120" cy="256032"/>
          </a:xfrm>
          <a:prstGeom prst="rect">
            <a:avLst/>
          </a:prstGeom>
          <a:noFill/>
          <a:ln/>
        </p:spPr>
        <p:txBody>
          <a:bodyPr wrap="square" lIns="0" tIns="0" rIns="0" bIns="0" rtlCol="0" anchor="ctr"/>
          <a:lstStyle/>
          <a:p>
            <a:pPr algn="ctr" indent="0" marL="0">
              <a:buNone/>
            </a:pPr>
            <a:r>
              <a:rPr lang="en-US" sz="1050" b="1" spc="100" kern="0" dirty="0">
                <a:solidFill>
                  <a:srgbClr val="5B6B87"/>
                </a:solidFill>
                <a:latin typeface="Calibri" pitchFamily="34" charset="0"/>
                <a:ea typeface="Calibri" pitchFamily="34" charset="-122"/>
                <a:cs typeface="Calibri" pitchFamily="34" charset="-120"/>
              </a:rPr>
              <a:t>E[X]</a:t>
            </a:r>
            <a:endParaRPr lang="en-US" sz="1050" dirty="0"/>
          </a:p>
        </p:txBody>
      </p:sp>
      <p:sp>
        <p:nvSpPr>
          <p:cNvPr id="12" name="Text 10"/>
          <p:cNvSpPr/>
          <p:nvPr/>
        </p:nvSpPr>
        <p:spPr>
          <a:xfrm>
            <a:off x="777240" y="3977640"/>
            <a:ext cx="2103120" cy="411480"/>
          </a:xfrm>
          <a:prstGeom prst="rect">
            <a:avLst/>
          </a:prstGeom>
          <a:noFill/>
          <a:ln/>
        </p:spPr>
        <p:txBody>
          <a:bodyPr wrap="square" lIns="0" tIns="0" rIns="0" bIns="0" rtlCol="0" anchor="ctr"/>
          <a:lstStyle/>
          <a:p>
            <a:pPr algn="ctr" indent="0" marL="0">
              <a:buNone/>
            </a:pPr>
            <a:r>
              <a:rPr lang="en-US" sz="1800" b="1" dirty="0">
                <a:solidFill>
                  <a:srgbClr val="1A56E8"/>
                </a:solidFill>
                <a:latin typeface="Calibri" pitchFamily="34" charset="0"/>
                <a:ea typeface="Calibri" pitchFamily="34" charset="-122"/>
                <a:cs typeface="Calibri" pitchFamily="34" charset="-120"/>
              </a:rPr>
              <a:t>1 / p</a:t>
            </a:r>
            <a:endParaRPr lang="en-US" sz="1800" dirty="0"/>
          </a:p>
        </p:txBody>
      </p:sp>
      <p:sp>
        <p:nvSpPr>
          <p:cNvPr id="13" name="Shape 11"/>
          <p:cNvSpPr/>
          <p:nvPr/>
        </p:nvSpPr>
        <p:spPr>
          <a:xfrm>
            <a:off x="3063240" y="3657600"/>
            <a:ext cx="2103120" cy="841248"/>
          </a:xfrm>
          <a:prstGeom prst="roundRect">
            <a:avLst>
              <a:gd name="adj" fmla="val 6522"/>
            </a:avLst>
          </a:prstGeom>
          <a:solidFill>
            <a:srgbClr val="FFFFFF"/>
          </a:solidFill>
          <a:ln w="12700">
            <a:solidFill>
              <a:srgbClr val="D2DBEC"/>
            </a:solidFill>
            <a:prstDash val="solid"/>
          </a:ln>
        </p:spPr>
      </p:sp>
      <p:sp>
        <p:nvSpPr>
          <p:cNvPr id="14" name="Text 12"/>
          <p:cNvSpPr/>
          <p:nvPr/>
        </p:nvSpPr>
        <p:spPr>
          <a:xfrm>
            <a:off x="3063240" y="3730752"/>
            <a:ext cx="2103120" cy="256032"/>
          </a:xfrm>
          <a:prstGeom prst="rect">
            <a:avLst/>
          </a:prstGeom>
          <a:noFill/>
          <a:ln/>
        </p:spPr>
        <p:txBody>
          <a:bodyPr wrap="square" lIns="0" tIns="0" rIns="0" bIns="0" rtlCol="0" anchor="ctr"/>
          <a:lstStyle/>
          <a:p>
            <a:pPr algn="ctr" indent="0" marL="0">
              <a:buNone/>
            </a:pPr>
            <a:r>
              <a:rPr lang="en-US" sz="1050" b="1" spc="100" kern="0" dirty="0">
                <a:solidFill>
                  <a:srgbClr val="5B6B87"/>
                </a:solidFill>
                <a:latin typeface="Calibri" pitchFamily="34" charset="0"/>
                <a:ea typeface="Calibri" pitchFamily="34" charset="-122"/>
                <a:cs typeface="Calibri" pitchFamily="34" charset="-120"/>
              </a:rPr>
              <a:t>Var(X)</a:t>
            </a:r>
            <a:endParaRPr lang="en-US" sz="1050" dirty="0"/>
          </a:p>
        </p:txBody>
      </p:sp>
      <p:sp>
        <p:nvSpPr>
          <p:cNvPr id="15" name="Text 13"/>
          <p:cNvSpPr/>
          <p:nvPr/>
        </p:nvSpPr>
        <p:spPr>
          <a:xfrm>
            <a:off x="3063240" y="3977640"/>
            <a:ext cx="2103120" cy="411480"/>
          </a:xfrm>
          <a:prstGeom prst="rect">
            <a:avLst/>
          </a:prstGeom>
          <a:noFill/>
          <a:ln/>
        </p:spPr>
        <p:txBody>
          <a:bodyPr wrap="square" lIns="0" tIns="0" rIns="0" bIns="0" rtlCol="0" anchor="ctr"/>
          <a:lstStyle/>
          <a:p>
            <a:pPr algn="ctr" indent="0" marL="0">
              <a:buNone/>
            </a:pPr>
            <a:r>
              <a:rPr lang="en-US" sz="1800" b="1" dirty="0">
                <a:solidFill>
                  <a:srgbClr val="E6115E"/>
                </a:solidFill>
                <a:latin typeface="Calibri" pitchFamily="34" charset="0"/>
                <a:ea typeface="Calibri" pitchFamily="34" charset="-122"/>
                <a:cs typeface="Calibri" pitchFamily="34" charset="-120"/>
              </a:rPr>
              <a:t>(1 − p) / p²</a:t>
            </a:r>
            <a:endParaRPr lang="en-US" sz="1800" dirty="0"/>
          </a:p>
        </p:txBody>
      </p:sp>
      <p:sp>
        <p:nvSpPr>
          <p:cNvPr id="16" name="Shape 14"/>
          <p:cNvSpPr/>
          <p:nvPr/>
        </p:nvSpPr>
        <p:spPr>
          <a:xfrm>
            <a:off x="777240" y="4709160"/>
            <a:ext cx="118872" cy="118872"/>
          </a:xfrm>
          <a:prstGeom prst="roundRect">
            <a:avLst>
              <a:gd name="adj" fmla="val 30769"/>
            </a:avLst>
          </a:prstGeom>
          <a:solidFill>
            <a:srgbClr val="E6115E"/>
          </a:solidFill>
          <a:ln w="12700">
            <a:solidFill>
              <a:srgbClr val="E6115E"/>
            </a:solidFill>
            <a:prstDash val="solid"/>
          </a:ln>
        </p:spPr>
      </p:sp>
      <p:sp>
        <p:nvSpPr>
          <p:cNvPr id="17" name="Text 15"/>
          <p:cNvSpPr/>
          <p:nvPr/>
        </p:nvSpPr>
        <p:spPr>
          <a:xfrm>
            <a:off x="1014984" y="4617720"/>
            <a:ext cx="4242816" cy="310896"/>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Caso de negocio</a:t>
            </a:r>
            <a:endParaRPr lang="en-US" sz="1300" dirty="0"/>
          </a:p>
        </p:txBody>
      </p:sp>
      <p:sp>
        <p:nvSpPr>
          <p:cNvPr id="18" name="Text 16"/>
          <p:cNvSpPr/>
          <p:nvPr/>
        </p:nvSpPr>
        <p:spPr>
          <a:xfrm>
            <a:off x="1014984" y="4983480"/>
            <a:ext cx="4251960" cy="777240"/>
          </a:xfrm>
          <a:prstGeom prst="rect">
            <a:avLst/>
          </a:prstGeom>
          <a:noFill/>
          <a:ln/>
        </p:spPr>
        <p:txBody>
          <a:bodyPr wrap="square" lIns="0" tIns="0" rIns="0" bIns="0" rtlCol="0" anchor="ctr"/>
          <a:lstStyle/>
          <a:p>
            <a:pPr indent="0" marL="0">
              <a:lnSpc>
                <a:spcPts val="1550"/>
              </a:lnSpc>
              <a:buNone/>
            </a:pPr>
            <a:r>
              <a:rPr lang="en-US" sz="1200" dirty="0">
                <a:solidFill>
                  <a:srgbClr val="2C3A55"/>
                </a:solidFill>
                <a:latin typeface="Calibri" pitchFamily="34" charset="0"/>
                <a:ea typeface="Calibri" pitchFamily="34" charset="-122"/>
                <a:cs typeface="Calibri" pitchFamily="34" charset="-120"/>
              </a:rPr>
              <a:t>¿Cuántos correos hasta la primera respuesta? ¿Cuántas sesiones hasta la primera compra? Base del análisis de embudo y de churn.</a:t>
            </a:r>
            <a:endParaRPr lang="en-US" sz="1200" dirty="0"/>
          </a:p>
        </p:txBody>
      </p:sp>
      <p:graphicFrame>
        <p:nvGraphicFramePr>
          <p:cNvPr id="19" name="Chart 0" descr=""/>
          <p:cNvGraphicFramePr/>
          <p:nvPr/>
        </p:nvGraphicFramePr>
        <p:xfrm>
          <a:off x="5806440" y="1920240"/>
          <a:ext cx="5806440" cy="2834640"/>
        </p:xfrm>
        <a:graphic xmlns:a="http://schemas.openxmlformats.org/drawingml/2006/main">
          <a:graphicData uri="http://schemas.openxmlformats.org/drawingml/2006/chart">
            <c:chart xmlns:c="http://schemas.openxmlformats.org/drawingml/2006/chart" r:id="rId1"/>
          </a:graphicData>
        </a:graphic>
      </p:graphicFrame>
      <p:sp>
        <p:nvSpPr>
          <p:cNvPr id="20" name="Shape 17"/>
          <p:cNvSpPr/>
          <p:nvPr/>
        </p:nvSpPr>
        <p:spPr>
          <a:xfrm>
            <a:off x="5806440" y="4892040"/>
            <a:ext cx="5806440" cy="960120"/>
          </a:xfrm>
          <a:prstGeom prst="roundRect">
            <a:avLst>
              <a:gd name="adj" fmla="val 5714"/>
            </a:avLst>
          </a:prstGeom>
          <a:solidFill>
            <a:srgbClr val="DCE6F8"/>
          </a:solidFill>
          <a:ln w="12700">
            <a:solidFill>
              <a:srgbClr val="C3D5F5"/>
            </a:solidFill>
            <a:prstDash val="solid"/>
          </a:ln>
        </p:spPr>
      </p:sp>
      <p:sp>
        <p:nvSpPr>
          <p:cNvPr id="21" name="Shape 18"/>
          <p:cNvSpPr/>
          <p:nvPr/>
        </p:nvSpPr>
        <p:spPr>
          <a:xfrm>
            <a:off x="6044184" y="5312664"/>
            <a:ext cx="118872" cy="118872"/>
          </a:xfrm>
          <a:prstGeom prst="roundRect">
            <a:avLst>
              <a:gd name="adj" fmla="val 30769"/>
            </a:avLst>
          </a:prstGeom>
          <a:solidFill>
            <a:srgbClr val="E6115E"/>
          </a:solidFill>
          <a:ln w="12700">
            <a:solidFill>
              <a:srgbClr val="E6115E"/>
            </a:solidFill>
            <a:prstDash val="solid"/>
          </a:ln>
        </p:spPr>
      </p:sp>
      <p:sp>
        <p:nvSpPr>
          <p:cNvPr id="22" name="Text 19"/>
          <p:cNvSpPr/>
          <p:nvPr/>
        </p:nvSpPr>
        <p:spPr>
          <a:xfrm>
            <a:off x="6281928" y="4892040"/>
            <a:ext cx="5074920" cy="960120"/>
          </a:xfrm>
          <a:prstGeom prst="rect">
            <a:avLst/>
          </a:prstGeom>
          <a:noFill/>
          <a:ln/>
        </p:spPr>
        <p:txBody>
          <a:bodyPr wrap="square" lIns="0" tIns="0" rIns="0" bIns="0" rtlCol="0" anchor="ctr"/>
          <a:lstStyle/>
          <a:p>
            <a:pPr indent="0" marL="0">
              <a:lnSpc>
                <a:spcPts val="1656"/>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656"/>
              </a:lnSpc>
              <a:buNone/>
            </a:pPr>
            <a:r>
              <a:rPr lang="en-US" sz="1200" dirty="0">
                <a:solidFill>
                  <a:srgbClr val="0A2559"/>
                </a:solidFill>
                <a:latin typeface="Calibri" pitchFamily="34" charset="0"/>
                <a:ea typeface="Calibri" pitchFamily="34" charset="-122"/>
                <a:cs typeface="Calibri" pitchFamily="34" charset="-120"/>
              </a:rPr>
              <a:t>La raspadita. Llevar 20 perdidas no mejora la 21: cada intento olvida los anteriores. Ahí está también el límite del modelo, porque el mundo sí tiene memoria.</a:t>
            </a:r>
            <a:endParaRPr lang="en-US" sz="1000" dirty="0"/>
          </a:p>
        </p:txBody>
      </p:sp>
      <p:sp>
        <p:nvSpPr>
          <p:cNvPr id="23" name="Text 20"/>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1"/>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Las cuatro, en una sola tabla</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Esta es la tabla que quiero que sepas leer al terminar la clase</a:t>
            </a:r>
            <a:endParaRPr lang="en-US" sz="1450" dirty="0"/>
          </a:p>
        </p:txBody>
      </p:sp>
      <p:sp>
        <p:nvSpPr>
          <p:cNvPr id="4" name="Shape 2"/>
          <p:cNvSpPr/>
          <p:nvPr/>
        </p:nvSpPr>
        <p:spPr>
          <a:xfrm>
            <a:off x="548640" y="1920240"/>
            <a:ext cx="11064240" cy="502920"/>
          </a:xfrm>
          <a:prstGeom prst="roundRect">
            <a:avLst>
              <a:gd name="adj" fmla="val 10909"/>
            </a:avLst>
          </a:prstGeom>
          <a:solidFill>
            <a:srgbClr val="0A2559"/>
          </a:solidFill>
          <a:ln w="12700">
            <a:solidFill>
              <a:srgbClr val="0A2559"/>
            </a:solidFill>
            <a:prstDash val="solid"/>
          </a:ln>
        </p:spPr>
      </p:sp>
      <p:sp>
        <p:nvSpPr>
          <p:cNvPr id="5" name="Text 3"/>
          <p:cNvSpPr/>
          <p:nvPr/>
        </p:nvSpPr>
        <p:spPr>
          <a:xfrm>
            <a:off x="685800" y="1920240"/>
            <a:ext cx="196596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Distribución</a:t>
            </a:r>
            <a:endParaRPr lang="en-US" sz="1300" dirty="0"/>
          </a:p>
        </p:txBody>
      </p:sp>
      <p:sp>
        <p:nvSpPr>
          <p:cNvPr id="6" name="Text 4"/>
          <p:cNvSpPr/>
          <p:nvPr/>
        </p:nvSpPr>
        <p:spPr>
          <a:xfrm>
            <a:off x="2651760" y="1920240"/>
            <a:ext cx="160020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Pregunta</a:t>
            </a:r>
            <a:endParaRPr lang="en-US" sz="1300" dirty="0"/>
          </a:p>
        </p:txBody>
      </p:sp>
      <p:sp>
        <p:nvSpPr>
          <p:cNvPr id="7" name="Text 5"/>
          <p:cNvSpPr/>
          <p:nvPr/>
        </p:nvSpPr>
        <p:spPr>
          <a:xfrm>
            <a:off x="4251960" y="1920240"/>
            <a:ext cx="128016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a:t>
            </a:r>
            <a:endParaRPr lang="en-US" sz="1300" dirty="0"/>
          </a:p>
        </p:txBody>
      </p:sp>
      <p:sp>
        <p:nvSpPr>
          <p:cNvPr id="8" name="Text 6"/>
          <p:cNvSpPr/>
          <p:nvPr/>
        </p:nvSpPr>
        <p:spPr>
          <a:xfrm>
            <a:off x="5532120" y="1920240"/>
            <a:ext cx="14630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Var(X)</a:t>
            </a:r>
            <a:endParaRPr lang="en-US" sz="1300" dirty="0"/>
          </a:p>
        </p:txBody>
      </p:sp>
      <p:sp>
        <p:nvSpPr>
          <p:cNvPr id="9" name="Text 7"/>
          <p:cNvSpPr/>
          <p:nvPr/>
        </p:nvSpPr>
        <p:spPr>
          <a:xfrm>
            <a:off x="7040880" y="1920240"/>
            <a:ext cx="438912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Analogía</a:t>
            </a:r>
            <a:endParaRPr lang="en-US" sz="1300" dirty="0"/>
          </a:p>
        </p:txBody>
      </p:sp>
      <p:sp>
        <p:nvSpPr>
          <p:cNvPr id="10" name="Shape 8"/>
          <p:cNvSpPr/>
          <p:nvPr/>
        </p:nvSpPr>
        <p:spPr>
          <a:xfrm>
            <a:off x="548640" y="2514600"/>
            <a:ext cx="11064240" cy="621792"/>
          </a:xfrm>
          <a:prstGeom prst="roundRect">
            <a:avLst>
              <a:gd name="adj" fmla="val 8824"/>
            </a:avLst>
          </a:prstGeom>
          <a:solidFill>
            <a:srgbClr val="EDF1F9"/>
          </a:solidFill>
          <a:ln w="12700">
            <a:solidFill>
              <a:srgbClr val="EDF1F9"/>
            </a:solidFill>
            <a:prstDash val="solid"/>
          </a:ln>
        </p:spPr>
      </p:sp>
      <p:sp>
        <p:nvSpPr>
          <p:cNvPr id="11" name="Text 9"/>
          <p:cNvSpPr/>
          <p:nvPr/>
        </p:nvSpPr>
        <p:spPr>
          <a:xfrm>
            <a:off x="685800" y="2514600"/>
            <a:ext cx="1965960" cy="621792"/>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Bernoulli(p)</a:t>
            </a:r>
            <a:endParaRPr lang="en-US" sz="1300" dirty="0"/>
          </a:p>
        </p:txBody>
      </p:sp>
      <p:sp>
        <p:nvSpPr>
          <p:cNvPr id="12" name="Text 10"/>
          <p:cNvSpPr/>
          <p:nvPr/>
        </p:nvSpPr>
        <p:spPr>
          <a:xfrm>
            <a:off x="2651760" y="2514600"/>
            <a:ext cx="1600200" cy="621792"/>
          </a:xfrm>
          <a:prstGeom prst="rect">
            <a:avLst/>
          </a:prstGeom>
          <a:noFill/>
          <a:ln/>
        </p:spPr>
        <p:txBody>
          <a:bodyPr wrap="square" lIns="0" tIns="0" rIns="0" bIns="0" rtlCol="0" anchor="ctr"/>
          <a:lstStyle/>
          <a:p>
            <a:pPr indent="0" marL="0">
              <a:buNone/>
            </a:pPr>
            <a:r>
              <a:rPr lang="en-US" sz="1250" dirty="0">
                <a:solidFill>
                  <a:srgbClr val="2C3A55"/>
                </a:solidFill>
                <a:latin typeface="Calibri" pitchFamily="34" charset="0"/>
                <a:ea typeface="Calibri" pitchFamily="34" charset="-122"/>
                <a:cs typeface="Calibri" pitchFamily="34" charset="-120"/>
              </a:rPr>
              <a:t>¿Ocurrió?</a:t>
            </a:r>
            <a:endParaRPr lang="en-US" sz="1250" dirty="0"/>
          </a:p>
        </p:txBody>
      </p:sp>
      <p:sp>
        <p:nvSpPr>
          <p:cNvPr id="13" name="Text 11"/>
          <p:cNvSpPr/>
          <p:nvPr/>
        </p:nvSpPr>
        <p:spPr>
          <a:xfrm>
            <a:off x="4251960" y="2514600"/>
            <a:ext cx="1280160" cy="621792"/>
          </a:xfrm>
          <a:prstGeom prst="rect">
            <a:avLst/>
          </a:prstGeom>
          <a:noFill/>
          <a:ln/>
        </p:spPr>
        <p:txBody>
          <a:bodyPr wrap="square" lIns="0" tIns="0" rIns="0" bIns="0" rtlCol="0" anchor="ctr"/>
          <a:lstStyle/>
          <a:p>
            <a:pPr indent="0" marL="0">
              <a:buNone/>
            </a:pPr>
            <a:r>
              <a:rPr lang="en-US" sz="1500" b="1" dirty="0">
                <a:solidFill>
                  <a:srgbClr val="1A56E8"/>
                </a:solidFill>
                <a:latin typeface="Calibri" pitchFamily="34" charset="0"/>
                <a:ea typeface="Calibri" pitchFamily="34" charset="-122"/>
                <a:cs typeface="Calibri" pitchFamily="34" charset="-120"/>
              </a:rPr>
              <a:t>p</a:t>
            </a:r>
            <a:endParaRPr lang="en-US" sz="1500" dirty="0"/>
          </a:p>
        </p:txBody>
      </p:sp>
      <p:sp>
        <p:nvSpPr>
          <p:cNvPr id="14" name="Text 12"/>
          <p:cNvSpPr/>
          <p:nvPr/>
        </p:nvSpPr>
        <p:spPr>
          <a:xfrm>
            <a:off x="5532120" y="2514600"/>
            <a:ext cx="1463040" cy="621792"/>
          </a:xfrm>
          <a:prstGeom prst="rect">
            <a:avLst/>
          </a:prstGeom>
          <a:noFill/>
          <a:ln/>
        </p:spPr>
        <p:txBody>
          <a:bodyPr wrap="square" lIns="0" tIns="0" rIns="0" bIns="0" rtlCol="0" anchor="ctr"/>
          <a:lstStyle/>
          <a:p>
            <a:pPr indent="0" marL="0">
              <a:buNone/>
            </a:pPr>
            <a:r>
              <a:rPr lang="en-US" sz="1500" b="1" dirty="0">
                <a:solidFill>
                  <a:srgbClr val="E6115E"/>
                </a:solidFill>
                <a:latin typeface="Calibri" pitchFamily="34" charset="0"/>
                <a:ea typeface="Calibri" pitchFamily="34" charset="-122"/>
                <a:cs typeface="Calibri" pitchFamily="34" charset="-120"/>
              </a:rPr>
              <a:t>p(1−p)</a:t>
            </a:r>
            <a:endParaRPr lang="en-US" sz="1500" dirty="0"/>
          </a:p>
        </p:txBody>
      </p:sp>
      <p:sp>
        <p:nvSpPr>
          <p:cNvPr id="15" name="Text 13"/>
          <p:cNvSpPr/>
          <p:nvPr/>
        </p:nvSpPr>
        <p:spPr>
          <a:xfrm>
            <a:off x="7040880" y="2514600"/>
            <a:ext cx="4389120" cy="621792"/>
          </a:xfrm>
          <a:prstGeom prst="rect">
            <a:avLst/>
          </a:prstGeom>
          <a:noFill/>
          <a:ln/>
        </p:spPr>
        <p:txBody>
          <a:bodyPr wrap="square" lIns="0" tIns="0" rIns="0" bIns="0" rtlCol="0" anchor="ctr"/>
          <a:lstStyle/>
          <a:p>
            <a:pPr indent="0" marL="0">
              <a:buNone/>
            </a:pPr>
            <a:r>
              <a:rPr lang="en-US" sz="1250" i="1" dirty="0">
                <a:solidFill>
                  <a:srgbClr val="2C3A55"/>
                </a:solidFill>
                <a:latin typeface="Calibri" pitchFamily="34" charset="0"/>
                <a:ea typeface="Calibri" pitchFamily="34" charset="-122"/>
                <a:cs typeface="Calibri" pitchFamily="34" charset="-120"/>
              </a:rPr>
              <a:t>El torniquete del metro</a:t>
            </a:r>
            <a:endParaRPr lang="en-US" sz="1250" dirty="0"/>
          </a:p>
        </p:txBody>
      </p:sp>
      <p:sp>
        <p:nvSpPr>
          <p:cNvPr id="16" name="Text 14"/>
          <p:cNvSpPr/>
          <p:nvPr/>
        </p:nvSpPr>
        <p:spPr>
          <a:xfrm>
            <a:off x="685800" y="3191256"/>
            <a:ext cx="1965960" cy="621792"/>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Binomial(n, p)</a:t>
            </a:r>
            <a:endParaRPr lang="en-US" sz="1300" dirty="0"/>
          </a:p>
        </p:txBody>
      </p:sp>
      <p:sp>
        <p:nvSpPr>
          <p:cNvPr id="17" name="Text 15"/>
          <p:cNvSpPr/>
          <p:nvPr/>
        </p:nvSpPr>
        <p:spPr>
          <a:xfrm>
            <a:off x="2651760" y="3191256"/>
            <a:ext cx="1600200" cy="621792"/>
          </a:xfrm>
          <a:prstGeom prst="rect">
            <a:avLst/>
          </a:prstGeom>
          <a:noFill/>
          <a:ln/>
        </p:spPr>
        <p:txBody>
          <a:bodyPr wrap="square" lIns="0" tIns="0" rIns="0" bIns="0" rtlCol="0" anchor="ctr"/>
          <a:lstStyle/>
          <a:p>
            <a:pPr indent="0" marL="0">
              <a:buNone/>
            </a:pPr>
            <a:r>
              <a:rPr lang="en-US" sz="1250" dirty="0">
                <a:solidFill>
                  <a:srgbClr val="2C3A55"/>
                </a:solidFill>
                <a:latin typeface="Calibri" pitchFamily="34" charset="0"/>
                <a:ea typeface="Calibri" pitchFamily="34" charset="-122"/>
                <a:cs typeface="Calibri" pitchFamily="34" charset="-120"/>
              </a:rPr>
              <a:t>¿Cuántos de n?</a:t>
            </a:r>
            <a:endParaRPr lang="en-US" sz="1250" dirty="0"/>
          </a:p>
        </p:txBody>
      </p:sp>
      <p:sp>
        <p:nvSpPr>
          <p:cNvPr id="18" name="Text 16"/>
          <p:cNvSpPr/>
          <p:nvPr/>
        </p:nvSpPr>
        <p:spPr>
          <a:xfrm>
            <a:off x="4251960" y="3191256"/>
            <a:ext cx="1280160" cy="621792"/>
          </a:xfrm>
          <a:prstGeom prst="rect">
            <a:avLst/>
          </a:prstGeom>
          <a:noFill/>
          <a:ln/>
        </p:spPr>
        <p:txBody>
          <a:bodyPr wrap="square" lIns="0" tIns="0" rIns="0" bIns="0" rtlCol="0" anchor="ctr"/>
          <a:lstStyle/>
          <a:p>
            <a:pPr indent="0" marL="0">
              <a:buNone/>
            </a:pPr>
            <a:r>
              <a:rPr lang="en-US" sz="1500" b="1" dirty="0">
                <a:solidFill>
                  <a:srgbClr val="1A56E8"/>
                </a:solidFill>
                <a:latin typeface="Calibri" pitchFamily="34" charset="0"/>
                <a:ea typeface="Calibri" pitchFamily="34" charset="-122"/>
                <a:cs typeface="Calibri" pitchFamily="34" charset="-120"/>
              </a:rPr>
              <a:t>np</a:t>
            </a:r>
            <a:endParaRPr lang="en-US" sz="1500" dirty="0"/>
          </a:p>
        </p:txBody>
      </p:sp>
      <p:sp>
        <p:nvSpPr>
          <p:cNvPr id="19" name="Text 17"/>
          <p:cNvSpPr/>
          <p:nvPr/>
        </p:nvSpPr>
        <p:spPr>
          <a:xfrm>
            <a:off x="5532120" y="3191256"/>
            <a:ext cx="1463040" cy="621792"/>
          </a:xfrm>
          <a:prstGeom prst="rect">
            <a:avLst/>
          </a:prstGeom>
          <a:noFill/>
          <a:ln/>
        </p:spPr>
        <p:txBody>
          <a:bodyPr wrap="square" lIns="0" tIns="0" rIns="0" bIns="0" rtlCol="0" anchor="ctr"/>
          <a:lstStyle/>
          <a:p>
            <a:pPr indent="0" marL="0">
              <a:buNone/>
            </a:pPr>
            <a:r>
              <a:rPr lang="en-US" sz="1500" b="1" dirty="0">
                <a:solidFill>
                  <a:srgbClr val="E6115E"/>
                </a:solidFill>
                <a:latin typeface="Calibri" pitchFamily="34" charset="0"/>
                <a:ea typeface="Calibri" pitchFamily="34" charset="-122"/>
                <a:cs typeface="Calibri" pitchFamily="34" charset="-120"/>
              </a:rPr>
              <a:t>np(1−p)</a:t>
            </a:r>
            <a:endParaRPr lang="en-US" sz="1500" dirty="0"/>
          </a:p>
        </p:txBody>
      </p:sp>
      <p:sp>
        <p:nvSpPr>
          <p:cNvPr id="20" name="Text 18"/>
          <p:cNvSpPr/>
          <p:nvPr/>
        </p:nvSpPr>
        <p:spPr>
          <a:xfrm>
            <a:off x="7040880" y="3191256"/>
            <a:ext cx="4389120" cy="621792"/>
          </a:xfrm>
          <a:prstGeom prst="rect">
            <a:avLst/>
          </a:prstGeom>
          <a:noFill/>
          <a:ln/>
        </p:spPr>
        <p:txBody>
          <a:bodyPr wrap="square" lIns="0" tIns="0" rIns="0" bIns="0" rtlCol="0" anchor="ctr"/>
          <a:lstStyle/>
          <a:p>
            <a:pPr indent="0" marL="0">
              <a:buNone/>
            </a:pPr>
            <a:r>
              <a:rPr lang="en-US" sz="1250" i="1" dirty="0">
                <a:solidFill>
                  <a:srgbClr val="2C3A55"/>
                </a:solidFill>
                <a:latin typeface="Calibri" pitchFamily="34" charset="0"/>
                <a:ea typeface="Calibri" pitchFamily="34" charset="-122"/>
                <a:cs typeface="Calibri" pitchFamily="34" charset="-120"/>
              </a:rPr>
              <a:t>La caja de 30 huevos</a:t>
            </a:r>
            <a:endParaRPr lang="en-US" sz="1250" dirty="0"/>
          </a:p>
        </p:txBody>
      </p:sp>
      <p:sp>
        <p:nvSpPr>
          <p:cNvPr id="21" name="Shape 19"/>
          <p:cNvSpPr/>
          <p:nvPr/>
        </p:nvSpPr>
        <p:spPr>
          <a:xfrm>
            <a:off x="548640" y="3867912"/>
            <a:ext cx="11064240" cy="621792"/>
          </a:xfrm>
          <a:prstGeom prst="roundRect">
            <a:avLst>
              <a:gd name="adj" fmla="val 8824"/>
            </a:avLst>
          </a:prstGeom>
          <a:solidFill>
            <a:srgbClr val="EDF1F9"/>
          </a:solidFill>
          <a:ln w="12700">
            <a:solidFill>
              <a:srgbClr val="EDF1F9"/>
            </a:solidFill>
            <a:prstDash val="solid"/>
          </a:ln>
        </p:spPr>
      </p:sp>
      <p:sp>
        <p:nvSpPr>
          <p:cNvPr id="22" name="Text 20"/>
          <p:cNvSpPr/>
          <p:nvPr/>
        </p:nvSpPr>
        <p:spPr>
          <a:xfrm>
            <a:off x="685800" y="3867912"/>
            <a:ext cx="1965960" cy="621792"/>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Poisson(λ)</a:t>
            </a:r>
            <a:endParaRPr lang="en-US" sz="1300" dirty="0"/>
          </a:p>
        </p:txBody>
      </p:sp>
      <p:sp>
        <p:nvSpPr>
          <p:cNvPr id="23" name="Text 21"/>
          <p:cNvSpPr/>
          <p:nvPr/>
        </p:nvSpPr>
        <p:spPr>
          <a:xfrm>
            <a:off x="2651760" y="3867912"/>
            <a:ext cx="1600200" cy="621792"/>
          </a:xfrm>
          <a:prstGeom prst="rect">
            <a:avLst/>
          </a:prstGeom>
          <a:noFill/>
          <a:ln/>
        </p:spPr>
        <p:txBody>
          <a:bodyPr wrap="square" lIns="0" tIns="0" rIns="0" bIns="0" rtlCol="0" anchor="ctr"/>
          <a:lstStyle/>
          <a:p>
            <a:pPr indent="0" marL="0">
              <a:buNone/>
            </a:pPr>
            <a:r>
              <a:rPr lang="en-US" sz="1250" dirty="0">
                <a:solidFill>
                  <a:srgbClr val="2C3A55"/>
                </a:solidFill>
                <a:latin typeface="Calibri" pitchFamily="34" charset="0"/>
                <a:ea typeface="Calibri" pitchFamily="34" charset="-122"/>
                <a:cs typeface="Calibri" pitchFamily="34" charset="-120"/>
              </a:rPr>
              <a:t>¿Cuántos por hora?</a:t>
            </a:r>
            <a:endParaRPr lang="en-US" sz="1250" dirty="0"/>
          </a:p>
        </p:txBody>
      </p:sp>
      <p:sp>
        <p:nvSpPr>
          <p:cNvPr id="24" name="Text 22"/>
          <p:cNvSpPr/>
          <p:nvPr/>
        </p:nvSpPr>
        <p:spPr>
          <a:xfrm>
            <a:off x="4251960" y="3867912"/>
            <a:ext cx="1280160" cy="621792"/>
          </a:xfrm>
          <a:prstGeom prst="rect">
            <a:avLst/>
          </a:prstGeom>
          <a:noFill/>
          <a:ln/>
        </p:spPr>
        <p:txBody>
          <a:bodyPr wrap="square" lIns="0" tIns="0" rIns="0" bIns="0" rtlCol="0" anchor="ctr"/>
          <a:lstStyle/>
          <a:p>
            <a:pPr indent="0" marL="0">
              <a:buNone/>
            </a:pPr>
            <a:r>
              <a:rPr lang="en-US" sz="1500" b="1" dirty="0">
                <a:solidFill>
                  <a:srgbClr val="1A56E8"/>
                </a:solidFill>
                <a:latin typeface="Calibri" pitchFamily="34" charset="0"/>
                <a:ea typeface="Calibri" pitchFamily="34" charset="-122"/>
                <a:cs typeface="Calibri" pitchFamily="34" charset="-120"/>
              </a:rPr>
              <a:t>λ</a:t>
            </a:r>
            <a:endParaRPr lang="en-US" sz="1500" dirty="0"/>
          </a:p>
        </p:txBody>
      </p:sp>
      <p:sp>
        <p:nvSpPr>
          <p:cNvPr id="25" name="Text 23"/>
          <p:cNvSpPr/>
          <p:nvPr/>
        </p:nvSpPr>
        <p:spPr>
          <a:xfrm>
            <a:off x="5532120" y="3867912"/>
            <a:ext cx="1463040" cy="621792"/>
          </a:xfrm>
          <a:prstGeom prst="rect">
            <a:avLst/>
          </a:prstGeom>
          <a:noFill/>
          <a:ln/>
        </p:spPr>
        <p:txBody>
          <a:bodyPr wrap="square" lIns="0" tIns="0" rIns="0" bIns="0" rtlCol="0" anchor="ctr"/>
          <a:lstStyle/>
          <a:p>
            <a:pPr indent="0" marL="0">
              <a:buNone/>
            </a:pPr>
            <a:r>
              <a:rPr lang="en-US" sz="1500" b="1" dirty="0">
                <a:solidFill>
                  <a:srgbClr val="E6115E"/>
                </a:solidFill>
                <a:latin typeface="Calibri" pitchFamily="34" charset="0"/>
                <a:ea typeface="Calibri" pitchFamily="34" charset="-122"/>
                <a:cs typeface="Calibri" pitchFamily="34" charset="-120"/>
              </a:rPr>
              <a:t>λ</a:t>
            </a:r>
            <a:endParaRPr lang="en-US" sz="1500" dirty="0"/>
          </a:p>
        </p:txBody>
      </p:sp>
      <p:sp>
        <p:nvSpPr>
          <p:cNvPr id="26" name="Text 24"/>
          <p:cNvSpPr/>
          <p:nvPr/>
        </p:nvSpPr>
        <p:spPr>
          <a:xfrm>
            <a:off x="7040880" y="3867912"/>
            <a:ext cx="4389120" cy="621792"/>
          </a:xfrm>
          <a:prstGeom prst="rect">
            <a:avLst/>
          </a:prstGeom>
          <a:noFill/>
          <a:ln/>
        </p:spPr>
        <p:txBody>
          <a:bodyPr wrap="square" lIns="0" tIns="0" rIns="0" bIns="0" rtlCol="0" anchor="ctr"/>
          <a:lstStyle/>
          <a:p>
            <a:pPr indent="0" marL="0">
              <a:buNone/>
            </a:pPr>
            <a:r>
              <a:rPr lang="en-US" sz="1250" i="1" dirty="0">
                <a:solidFill>
                  <a:srgbClr val="2C3A55"/>
                </a:solidFill>
                <a:latin typeface="Calibri" pitchFamily="34" charset="0"/>
                <a:ea typeface="Calibri" pitchFamily="34" charset="-122"/>
                <a:cs typeface="Calibri" pitchFamily="34" charset="-120"/>
              </a:rPr>
              <a:t>Gotas de lluvia en una loseta</a:t>
            </a:r>
            <a:endParaRPr lang="en-US" sz="1250" dirty="0"/>
          </a:p>
        </p:txBody>
      </p:sp>
      <p:sp>
        <p:nvSpPr>
          <p:cNvPr id="27" name="Text 25"/>
          <p:cNvSpPr/>
          <p:nvPr/>
        </p:nvSpPr>
        <p:spPr>
          <a:xfrm>
            <a:off x="685800" y="4544568"/>
            <a:ext cx="1965960" cy="621792"/>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Geométrica(p)</a:t>
            </a:r>
            <a:endParaRPr lang="en-US" sz="1300" dirty="0"/>
          </a:p>
        </p:txBody>
      </p:sp>
      <p:sp>
        <p:nvSpPr>
          <p:cNvPr id="28" name="Text 26"/>
          <p:cNvSpPr/>
          <p:nvPr/>
        </p:nvSpPr>
        <p:spPr>
          <a:xfrm>
            <a:off x="2651760" y="4544568"/>
            <a:ext cx="1600200" cy="621792"/>
          </a:xfrm>
          <a:prstGeom prst="rect">
            <a:avLst/>
          </a:prstGeom>
          <a:noFill/>
          <a:ln/>
        </p:spPr>
        <p:txBody>
          <a:bodyPr wrap="square" lIns="0" tIns="0" rIns="0" bIns="0" rtlCol="0" anchor="ctr"/>
          <a:lstStyle/>
          <a:p>
            <a:pPr indent="0" marL="0">
              <a:buNone/>
            </a:pPr>
            <a:r>
              <a:rPr lang="en-US" sz="1250" dirty="0">
                <a:solidFill>
                  <a:srgbClr val="2C3A55"/>
                </a:solidFill>
                <a:latin typeface="Calibri" pitchFamily="34" charset="0"/>
                <a:ea typeface="Calibri" pitchFamily="34" charset="-122"/>
                <a:cs typeface="Calibri" pitchFamily="34" charset="-120"/>
              </a:rPr>
              <a:t>¿Cuánto esperé?</a:t>
            </a:r>
            <a:endParaRPr lang="en-US" sz="1250" dirty="0"/>
          </a:p>
        </p:txBody>
      </p:sp>
      <p:sp>
        <p:nvSpPr>
          <p:cNvPr id="29" name="Text 27"/>
          <p:cNvSpPr/>
          <p:nvPr/>
        </p:nvSpPr>
        <p:spPr>
          <a:xfrm>
            <a:off x="4251960" y="4544568"/>
            <a:ext cx="1280160" cy="621792"/>
          </a:xfrm>
          <a:prstGeom prst="rect">
            <a:avLst/>
          </a:prstGeom>
          <a:noFill/>
          <a:ln/>
        </p:spPr>
        <p:txBody>
          <a:bodyPr wrap="square" lIns="0" tIns="0" rIns="0" bIns="0" rtlCol="0" anchor="ctr"/>
          <a:lstStyle/>
          <a:p>
            <a:pPr indent="0" marL="0">
              <a:buNone/>
            </a:pPr>
            <a:r>
              <a:rPr lang="en-US" sz="1500" b="1" dirty="0">
                <a:solidFill>
                  <a:srgbClr val="1A56E8"/>
                </a:solidFill>
                <a:latin typeface="Calibri" pitchFamily="34" charset="0"/>
                <a:ea typeface="Calibri" pitchFamily="34" charset="-122"/>
                <a:cs typeface="Calibri" pitchFamily="34" charset="-120"/>
              </a:rPr>
              <a:t>1/p</a:t>
            </a:r>
            <a:endParaRPr lang="en-US" sz="1500" dirty="0"/>
          </a:p>
        </p:txBody>
      </p:sp>
      <p:sp>
        <p:nvSpPr>
          <p:cNvPr id="30" name="Text 28"/>
          <p:cNvSpPr/>
          <p:nvPr/>
        </p:nvSpPr>
        <p:spPr>
          <a:xfrm>
            <a:off x="5532120" y="4544568"/>
            <a:ext cx="1463040" cy="621792"/>
          </a:xfrm>
          <a:prstGeom prst="rect">
            <a:avLst/>
          </a:prstGeom>
          <a:noFill/>
          <a:ln/>
        </p:spPr>
        <p:txBody>
          <a:bodyPr wrap="square" lIns="0" tIns="0" rIns="0" bIns="0" rtlCol="0" anchor="ctr"/>
          <a:lstStyle/>
          <a:p>
            <a:pPr indent="0" marL="0">
              <a:buNone/>
            </a:pPr>
            <a:r>
              <a:rPr lang="en-US" sz="1500" b="1" dirty="0">
                <a:solidFill>
                  <a:srgbClr val="E6115E"/>
                </a:solidFill>
                <a:latin typeface="Calibri" pitchFamily="34" charset="0"/>
                <a:ea typeface="Calibri" pitchFamily="34" charset="-122"/>
                <a:cs typeface="Calibri" pitchFamily="34" charset="-120"/>
              </a:rPr>
              <a:t>(1−p)/p²</a:t>
            </a:r>
            <a:endParaRPr lang="en-US" sz="1500" dirty="0"/>
          </a:p>
        </p:txBody>
      </p:sp>
      <p:sp>
        <p:nvSpPr>
          <p:cNvPr id="31" name="Text 29"/>
          <p:cNvSpPr/>
          <p:nvPr/>
        </p:nvSpPr>
        <p:spPr>
          <a:xfrm>
            <a:off x="7040880" y="4544568"/>
            <a:ext cx="4389120" cy="621792"/>
          </a:xfrm>
          <a:prstGeom prst="rect">
            <a:avLst/>
          </a:prstGeom>
          <a:noFill/>
          <a:ln/>
        </p:spPr>
        <p:txBody>
          <a:bodyPr wrap="square" lIns="0" tIns="0" rIns="0" bIns="0" rtlCol="0" anchor="ctr"/>
          <a:lstStyle/>
          <a:p>
            <a:pPr indent="0" marL="0">
              <a:buNone/>
            </a:pPr>
            <a:r>
              <a:rPr lang="en-US" sz="1250" i="1" dirty="0">
                <a:solidFill>
                  <a:srgbClr val="2C3A55"/>
                </a:solidFill>
                <a:latin typeface="Calibri" pitchFamily="34" charset="0"/>
                <a:ea typeface="Calibri" pitchFamily="34" charset="-122"/>
                <a:cs typeface="Calibri" pitchFamily="34" charset="-120"/>
              </a:rPr>
              <a:t>La raspadita</a:t>
            </a:r>
            <a:endParaRPr lang="en-US" sz="1250" dirty="0"/>
          </a:p>
        </p:txBody>
      </p:sp>
      <p:sp>
        <p:nvSpPr>
          <p:cNvPr id="32" name="Shape 30"/>
          <p:cNvSpPr/>
          <p:nvPr/>
        </p:nvSpPr>
        <p:spPr>
          <a:xfrm>
            <a:off x="548640" y="5303520"/>
            <a:ext cx="11064240" cy="502920"/>
          </a:xfrm>
          <a:prstGeom prst="roundRect">
            <a:avLst>
              <a:gd name="adj" fmla="val 10909"/>
            </a:avLst>
          </a:prstGeom>
          <a:solidFill>
            <a:srgbClr val="DCE6F8"/>
          </a:solidFill>
          <a:ln w="12700">
            <a:solidFill>
              <a:srgbClr val="DCE6F8"/>
            </a:solidFill>
            <a:prstDash val="solid"/>
          </a:ln>
        </p:spPr>
      </p:sp>
      <p:sp>
        <p:nvSpPr>
          <p:cNvPr id="33" name="Text 31"/>
          <p:cNvSpPr/>
          <p:nvPr/>
        </p:nvSpPr>
        <p:spPr>
          <a:xfrm>
            <a:off x="777240" y="5303520"/>
            <a:ext cx="10607040" cy="502920"/>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Conexiones: Binomial = suma de n Bernoulli · Poisson ≈ Binomial cuando n es grande y p pequeño · Geométrica = la espera entre éxitos</a:t>
            </a:r>
            <a:endParaRPr lang="en-US" sz="1250" dirty="0"/>
          </a:p>
        </p:txBody>
      </p:sp>
      <p:sp>
        <p:nvSpPr>
          <p:cNvPr id="34" name="Text 32"/>
          <p:cNvSpPr/>
          <p:nvPr/>
        </p:nvSpPr>
        <p:spPr>
          <a:xfrm>
            <a:off x="548640" y="5989320"/>
            <a:ext cx="11064240" cy="274320"/>
          </a:xfrm>
          <a:prstGeom prst="rect">
            <a:avLst/>
          </a:prstGeom>
          <a:noFill/>
          <a:ln/>
        </p:spPr>
        <p:txBody>
          <a:bodyPr wrap="square" lIns="0" tIns="0" rIns="0" bIns="0" rtlCol="0" anchor="ctr"/>
          <a:lstStyle/>
          <a:p>
            <a:pPr indent="0" marL="0">
              <a:buNone/>
            </a:pPr>
            <a:r>
              <a:rPr lang="en-US" sz="1000" i="1" dirty="0">
                <a:solidFill>
                  <a:srgbClr val="5B6B87"/>
                </a:solidFill>
                <a:latin typeface="Calibri" pitchFamily="34" charset="0"/>
                <a:ea typeface="Calibri" pitchFamily="34" charset="-122"/>
                <a:cs typeface="Calibri" pitchFamily="34" charset="-120"/>
              </a:rPr>
              <a:t>Tabla de referencia completa de familias de distribuciones: Casella &amp; Berger, cap. 3; Blitzstein &amp; Hwang, cap. 3 y 4.</a:t>
            </a:r>
            <a:endParaRPr lang="en-US" sz="1000" dirty="0"/>
          </a:p>
        </p:txBody>
      </p:sp>
      <p:sp>
        <p:nvSpPr>
          <p:cNvPr id="35" name="Text 33"/>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36" name="Text 34"/>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Del problema de negocio a la distribución</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Cuatro preguntas en orden. Casi siempre bastan</a:t>
            </a:r>
            <a:endParaRPr lang="en-US" sz="1450" dirty="0"/>
          </a:p>
        </p:txBody>
      </p:sp>
      <p:sp>
        <p:nvSpPr>
          <p:cNvPr id="4" name="Shape 2"/>
          <p:cNvSpPr/>
          <p:nvPr/>
        </p:nvSpPr>
        <p:spPr>
          <a:xfrm>
            <a:off x="548640" y="2057400"/>
            <a:ext cx="2606040" cy="2743200"/>
          </a:xfrm>
          <a:prstGeom prst="roundRect">
            <a:avLst>
              <a:gd name="adj" fmla="val 2105"/>
            </a:avLst>
          </a:prstGeom>
          <a:solidFill>
            <a:srgbClr val="E9EEF8"/>
          </a:solidFill>
          <a:ln w="12700">
            <a:solidFill>
              <a:srgbClr val="D2DBEC"/>
            </a:solidFill>
            <a:prstDash val="solid"/>
          </a:ln>
        </p:spPr>
      </p:sp>
      <p:sp>
        <p:nvSpPr>
          <p:cNvPr id="5" name="Shape 3"/>
          <p:cNvSpPr/>
          <p:nvPr/>
        </p:nvSpPr>
        <p:spPr>
          <a:xfrm>
            <a:off x="777240" y="1874520"/>
            <a:ext cx="457200" cy="365760"/>
          </a:xfrm>
          <a:prstGeom prst="roundRect">
            <a:avLst>
              <a:gd name="adj" fmla="val 50000"/>
            </a:avLst>
          </a:prstGeom>
          <a:solidFill>
            <a:srgbClr val="E6115E"/>
          </a:solidFill>
          <a:ln w="12700">
            <a:solidFill>
              <a:srgbClr val="E6115E"/>
            </a:solidFill>
            <a:prstDash val="solid"/>
          </a:ln>
        </p:spPr>
      </p:sp>
      <p:sp>
        <p:nvSpPr>
          <p:cNvPr id="6" name="Text 4"/>
          <p:cNvSpPr/>
          <p:nvPr/>
        </p:nvSpPr>
        <p:spPr>
          <a:xfrm>
            <a:off x="777240" y="1874520"/>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777240" y="2395728"/>
            <a:ext cx="2194560" cy="658368"/>
          </a:xfrm>
          <a:prstGeom prst="rect">
            <a:avLst/>
          </a:prstGeom>
          <a:noFill/>
          <a:ln/>
        </p:spPr>
        <p:txBody>
          <a:bodyPr wrap="square" lIns="0" tIns="0" rIns="0" bIns="0" rtlCol="0" anchor="ctr"/>
          <a:lstStyle/>
          <a:p>
            <a:pPr indent="0" marL="0">
              <a:lnSpc>
                <a:spcPts val="1700"/>
              </a:lnSpc>
              <a:buNone/>
            </a:pPr>
            <a:r>
              <a:rPr lang="en-US" sz="1350" b="1" dirty="0">
                <a:solidFill>
                  <a:srgbClr val="0A2559"/>
                </a:solidFill>
                <a:latin typeface="Calibri" pitchFamily="34" charset="0"/>
                <a:ea typeface="Calibri" pitchFamily="34" charset="-122"/>
                <a:cs typeface="Calibri" pitchFamily="34" charset="-120"/>
              </a:rPr>
              <a:t>¿Qué estoy contando?</a:t>
            </a:r>
            <a:endParaRPr lang="en-US" sz="1350" dirty="0"/>
          </a:p>
        </p:txBody>
      </p:sp>
      <p:sp>
        <p:nvSpPr>
          <p:cNvPr id="8" name="Shape 6"/>
          <p:cNvSpPr/>
          <p:nvPr/>
        </p:nvSpPr>
        <p:spPr>
          <a:xfrm>
            <a:off x="777240" y="3127248"/>
            <a:ext cx="2148840" cy="0"/>
          </a:xfrm>
          <a:prstGeom prst="line">
            <a:avLst/>
          </a:prstGeom>
          <a:noFill/>
          <a:ln w="12700">
            <a:solidFill>
              <a:srgbClr val="C6D2E8"/>
            </a:solidFill>
            <a:prstDash val="solid"/>
          </a:ln>
        </p:spPr>
      </p:sp>
      <p:sp>
        <p:nvSpPr>
          <p:cNvPr id="9" name="Text 7"/>
          <p:cNvSpPr/>
          <p:nvPr/>
        </p:nvSpPr>
        <p:spPr>
          <a:xfrm>
            <a:off x="777240" y="3236976"/>
            <a:ext cx="2194560" cy="822960"/>
          </a:xfrm>
          <a:prstGeom prst="rect">
            <a:avLst/>
          </a:prstGeom>
          <a:noFill/>
          <a:ln/>
        </p:spPr>
        <p:txBody>
          <a:bodyPr wrap="square" lIns="0" tIns="0" rIns="0" bIns="0" rtlCol="0" anchor="ctr"/>
          <a:lstStyle/>
          <a:p>
            <a:pPr indent="0" marL="0">
              <a:lnSpc>
                <a:spcPts val="1600"/>
              </a:lnSpc>
              <a:buNone/>
            </a:pPr>
            <a:r>
              <a:rPr lang="en-US" sz="1250" b="1" dirty="0">
                <a:solidFill>
                  <a:srgbClr val="1A56E8"/>
                </a:solidFill>
                <a:latin typeface="Calibri" pitchFamily="34" charset="0"/>
                <a:ea typeface="Calibri" pitchFamily="34" charset="-122"/>
                <a:cs typeface="Calibri" pitchFamily="34" charset="-120"/>
              </a:rPr>
              <a:t>Un resultado binario → Bernoulli</a:t>
            </a:r>
            <a:endParaRPr lang="en-US" sz="1250" dirty="0"/>
          </a:p>
        </p:txBody>
      </p:sp>
      <p:sp>
        <p:nvSpPr>
          <p:cNvPr id="10" name="Text 8"/>
          <p:cNvSpPr/>
          <p:nvPr/>
        </p:nvSpPr>
        <p:spPr>
          <a:xfrm>
            <a:off x="777240" y="4160520"/>
            <a:ext cx="2194560" cy="548640"/>
          </a:xfrm>
          <a:prstGeom prst="rect">
            <a:avLst/>
          </a:prstGeom>
          <a:noFill/>
          <a:ln/>
        </p:spPr>
        <p:txBody>
          <a:bodyPr wrap="square" lIns="0" tIns="0" rIns="0" bIns="0" rtlCol="0" anchor="ctr"/>
          <a:lstStyle/>
          <a:p>
            <a:pPr indent="0" marL="0">
              <a:lnSpc>
                <a:spcPts val="1500"/>
              </a:lnSpc>
              <a:buNone/>
            </a:pPr>
            <a:r>
              <a:rPr lang="en-US" sz="1150" i="1" dirty="0">
                <a:solidFill>
                  <a:srgbClr val="5B6B87"/>
                </a:solidFill>
                <a:latin typeface="Calibri" pitchFamily="34" charset="0"/>
                <a:ea typeface="Calibri" pitchFamily="34" charset="-122"/>
                <a:cs typeface="Calibri" pitchFamily="34" charset="-120"/>
              </a:rPr>
              <a:t>¿Pagó / no pagó?</a:t>
            </a:r>
            <a:endParaRPr lang="en-US" sz="1150" dirty="0"/>
          </a:p>
        </p:txBody>
      </p:sp>
      <p:sp>
        <p:nvSpPr>
          <p:cNvPr id="11" name="Shape 9"/>
          <p:cNvSpPr/>
          <p:nvPr/>
        </p:nvSpPr>
        <p:spPr>
          <a:xfrm>
            <a:off x="3218688" y="3474720"/>
            <a:ext cx="128016" cy="0"/>
          </a:xfrm>
          <a:prstGeom prst="line">
            <a:avLst/>
          </a:prstGeom>
          <a:noFill/>
          <a:ln w="25400">
            <a:solidFill>
              <a:srgbClr val="5B6B87"/>
            </a:solidFill>
            <a:prstDash val="solid"/>
            <a:tailEnd type="triangle"/>
          </a:ln>
        </p:spPr>
      </p:sp>
      <p:sp>
        <p:nvSpPr>
          <p:cNvPr id="12" name="Shape 10"/>
          <p:cNvSpPr/>
          <p:nvPr/>
        </p:nvSpPr>
        <p:spPr>
          <a:xfrm>
            <a:off x="3383280" y="2057400"/>
            <a:ext cx="2606040" cy="2743200"/>
          </a:xfrm>
          <a:prstGeom prst="roundRect">
            <a:avLst>
              <a:gd name="adj" fmla="val 2105"/>
            </a:avLst>
          </a:prstGeom>
          <a:solidFill>
            <a:srgbClr val="E9EEF8"/>
          </a:solidFill>
          <a:ln w="12700">
            <a:solidFill>
              <a:srgbClr val="D2DBEC"/>
            </a:solidFill>
            <a:prstDash val="solid"/>
          </a:ln>
        </p:spPr>
      </p:sp>
      <p:sp>
        <p:nvSpPr>
          <p:cNvPr id="13" name="Shape 11"/>
          <p:cNvSpPr/>
          <p:nvPr/>
        </p:nvSpPr>
        <p:spPr>
          <a:xfrm>
            <a:off x="3611880" y="1874520"/>
            <a:ext cx="457200" cy="365760"/>
          </a:xfrm>
          <a:prstGeom prst="roundRect">
            <a:avLst>
              <a:gd name="adj" fmla="val 50000"/>
            </a:avLst>
          </a:prstGeom>
          <a:solidFill>
            <a:srgbClr val="E6115E"/>
          </a:solidFill>
          <a:ln w="12700">
            <a:solidFill>
              <a:srgbClr val="E6115E"/>
            </a:solidFill>
            <a:prstDash val="solid"/>
          </a:ln>
        </p:spPr>
      </p:sp>
      <p:sp>
        <p:nvSpPr>
          <p:cNvPr id="14" name="Text 12"/>
          <p:cNvSpPr/>
          <p:nvPr/>
        </p:nvSpPr>
        <p:spPr>
          <a:xfrm>
            <a:off x="3611880" y="1874520"/>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3611880" y="2395728"/>
            <a:ext cx="2194560" cy="658368"/>
          </a:xfrm>
          <a:prstGeom prst="rect">
            <a:avLst/>
          </a:prstGeom>
          <a:noFill/>
          <a:ln/>
        </p:spPr>
        <p:txBody>
          <a:bodyPr wrap="square" lIns="0" tIns="0" rIns="0" bIns="0" rtlCol="0" anchor="ctr"/>
          <a:lstStyle/>
          <a:p>
            <a:pPr indent="0" marL="0">
              <a:lnSpc>
                <a:spcPts val="1700"/>
              </a:lnSpc>
              <a:buNone/>
            </a:pPr>
            <a:r>
              <a:rPr lang="en-US" sz="1350" b="1" dirty="0">
                <a:solidFill>
                  <a:srgbClr val="0A2559"/>
                </a:solidFill>
                <a:latin typeface="Calibri" pitchFamily="34" charset="0"/>
                <a:ea typeface="Calibri" pitchFamily="34" charset="-122"/>
                <a:cs typeface="Calibri" pitchFamily="34" charset="-120"/>
              </a:rPr>
              <a:t>¿Cuántos intentos hay?</a:t>
            </a:r>
            <a:endParaRPr lang="en-US" sz="1350" dirty="0"/>
          </a:p>
        </p:txBody>
      </p:sp>
      <p:sp>
        <p:nvSpPr>
          <p:cNvPr id="16" name="Shape 14"/>
          <p:cNvSpPr/>
          <p:nvPr/>
        </p:nvSpPr>
        <p:spPr>
          <a:xfrm>
            <a:off x="3611880" y="3127248"/>
            <a:ext cx="2148840" cy="0"/>
          </a:xfrm>
          <a:prstGeom prst="line">
            <a:avLst/>
          </a:prstGeom>
          <a:noFill/>
          <a:ln w="12700">
            <a:solidFill>
              <a:srgbClr val="C6D2E8"/>
            </a:solidFill>
            <a:prstDash val="solid"/>
          </a:ln>
        </p:spPr>
      </p:sp>
      <p:sp>
        <p:nvSpPr>
          <p:cNvPr id="17" name="Text 15"/>
          <p:cNvSpPr/>
          <p:nvPr/>
        </p:nvSpPr>
        <p:spPr>
          <a:xfrm>
            <a:off x="3611880" y="3236976"/>
            <a:ext cx="2194560" cy="822960"/>
          </a:xfrm>
          <a:prstGeom prst="rect">
            <a:avLst/>
          </a:prstGeom>
          <a:noFill/>
          <a:ln/>
        </p:spPr>
        <p:txBody>
          <a:bodyPr wrap="square" lIns="0" tIns="0" rIns="0" bIns="0" rtlCol="0" anchor="ctr"/>
          <a:lstStyle/>
          <a:p>
            <a:pPr indent="0" marL="0">
              <a:lnSpc>
                <a:spcPts val="1600"/>
              </a:lnSpc>
              <a:buNone/>
            </a:pPr>
            <a:r>
              <a:rPr lang="en-US" sz="1250" b="1" dirty="0">
                <a:solidFill>
                  <a:srgbClr val="1A56E8"/>
                </a:solidFill>
                <a:latin typeface="Calibri" pitchFamily="34" charset="0"/>
                <a:ea typeface="Calibri" pitchFamily="34" charset="-122"/>
                <a:cs typeface="Calibri" pitchFamily="34" charset="-120"/>
              </a:rPr>
              <a:t>n fijo y conocido → Binomial</a:t>
            </a:r>
            <a:endParaRPr lang="en-US" sz="1250" dirty="0"/>
          </a:p>
        </p:txBody>
      </p:sp>
      <p:sp>
        <p:nvSpPr>
          <p:cNvPr id="18" name="Text 16"/>
          <p:cNvSpPr/>
          <p:nvPr/>
        </p:nvSpPr>
        <p:spPr>
          <a:xfrm>
            <a:off x="3611880" y="4160520"/>
            <a:ext cx="2194560" cy="548640"/>
          </a:xfrm>
          <a:prstGeom prst="rect">
            <a:avLst/>
          </a:prstGeom>
          <a:noFill/>
          <a:ln/>
        </p:spPr>
        <p:txBody>
          <a:bodyPr wrap="square" lIns="0" tIns="0" rIns="0" bIns="0" rtlCol="0" anchor="ctr"/>
          <a:lstStyle/>
          <a:p>
            <a:pPr indent="0" marL="0">
              <a:lnSpc>
                <a:spcPts val="1500"/>
              </a:lnSpc>
              <a:buNone/>
            </a:pPr>
            <a:r>
              <a:rPr lang="en-US" sz="1150" i="1" dirty="0">
                <a:solidFill>
                  <a:srgbClr val="5B6B87"/>
                </a:solidFill>
                <a:latin typeface="Calibri" pitchFamily="34" charset="0"/>
                <a:ea typeface="Calibri" pitchFamily="34" charset="-122"/>
                <a:cs typeface="Calibri" pitchFamily="34" charset="-120"/>
              </a:rPr>
              <a:t>1,000 visitas esta semana</a:t>
            </a:r>
            <a:endParaRPr lang="en-US" sz="1150" dirty="0"/>
          </a:p>
        </p:txBody>
      </p:sp>
      <p:sp>
        <p:nvSpPr>
          <p:cNvPr id="19" name="Shape 17"/>
          <p:cNvSpPr/>
          <p:nvPr/>
        </p:nvSpPr>
        <p:spPr>
          <a:xfrm>
            <a:off x="6053328" y="3474720"/>
            <a:ext cx="128016" cy="0"/>
          </a:xfrm>
          <a:prstGeom prst="line">
            <a:avLst/>
          </a:prstGeom>
          <a:noFill/>
          <a:ln w="25400">
            <a:solidFill>
              <a:srgbClr val="5B6B87"/>
            </a:solidFill>
            <a:prstDash val="solid"/>
            <a:tailEnd type="triangle"/>
          </a:ln>
        </p:spPr>
      </p:sp>
      <p:sp>
        <p:nvSpPr>
          <p:cNvPr id="20" name="Shape 18"/>
          <p:cNvSpPr/>
          <p:nvPr/>
        </p:nvSpPr>
        <p:spPr>
          <a:xfrm>
            <a:off x="6217920" y="2057400"/>
            <a:ext cx="2606040" cy="2743200"/>
          </a:xfrm>
          <a:prstGeom prst="roundRect">
            <a:avLst>
              <a:gd name="adj" fmla="val 2105"/>
            </a:avLst>
          </a:prstGeom>
          <a:solidFill>
            <a:srgbClr val="E9EEF8"/>
          </a:solidFill>
          <a:ln w="12700">
            <a:solidFill>
              <a:srgbClr val="D2DBEC"/>
            </a:solidFill>
            <a:prstDash val="solid"/>
          </a:ln>
        </p:spPr>
      </p:sp>
      <p:sp>
        <p:nvSpPr>
          <p:cNvPr id="21" name="Shape 19"/>
          <p:cNvSpPr/>
          <p:nvPr/>
        </p:nvSpPr>
        <p:spPr>
          <a:xfrm>
            <a:off x="6446520" y="1874520"/>
            <a:ext cx="457200" cy="365760"/>
          </a:xfrm>
          <a:prstGeom prst="roundRect">
            <a:avLst>
              <a:gd name="adj" fmla="val 50000"/>
            </a:avLst>
          </a:prstGeom>
          <a:solidFill>
            <a:srgbClr val="E6115E"/>
          </a:solidFill>
          <a:ln w="12700">
            <a:solidFill>
              <a:srgbClr val="E6115E"/>
            </a:solidFill>
            <a:prstDash val="solid"/>
          </a:ln>
        </p:spPr>
      </p:sp>
      <p:sp>
        <p:nvSpPr>
          <p:cNvPr id="22" name="Text 20"/>
          <p:cNvSpPr/>
          <p:nvPr/>
        </p:nvSpPr>
        <p:spPr>
          <a:xfrm>
            <a:off x="6446520" y="1874520"/>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6446520" y="2395728"/>
            <a:ext cx="2194560" cy="658368"/>
          </a:xfrm>
          <a:prstGeom prst="rect">
            <a:avLst/>
          </a:prstGeom>
          <a:noFill/>
          <a:ln/>
        </p:spPr>
        <p:txBody>
          <a:bodyPr wrap="square" lIns="0" tIns="0" rIns="0" bIns="0" rtlCol="0" anchor="ctr"/>
          <a:lstStyle/>
          <a:p>
            <a:pPr indent="0" marL="0">
              <a:lnSpc>
                <a:spcPts val="1700"/>
              </a:lnSpc>
              <a:buNone/>
            </a:pPr>
            <a:r>
              <a:rPr lang="en-US" sz="1350" b="1" dirty="0">
                <a:solidFill>
                  <a:srgbClr val="0A2559"/>
                </a:solidFill>
                <a:latin typeface="Calibri" pitchFamily="34" charset="0"/>
                <a:ea typeface="Calibri" pitchFamily="34" charset="-122"/>
                <a:cs typeface="Calibri" pitchFamily="34" charset="-120"/>
              </a:rPr>
              <a:t>¿No hay n, sino una ventana?</a:t>
            </a:r>
            <a:endParaRPr lang="en-US" sz="1350" dirty="0"/>
          </a:p>
        </p:txBody>
      </p:sp>
      <p:sp>
        <p:nvSpPr>
          <p:cNvPr id="24" name="Shape 22"/>
          <p:cNvSpPr/>
          <p:nvPr/>
        </p:nvSpPr>
        <p:spPr>
          <a:xfrm>
            <a:off x="6446520" y="3127248"/>
            <a:ext cx="2148840" cy="0"/>
          </a:xfrm>
          <a:prstGeom prst="line">
            <a:avLst/>
          </a:prstGeom>
          <a:noFill/>
          <a:ln w="12700">
            <a:solidFill>
              <a:srgbClr val="C6D2E8"/>
            </a:solidFill>
            <a:prstDash val="solid"/>
          </a:ln>
        </p:spPr>
      </p:sp>
      <p:sp>
        <p:nvSpPr>
          <p:cNvPr id="25" name="Text 23"/>
          <p:cNvSpPr/>
          <p:nvPr/>
        </p:nvSpPr>
        <p:spPr>
          <a:xfrm>
            <a:off x="6446520" y="3236976"/>
            <a:ext cx="2194560" cy="822960"/>
          </a:xfrm>
          <a:prstGeom prst="rect">
            <a:avLst/>
          </a:prstGeom>
          <a:noFill/>
          <a:ln/>
        </p:spPr>
        <p:txBody>
          <a:bodyPr wrap="square" lIns="0" tIns="0" rIns="0" bIns="0" rtlCol="0" anchor="ctr"/>
          <a:lstStyle/>
          <a:p>
            <a:pPr indent="0" marL="0">
              <a:lnSpc>
                <a:spcPts val="1600"/>
              </a:lnSpc>
              <a:buNone/>
            </a:pPr>
            <a:r>
              <a:rPr lang="en-US" sz="1250" b="1" dirty="0">
                <a:solidFill>
                  <a:srgbClr val="1A56E8"/>
                </a:solidFill>
                <a:latin typeface="Calibri" pitchFamily="34" charset="0"/>
                <a:ea typeface="Calibri" pitchFamily="34" charset="-122"/>
                <a:cs typeface="Calibri" pitchFamily="34" charset="-120"/>
              </a:rPr>
              <a:t>Tasa por unidad de tiempo → Poisson</a:t>
            </a:r>
            <a:endParaRPr lang="en-US" sz="1250" dirty="0"/>
          </a:p>
        </p:txBody>
      </p:sp>
      <p:sp>
        <p:nvSpPr>
          <p:cNvPr id="26" name="Text 24"/>
          <p:cNvSpPr/>
          <p:nvPr/>
        </p:nvSpPr>
        <p:spPr>
          <a:xfrm>
            <a:off x="6446520" y="4160520"/>
            <a:ext cx="2194560" cy="548640"/>
          </a:xfrm>
          <a:prstGeom prst="rect">
            <a:avLst/>
          </a:prstGeom>
          <a:noFill/>
          <a:ln/>
        </p:spPr>
        <p:txBody>
          <a:bodyPr wrap="square" lIns="0" tIns="0" rIns="0" bIns="0" rtlCol="0" anchor="ctr"/>
          <a:lstStyle/>
          <a:p>
            <a:pPr indent="0" marL="0">
              <a:lnSpc>
                <a:spcPts val="1500"/>
              </a:lnSpc>
              <a:buNone/>
            </a:pPr>
            <a:r>
              <a:rPr lang="en-US" sz="1150" i="1" dirty="0">
                <a:solidFill>
                  <a:srgbClr val="5B6B87"/>
                </a:solidFill>
                <a:latin typeface="Calibri" pitchFamily="34" charset="0"/>
                <a:ea typeface="Calibri" pitchFamily="34" charset="-122"/>
                <a:cs typeface="Calibri" pitchFamily="34" charset="-120"/>
              </a:rPr>
              <a:t>Reclamos por hora</a:t>
            </a:r>
            <a:endParaRPr lang="en-US" sz="1150" dirty="0"/>
          </a:p>
        </p:txBody>
      </p:sp>
      <p:sp>
        <p:nvSpPr>
          <p:cNvPr id="27" name="Shape 25"/>
          <p:cNvSpPr/>
          <p:nvPr/>
        </p:nvSpPr>
        <p:spPr>
          <a:xfrm>
            <a:off x="8887968" y="3474720"/>
            <a:ext cx="128016" cy="0"/>
          </a:xfrm>
          <a:prstGeom prst="line">
            <a:avLst/>
          </a:prstGeom>
          <a:noFill/>
          <a:ln w="25400">
            <a:solidFill>
              <a:srgbClr val="5B6B87"/>
            </a:solidFill>
            <a:prstDash val="solid"/>
            <a:tailEnd type="triangle"/>
          </a:ln>
        </p:spPr>
      </p:sp>
      <p:sp>
        <p:nvSpPr>
          <p:cNvPr id="28" name="Shape 26"/>
          <p:cNvSpPr/>
          <p:nvPr/>
        </p:nvSpPr>
        <p:spPr>
          <a:xfrm>
            <a:off x="9052560" y="2057400"/>
            <a:ext cx="2606040" cy="2743200"/>
          </a:xfrm>
          <a:prstGeom prst="roundRect">
            <a:avLst>
              <a:gd name="adj" fmla="val 2105"/>
            </a:avLst>
          </a:prstGeom>
          <a:solidFill>
            <a:srgbClr val="E9EEF8"/>
          </a:solidFill>
          <a:ln w="12700">
            <a:solidFill>
              <a:srgbClr val="D2DBEC"/>
            </a:solidFill>
            <a:prstDash val="solid"/>
          </a:ln>
        </p:spPr>
      </p:sp>
      <p:sp>
        <p:nvSpPr>
          <p:cNvPr id="29" name="Shape 27"/>
          <p:cNvSpPr/>
          <p:nvPr/>
        </p:nvSpPr>
        <p:spPr>
          <a:xfrm>
            <a:off x="9281160" y="1874520"/>
            <a:ext cx="457200" cy="365760"/>
          </a:xfrm>
          <a:prstGeom prst="roundRect">
            <a:avLst>
              <a:gd name="adj" fmla="val 50000"/>
            </a:avLst>
          </a:prstGeom>
          <a:solidFill>
            <a:srgbClr val="E6115E"/>
          </a:solidFill>
          <a:ln w="12700">
            <a:solidFill>
              <a:srgbClr val="E6115E"/>
            </a:solidFill>
            <a:prstDash val="solid"/>
          </a:ln>
        </p:spPr>
      </p:sp>
      <p:sp>
        <p:nvSpPr>
          <p:cNvPr id="30" name="Text 28"/>
          <p:cNvSpPr/>
          <p:nvPr/>
        </p:nvSpPr>
        <p:spPr>
          <a:xfrm>
            <a:off x="9281160" y="1874520"/>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9"/>
          <p:cNvSpPr/>
          <p:nvPr/>
        </p:nvSpPr>
        <p:spPr>
          <a:xfrm>
            <a:off x="9281160" y="2395728"/>
            <a:ext cx="2194560" cy="658368"/>
          </a:xfrm>
          <a:prstGeom prst="rect">
            <a:avLst/>
          </a:prstGeom>
          <a:noFill/>
          <a:ln/>
        </p:spPr>
        <p:txBody>
          <a:bodyPr wrap="square" lIns="0" tIns="0" rIns="0" bIns="0" rtlCol="0" anchor="ctr"/>
          <a:lstStyle/>
          <a:p>
            <a:pPr indent="0" marL="0">
              <a:lnSpc>
                <a:spcPts val="1700"/>
              </a:lnSpc>
              <a:buNone/>
            </a:pPr>
            <a:r>
              <a:rPr lang="en-US" sz="1350" b="1" dirty="0">
                <a:solidFill>
                  <a:srgbClr val="0A2559"/>
                </a:solidFill>
                <a:latin typeface="Calibri" pitchFamily="34" charset="0"/>
                <a:ea typeface="Calibri" pitchFamily="34" charset="-122"/>
                <a:cs typeface="Calibri" pitchFamily="34" charset="-120"/>
              </a:rPr>
              <a:t>¿Me interesa la espera?</a:t>
            </a:r>
            <a:endParaRPr lang="en-US" sz="1350" dirty="0"/>
          </a:p>
        </p:txBody>
      </p:sp>
      <p:sp>
        <p:nvSpPr>
          <p:cNvPr id="32" name="Shape 30"/>
          <p:cNvSpPr/>
          <p:nvPr/>
        </p:nvSpPr>
        <p:spPr>
          <a:xfrm>
            <a:off x="9281160" y="3127248"/>
            <a:ext cx="2148840" cy="0"/>
          </a:xfrm>
          <a:prstGeom prst="line">
            <a:avLst/>
          </a:prstGeom>
          <a:noFill/>
          <a:ln w="12700">
            <a:solidFill>
              <a:srgbClr val="C6D2E8"/>
            </a:solidFill>
            <a:prstDash val="solid"/>
          </a:ln>
        </p:spPr>
      </p:sp>
      <p:sp>
        <p:nvSpPr>
          <p:cNvPr id="33" name="Text 31"/>
          <p:cNvSpPr/>
          <p:nvPr/>
        </p:nvSpPr>
        <p:spPr>
          <a:xfrm>
            <a:off x="9281160" y="3236976"/>
            <a:ext cx="2194560" cy="822960"/>
          </a:xfrm>
          <a:prstGeom prst="rect">
            <a:avLst/>
          </a:prstGeom>
          <a:noFill/>
          <a:ln/>
        </p:spPr>
        <p:txBody>
          <a:bodyPr wrap="square" lIns="0" tIns="0" rIns="0" bIns="0" rtlCol="0" anchor="ctr"/>
          <a:lstStyle/>
          <a:p>
            <a:pPr indent="0" marL="0">
              <a:lnSpc>
                <a:spcPts val="1600"/>
              </a:lnSpc>
              <a:buNone/>
            </a:pPr>
            <a:r>
              <a:rPr lang="en-US" sz="1250" b="1" dirty="0">
                <a:solidFill>
                  <a:srgbClr val="1A56E8"/>
                </a:solidFill>
                <a:latin typeface="Calibri" pitchFamily="34" charset="0"/>
                <a:ea typeface="Calibri" pitchFamily="34" charset="-122"/>
                <a:cs typeface="Calibri" pitchFamily="34" charset="-120"/>
              </a:rPr>
              <a:t>Intentos hasta el éxito → Geométrica</a:t>
            </a:r>
            <a:endParaRPr lang="en-US" sz="1250" dirty="0"/>
          </a:p>
        </p:txBody>
      </p:sp>
      <p:sp>
        <p:nvSpPr>
          <p:cNvPr id="34" name="Text 32"/>
          <p:cNvSpPr/>
          <p:nvPr/>
        </p:nvSpPr>
        <p:spPr>
          <a:xfrm>
            <a:off x="9281160" y="4160520"/>
            <a:ext cx="2194560" cy="548640"/>
          </a:xfrm>
          <a:prstGeom prst="rect">
            <a:avLst/>
          </a:prstGeom>
          <a:noFill/>
          <a:ln/>
        </p:spPr>
        <p:txBody>
          <a:bodyPr wrap="square" lIns="0" tIns="0" rIns="0" bIns="0" rtlCol="0" anchor="ctr"/>
          <a:lstStyle/>
          <a:p>
            <a:pPr indent="0" marL="0">
              <a:lnSpc>
                <a:spcPts val="1500"/>
              </a:lnSpc>
              <a:buNone/>
            </a:pPr>
            <a:r>
              <a:rPr lang="en-US" sz="1150" i="1" dirty="0">
                <a:solidFill>
                  <a:srgbClr val="5B6B87"/>
                </a:solidFill>
                <a:latin typeface="Calibri" pitchFamily="34" charset="0"/>
                <a:ea typeface="Calibri" pitchFamily="34" charset="-122"/>
                <a:cs typeface="Calibri" pitchFamily="34" charset="-120"/>
              </a:rPr>
              <a:t>Correos hasta la respuesta</a:t>
            </a:r>
            <a:endParaRPr lang="en-US" sz="1150" dirty="0"/>
          </a:p>
        </p:txBody>
      </p:sp>
      <p:sp>
        <p:nvSpPr>
          <p:cNvPr id="35" name="Shape 33"/>
          <p:cNvSpPr/>
          <p:nvPr/>
        </p:nvSpPr>
        <p:spPr>
          <a:xfrm>
            <a:off x="548640" y="4956048"/>
            <a:ext cx="11064240" cy="548640"/>
          </a:xfrm>
          <a:prstGeom prst="roundRect">
            <a:avLst>
              <a:gd name="adj" fmla="val 10000"/>
            </a:avLst>
          </a:prstGeom>
          <a:solidFill>
            <a:srgbClr val="0A2559"/>
          </a:solidFill>
          <a:ln w="12700">
            <a:solidFill>
              <a:srgbClr val="0A2559"/>
            </a:solidFill>
            <a:prstDash val="solid"/>
          </a:ln>
        </p:spPr>
      </p:sp>
      <p:sp>
        <p:nvSpPr>
          <p:cNvPr id="36" name="Text 34"/>
          <p:cNvSpPr/>
          <p:nvPr/>
        </p:nvSpPr>
        <p:spPr>
          <a:xfrm>
            <a:off x="822960" y="4956048"/>
            <a:ext cx="10607040" cy="5486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Y siempre la quinta pregunta: ¿los supuestos de independencia y de p constante se sostienen en mis datos? Casi nunca del todo. Sé explícito al respecto.</a:t>
            </a:r>
            <a:endParaRPr lang="en-US" sz="1250" dirty="0"/>
          </a:p>
        </p:txBody>
      </p:sp>
      <p:sp>
        <p:nvSpPr>
          <p:cNvPr id="37" name="Shape 35"/>
          <p:cNvSpPr/>
          <p:nvPr/>
        </p:nvSpPr>
        <p:spPr>
          <a:xfrm>
            <a:off x="548640" y="5623560"/>
            <a:ext cx="11064240" cy="621792"/>
          </a:xfrm>
          <a:prstGeom prst="roundRect">
            <a:avLst>
              <a:gd name="adj" fmla="val 8824"/>
            </a:avLst>
          </a:prstGeom>
          <a:solidFill>
            <a:srgbClr val="DCE6F8"/>
          </a:solidFill>
          <a:ln w="12700">
            <a:solidFill>
              <a:srgbClr val="C3D5F5"/>
            </a:solidFill>
            <a:prstDash val="solid"/>
          </a:ln>
        </p:spPr>
      </p:sp>
      <p:sp>
        <p:nvSpPr>
          <p:cNvPr id="38" name="Shape 36"/>
          <p:cNvSpPr/>
          <p:nvPr/>
        </p:nvSpPr>
        <p:spPr>
          <a:xfrm>
            <a:off x="786384" y="5875020"/>
            <a:ext cx="118872" cy="118872"/>
          </a:xfrm>
          <a:prstGeom prst="roundRect">
            <a:avLst>
              <a:gd name="adj" fmla="val 30769"/>
            </a:avLst>
          </a:prstGeom>
          <a:solidFill>
            <a:srgbClr val="E6115E"/>
          </a:solidFill>
          <a:ln w="12700">
            <a:solidFill>
              <a:srgbClr val="E6115E"/>
            </a:solidFill>
            <a:prstDash val="solid"/>
          </a:ln>
        </p:spPr>
      </p:sp>
      <p:sp>
        <p:nvSpPr>
          <p:cNvPr id="39" name="Text 37"/>
          <p:cNvSpPr/>
          <p:nvPr/>
        </p:nvSpPr>
        <p:spPr>
          <a:xfrm>
            <a:off x="1024128" y="5623560"/>
            <a:ext cx="10332720" cy="621792"/>
          </a:xfrm>
          <a:prstGeom prst="rect">
            <a:avLst/>
          </a:prstGeom>
          <a:noFill/>
          <a:ln/>
        </p:spPr>
        <p:txBody>
          <a:bodyPr wrap="square" lIns="0" tIns="0" rIns="0" bIns="0" rtlCol="0" anchor="ctr"/>
          <a:lstStyle/>
          <a:p>
            <a:pPr indent="0" marL="0">
              <a:lnSpc>
                <a:spcPts val="1656"/>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656"/>
              </a:lnSpc>
              <a:buNone/>
            </a:pPr>
            <a:r>
              <a:rPr lang="en-US" sz="1200" dirty="0">
                <a:solidFill>
                  <a:srgbClr val="0A2559"/>
                </a:solidFill>
                <a:latin typeface="Calibri" pitchFamily="34" charset="0"/>
                <a:ea typeface="Calibri" pitchFamily="34" charset="-122"/>
                <a:cs typeface="Calibri" pitchFamily="34" charset="-120"/>
              </a:rPr>
              <a:t>Es el triaje de emergencias: cuatro preguntas rápidas en orden fijo bastan para clasificar el 90% de los casos, y el 10% restante se deriva al especialista.</a:t>
            </a:r>
            <a:endParaRPr lang="en-US" sz="1000" dirty="0"/>
          </a:p>
        </p:txBody>
      </p:sp>
      <p:sp>
        <p:nvSpPr>
          <p:cNvPr id="40" name="Text 38"/>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41" name="Text 39"/>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457200"/>
            <a:ext cx="1691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457200"/>
            <a:ext cx="1691640" cy="347472"/>
          </a:xfrm>
          <a:prstGeom prst="rect">
            <a:avLst/>
          </a:prstGeom>
          <a:noFill/>
          <a:ln/>
        </p:spPr>
        <p:txBody>
          <a:bodyPr wrap="square" lIns="0" tIns="0" rIns="0" bIns="0" rtlCol="0" anchor="ctr"/>
          <a:lstStyle/>
          <a:p>
            <a:pPr algn="ctr" indent="0" marL="0">
              <a:buNone/>
            </a:pPr>
            <a:r>
              <a:rPr lang="en-US" sz="1150" b="1" spc="120" kern="0" dirty="0">
                <a:solidFill>
                  <a:srgbClr val="FFFFFF"/>
                </a:solidFill>
                <a:latin typeface="Calibri" pitchFamily="34" charset="0"/>
                <a:ea typeface="Calibri" pitchFamily="34" charset="-122"/>
                <a:cs typeface="Calibri" pitchFamily="34" charset="-120"/>
              </a:rPr>
              <a:t>CASO REAL 04</a:t>
            </a:r>
            <a:endParaRPr lang="en-US" sz="1150" dirty="0"/>
          </a:p>
        </p:txBody>
      </p:sp>
      <p:sp>
        <p:nvSpPr>
          <p:cNvPr id="4" name="Text 2"/>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El titular de 100 millones de dólares</a:t>
            </a:r>
            <a:endParaRPr lang="en-US" sz="3200" dirty="0"/>
          </a:p>
        </p:txBody>
      </p:sp>
      <p:sp>
        <p:nvSpPr>
          <p:cNvPr id="5" name="Text 3"/>
          <p:cNvSpPr/>
          <p:nvPr/>
        </p:nvSpPr>
        <p:spPr>
          <a:xfrm>
            <a:off x="548640" y="1170432"/>
            <a:ext cx="11064240" cy="36576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Bing (Microsoft), 2012 · por qué esto que estamos viendo se paga solo</a:t>
            </a:r>
            <a:endParaRPr lang="en-US" sz="1450" dirty="0"/>
          </a:p>
        </p:txBody>
      </p:sp>
      <p:sp>
        <p:nvSpPr>
          <p:cNvPr id="6" name="Shape 4"/>
          <p:cNvSpPr/>
          <p:nvPr/>
        </p:nvSpPr>
        <p:spPr>
          <a:xfrm>
            <a:off x="548640" y="1828800"/>
            <a:ext cx="5760720" cy="2880360"/>
          </a:xfrm>
          <a:prstGeom prst="roundRect">
            <a:avLst>
              <a:gd name="adj" fmla="val 1905"/>
            </a:avLst>
          </a:prstGeom>
          <a:solidFill>
            <a:srgbClr val="E9EEF8"/>
          </a:solidFill>
          <a:ln w="12700">
            <a:solidFill>
              <a:srgbClr val="D2DBEC"/>
            </a:solidFill>
            <a:prstDash val="solid"/>
          </a:ln>
        </p:spPr>
      </p:sp>
      <p:sp>
        <p:nvSpPr>
          <p:cNvPr id="7" name="Shape 5"/>
          <p:cNvSpPr/>
          <p:nvPr/>
        </p:nvSpPr>
        <p:spPr>
          <a:xfrm>
            <a:off x="777240" y="2103120"/>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14984" y="2011680"/>
            <a:ext cx="5065776" cy="310896"/>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Qué pasó</a:t>
            </a:r>
            <a:endParaRPr lang="en-US" sz="1350" dirty="0"/>
          </a:p>
        </p:txBody>
      </p:sp>
      <p:sp>
        <p:nvSpPr>
          <p:cNvPr id="9" name="Text 7"/>
          <p:cNvSpPr/>
          <p:nvPr/>
        </p:nvSpPr>
        <p:spPr>
          <a:xfrm>
            <a:off x="795528" y="2450592"/>
            <a:ext cx="5303520" cy="219456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Un empleado propuso alargar el titular de los anuncios uniéndolo con la primera línea de texto de abajo. Un cambio cosmético.</a:t>
            </a:r>
            <a:endParaRPr lang="en-US" sz="1150" dirty="0"/>
          </a:p>
          <a:p>
            <a:pPr marL="342900" indent="-342900">
              <a:lnSpc>
                <a:spcPts val="1700"/>
              </a:lnSpc>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Se priorizó como bajo y quedó en el backlog más de seis meses. Nadie creyó en la idea.</a:t>
            </a:r>
            <a:endParaRPr lang="en-US" sz="1150" dirty="0"/>
          </a:p>
          <a:p>
            <a:pPr marL="342900" indent="-342900">
              <a:lnSpc>
                <a:spcPts val="1700"/>
              </a:lnSpc>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Un ingeniero lo programó porque costaba poco y lanzó un A/B test. En horas saltó la alerta de “demasiado bueno para ser verdad”: normalmente eso significa bug.</a:t>
            </a:r>
            <a:endParaRPr lang="en-US" sz="1150" dirty="0"/>
          </a:p>
          <a:p>
            <a:pPr marL="342900" indent="-342900">
              <a:lnSpc>
                <a:spcPts val="1700"/>
              </a:lnSpc>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No era un bug. Se replicó varias veces y sostuvo el resultado.</a:t>
            </a:r>
            <a:endParaRPr lang="en-US" sz="1150" dirty="0"/>
          </a:p>
        </p:txBody>
      </p:sp>
      <p:sp>
        <p:nvSpPr>
          <p:cNvPr id="10" name="Shape 8"/>
          <p:cNvSpPr/>
          <p:nvPr/>
        </p:nvSpPr>
        <p:spPr>
          <a:xfrm>
            <a:off x="6583680" y="1828800"/>
            <a:ext cx="2423160" cy="1344168"/>
          </a:xfrm>
          <a:prstGeom prst="roundRect">
            <a:avLst>
              <a:gd name="adj" fmla="val 4082"/>
            </a:avLst>
          </a:prstGeom>
          <a:solidFill>
            <a:srgbClr val="FFFFFF"/>
          </a:solidFill>
          <a:ln w="12700">
            <a:solidFill>
              <a:srgbClr val="D2DBEC"/>
            </a:solidFill>
            <a:prstDash val="solid"/>
          </a:ln>
        </p:spPr>
      </p:sp>
      <p:sp>
        <p:nvSpPr>
          <p:cNvPr id="11" name="Text 9"/>
          <p:cNvSpPr/>
          <p:nvPr/>
        </p:nvSpPr>
        <p:spPr>
          <a:xfrm>
            <a:off x="6583680" y="1938528"/>
            <a:ext cx="2423160" cy="698967"/>
          </a:xfrm>
          <a:prstGeom prst="rect">
            <a:avLst/>
          </a:prstGeom>
          <a:noFill/>
          <a:ln/>
        </p:spPr>
        <p:txBody>
          <a:bodyPr wrap="square" lIns="0" tIns="0" rIns="0" bIns="0" rtlCol="0" anchor="ctr"/>
          <a:lstStyle/>
          <a:p>
            <a:pPr algn="ctr" indent="0" marL="0">
              <a:buNone/>
            </a:pPr>
            <a:r>
              <a:rPr lang="en-US" sz="3400" b="1" dirty="0">
                <a:solidFill>
                  <a:srgbClr val="E6115E"/>
                </a:solidFill>
                <a:latin typeface="Calibri" pitchFamily="34" charset="0"/>
                <a:ea typeface="Calibri" pitchFamily="34" charset="-122"/>
                <a:cs typeface="Calibri" pitchFamily="34" charset="-120"/>
              </a:rPr>
              <a:t>+12%</a:t>
            </a:r>
            <a:endParaRPr lang="en-US" sz="3400" dirty="0"/>
          </a:p>
        </p:txBody>
      </p:sp>
      <p:sp>
        <p:nvSpPr>
          <p:cNvPr id="12" name="Text 10"/>
          <p:cNvSpPr/>
          <p:nvPr/>
        </p:nvSpPr>
        <p:spPr>
          <a:xfrm>
            <a:off x="6693408" y="2608417"/>
            <a:ext cx="2203704" cy="483900"/>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en ingresos</a:t>
            </a:r>
            <a:endParaRPr lang="en-US" sz="1050" dirty="0"/>
          </a:p>
        </p:txBody>
      </p:sp>
      <p:sp>
        <p:nvSpPr>
          <p:cNvPr id="13" name="Shape 11"/>
          <p:cNvSpPr/>
          <p:nvPr/>
        </p:nvSpPr>
        <p:spPr>
          <a:xfrm>
            <a:off x="9189720" y="1828800"/>
            <a:ext cx="2423160" cy="1344168"/>
          </a:xfrm>
          <a:prstGeom prst="roundRect">
            <a:avLst>
              <a:gd name="adj" fmla="val 4082"/>
            </a:avLst>
          </a:prstGeom>
          <a:solidFill>
            <a:srgbClr val="FFFFFF"/>
          </a:solidFill>
          <a:ln w="12700">
            <a:solidFill>
              <a:srgbClr val="D2DBEC"/>
            </a:solidFill>
            <a:prstDash val="solid"/>
          </a:ln>
        </p:spPr>
      </p:sp>
      <p:sp>
        <p:nvSpPr>
          <p:cNvPr id="14" name="Text 12"/>
          <p:cNvSpPr/>
          <p:nvPr/>
        </p:nvSpPr>
        <p:spPr>
          <a:xfrm>
            <a:off x="9189720" y="1938528"/>
            <a:ext cx="2423160" cy="698967"/>
          </a:xfrm>
          <a:prstGeom prst="rect">
            <a:avLst/>
          </a:prstGeom>
          <a:noFill/>
          <a:ln/>
        </p:spPr>
        <p:txBody>
          <a:bodyPr wrap="square" lIns="0" tIns="0" rIns="0" bIns="0" rtlCol="0" anchor="ctr"/>
          <a:lstStyle/>
          <a:p>
            <a:pPr algn="ctr" indent="0" marL="0">
              <a:buNone/>
            </a:pPr>
            <a:r>
              <a:rPr lang="en-US" sz="2400" b="1" dirty="0">
                <a:solidFill>
                  <a:srgbClr val="E6115E"/>
                </a:solidFill>
                <a:latin typeface="Calibri" pitchFamily="34" charset="0"/>
                <a:ea typeface="Calibri" pitchFamily="34" charset="-122"/>
                <a:cs typeface="Calibri" pitchFamily="34" charset="-120"/>
              </a:rPr>
              <a:t>+US$ 100M</a:t>
            </a:r>
            <a:endParaRPr lang="en-US" sz="2400" dirty="0"/>
          </a:p>
        </p:txBody>
      </p:sp>
      <p:sp>
        <p:nvSpPr>
          <p:cNvPr id="15" name="Text 13"/>
          <p:cNvSpPr/>
          <p:nvPr/>
        </p:nvSpPr>
        <p:spPr>
          <a:xfrm>
            <a:off x="9299448" y="2608417"/>
            <a:ext cx="2203704" cy="483900"/>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anuales, solo en EE.UU.</a:t>
            </a:r>
            <a:endParaRPr lang="en-US" sz="1050" dirty="0"/>
          </a:p>
        </p:txBody>
      </p:sp>
      <p:sp>
        <p:nvSpPr>
          <p:cNvPr id="16" name="Shape 14"/>
          <p:cNvSpPr/>
          <p:nvPr/>
        </p:nvSpPr>
        <p:spPr>
          <a:xfrm>
            <a:off x="6583680" y="3319272"/>
            <a:ext cx="2423160" cy="1344168"/>
          </a:xfrm>
          <a:prstGeom prst="roundRect">
            <a:avLst>
              <a:gd name="adj" fmla="val 4082"/>
            </a:avLst>
          </a:prstGeom>
          <a:solidFill>
            <a:srgbClr val="FFFFFF"/>
          </a:solidFill>
          <a:ln w="12700">
            <a:solidFill>
              <a:srgbClr val="D2DBEC"/>
            </a:solidFill>
            <a:prstDash val="solid"/>
          </a:ln>
        </p:spPr>
      </p:sp>
      <p:sp>
        <p:nvSpPr>
          <p:cNvPr id="17" name="Text 15"/>
          <p:cNvSpPr/>
          <p:nvPr/>
        </p:nvSpPr>
        <p:spPr>
          <a:xfrm>
            <a:off x="6583680" y="3429000"/>
            <a:ext cx="2423160" cy="698967"/>
          </a:xfrm>
          <a:prstGeom prst="rect">
            <a:avLst/>
          </a:prstGeom>
          <a:noFill/>
          <a:ln/>
        </p:spPr>
        <p:txBody>
          <a:bodyPr wrap="square" lIns="0" tIns="0" rIns="0" bIns="0" rtlCol="0" anchor="ctr"/>
          <a:lstStyle/>
          <a:p>
            <a:pPr algn="ctr" indent="0" marL="0">
              <a:buNone/>
            </a:pPr>
            <a:r>
              <a:rPr lang="en-US" sz="2400" b="1" dirty="0">
                <a:solidFill>
                  <a:srgbClr val="0A2559"/>
                </a:solidFill>
                <a:latin typeface="Calibri" pitchFamily="34" charset="0"/>
                <a:ea typeface="Calibri" pitchFamily="34" charset="-122"/>
                <a:cs typeface="Calibri" pitchFamily="34" charset="-120"/>
              </a:rPr>
              <a:t>6 meses</a:t>
            </a:r>
            <a:endParaRPr lang="en-US" sz="2400" dirty="0"/>
          </a:p>
        </p:txBody>
      </p:sp>
      <p:sp>
        <p:nvSpPr>
          <p:cNvPr id="18" name="Text 16"/>
          <p:cNvSpPr/>
          <p:nvPr/>
        </p:nvSpPr>
        <p:spPr>
          <a:xfrm>
            <a:off x="6693408" y="4098889"/>
            <a:ext cx="2203704" cy="483900"/>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esperando en el backlog</a:t>
            </a:r>
            <a:endParaRPr lang="en-US" sz="1050" dirty="0"/>
          </a:p>
        </p:txBody>
      </p:sp>
      <p:sp>
        <p:nvSpPr>
          <p:cNvPr id="19" name="Shape 17"/>
          <p:cNvSpPr/>
          <p:nvPr/>
        </p:nvSpPr>
        <p:spPr>
          <a:xfrm>
            <a:off x="9189720" y="3319272"/>
            <a:ext cx="2423160" cy="1344168"/>
          </a:xfrm>
          <a:prstGeom prst="roundRect">
            <a:avLst>
              <a:gd name="adj" fmla="val 4082"/>
            </a:avLst>
          </a:prstGeom>
          <a:solidFill>
            <a:srgbClr val="FFFFFF"/>
          </a:solidFill>
          <a:ln w="12700">
            <a:solidFill>
              <a:srgbClr val="D2DBEC"/>
            </a:solidFill>
            <a:prstDash val="solid"/>
          </a:ln>
        </p:spPr>
      </p:sp>
      <p:sp>
        <p:nvSpPr>
          <p:cNvPr id="20" name="Text 18"/>
          <p:cNvSpPr/>
          <p:nvPr/>
        </p:nvSpPr>
        <p:spPr>
          <a:xfrm>
            <a:off x="9189720" y="3429000"/>
            <a:ext cx="2423160" cy="698967"/>
          </a:xfrm>
          <a:prstGeom prst="rect">
            <a:avLst/>
          </a:prstGeom>
          <a:noFill/>
          <a:ln/>
        </p:spPr>
        <p:txBody>
          <a:bodyPr wrap="square" lIns="0" tIns="0" rIns="0" bIns="0" rtlCol="0" anchor="ctr"/>
          <a:lstStyle/>
          <a:p>
            <a:pPr algn="ctr" indent="0" marL="0">
              <a:buNone/>
            </a:pPr>
            <a:r>
              <a:rPr lang="en-US" sz="3000" b="1" dirty="0">
                <a:solidFill>
                  <a:srgbClr val="0A2559"/>
                </a:solidFill>
                <a:latin typeface="Calibri" pitchFamily="34" charset="0"/>
                <a:ea typeface="Calibri" pitchFamily="34" charset="-122"/>
                <a:cs typeface="Calibri" pitchFamily="34" charset="-120"/>
              </a:rPr>
              <a:t>≈ 0</a:t>
            </a:r>
            <a:endParaRPr lang="en-US" sz="3000" dirty="0"/>
          </a:p>
        </p:txBody>
      </p:sp>
      <p:sp>
        <p:nvSpPr>
          <p:cNvPr id="21" name="Text 19"/>
          <p:cNvSpPr/>
          <p:nvPr/>
        </p:nvSpPr>
        <p:spPr>
          <a:xfrm>
            <a:off x="9299448" y="4098889"/>
            <a:ext cx="2203704" cy="483900"/>
          </a:xfrm>
          <a:prstGeom prst="rect">
            <a:avLst/>
          </a:prstGeom>
          <a:noFill/>
          <a:ln/>
        </p:spPr>
        <p:txBody>
          <a:bodyPr wrap="square" lIns="0" tIns="0" rIns="0" bIns="0" rtlCol="0" anchor="t"/>
          <a:lstStyle/>
          <a:p>
            <a:pPr algn="ctr" indent="0" marL="0">
              <a:lnSpc>
                <a:spcPts val="1300"/>
              </a:lnSpc>
              <a:buNone/>
            </a:pPr>
            <a:r>
              <a:rPr lang="en-US" sz="1050" dirty="0">
                <a:solidFill>
                  <a:srgbClr val="5B6B87"/>
                </a:solidFill>
                <a:latin typeface="Calibri" pitchFamily="34" charset="0"/>
                <a:ea typeface="Calibri" pitchFamily="34" charset="-122"/>
                <a:cs typeface="Calibri" pitchFamily="34" charset="-120"/>
              </a:rPr>
              <a:t>confianza previa del equipo</a:t>
            </a:r>
            <a:endParaRPr lang="en-US" sz="1050" dirty="0"/>
          </a:p>
        </p:txBody>
      </p:sp>
      <p:sp>
        <p:nvSpPr>
          <p:cNvPr id="22" name="Shape 20"/>
          <p:cNvSpPr/>
          <p:nvPr/>
        </p:nvSpPr>
        <p:spPr>
          <a:xfrm>
            <a:off x="548640" y="4892040"/>
            <a:ext cx="11064240" cy="960120"/>
          </a:xfrm>
          <a:prstGeom prst="roundRect">
            <a:avLst>
              <a:gd name="adj" fmla="val 5714"/>
            </a:avLst>
          </a:prstGeom>
          <a:solidFill>
            <a:srgbClr val="0A2559"/>
          </a:solidFill>
          <a:ln w="12700">
            <a:solidFill>
              <a:srgbClr val="0A2559"/>
            </a:solidFill>
            <a:prstDash val="solid"/>
          </a:ln>
        </p:spPr>
      </p:sp>
      <p:sp>
        <p:nvSpPr>
          <p:cNvPr id="23" name="Text 21"/>
          <p:cNvSpPr/>
          <p:nvPr/>
        </p:nvSpPr>
        <p:spPr>
          <a:xfrm>
            <a:off x="822960" y="4974336"/>
            <a:ext cx="2743200" cy="256032"/>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La lección</a:t>
            </a:r>
            <a:endParaRPr lang="en-US" sz="1200" dirty="0"/>
          </a:p>
        </p:txBody>
      </p:sp>
      <p:sp>
        <p:nvSpPr>
          <p:cNvPr id="24" name="Text 22"/>
          <p:cNvSpPr/>
          <p:nvPr/>
        </p:nvSpPr>
        <p:spPr>
          <a:xfrm>
            <a:off x="822960" y="5230368"/>
            <a:ext cx="10515600" cy="548640"/>
          </a:xfrm>
          <a:prstGeom prst="rect">
            <a:avLst/>
          </a:prstGeom>
          <a:noFill/>
          <a:ln/>
        </p:spPr>
        <p:txBody>
          <a:bodyPr wrap="square" lIns="0" tIns="0" rIns="0" bIns="0" rtlCol="0" anchor="t"/>
          <a:lstStyle/>
          <a:p>
            <a:pPr indent="0" marL="0">
              <a:lnSpc>
                <a:spcPts val="1450"/>
              </a:lnSpc>
              <a:buNone/>
            </a:pPr>
            <a:r>
              <a:rPr lang="en-US" sz="1150" dirty="0">
                <a:solidFill>
                  <a:srgbClr val="DCE6F8"/>
                </a:solidFill>
                <a:latin typeface="Calibri" pitchFamily="34" charset="0"/>
                <a:ea typeface="Calibri" pitchFamily="34" charset="-122"/>
                <a:cs typeface="Calibri" pitchFamily="34" charset="-120"/>
              </a:rPr>
              <a:t>Nadie —ni los expertos— sabe de antemano qué idea funciona. Y todo esto se sostiene en lo que vimos hoy: cada usuario expuesto es un Bernoulli, la suma de todos es una Binomial, y la varianza p(1−p) es la que determina cuánto tráfico necesitas para distinguir un 12% real de una racha de suerte. Sin eso, la alerta de “demasiado bueno para ser verdad” no existe.</a:t>
            </a:r>
            <a:endParaRPr lang="en-US" sz="1150" dirty="0"/>
          </a:p>
        </p:txBody>
      </p:sp>
      <p:sp>
        <p:nvSpPr>
          <p:cNvPr id="25" name="Text 23"/>
          <p:cNvSpPr/>
          <p:nvPr/>
        </p:nvSpPr>
        <p:spPr>
          <a:xfrm>
            <a:off x="548640" y="5989320"/>
            <a:ext cx="11064240" cy="274320"/>
          </a:xfrm>
          <a:prstGeom prst="rect">
            <a:avLst/>
          </a:prstGeom>
          <a:noFill/>
          <a:ln/>
        </p:spPr>
        <p:txBody>
          <a:bodyPr wrap="square" lIns="0" tIns="0" rIns="0" bIns="0" rtlCol="0" anchor="ctr"/>
          <a:lstStyle/>
          <a:p>
            <a:pPr indent="0" marL="0">
              <a:buNone/>
            </a:pPr>
            <a:r>
              <a:rPr lang="en-US" sz="1000" i="1" dirty="0">
                <a:solidFill>
                  <a:srgbClr val="5B6B87"/>
                </a:solidFill>
                <a:latin typeface="Calibri" pitchFamily="34" charset="0"/>
                <a:ea typeface="Calibri" pitchFamily="34" charset="-122"/>
                <a:cs typeface="Calibri" pitchFamily="34" charset="-120"/>
              </a:rPr>
              <a:t>Kohavi, R. &amp; Thomke, S. (2017). “The Surprising Power of Online Experiments”. Harvard Business Review, sept-oct 2017. Ampliado en Kohavi, Tang &amp; Xu (2020), cap. 1.</a:t>
            </a:r>
            <a:endParaRPr lang="en-US" sz="1000" dirty="0"/>
          </a:p>
        </p:txBody>
      </p:sp>
      <p:sp>
        <p:nvSpPr>
          <p:cNvPr id="26" name="Text 24"/>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7" name="Text 25"/>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Ahora al Colab: 70 minutos</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Notebook 01 — Variables aleatorias, distribuciones discretas y datos históricos reales</a:t>
            </a:r>
            <a:endParaRPr lang="en-US" sz="1450" dirty="0"/>
          </a:p>
        </p:txBody>
      </p:sp>
      <p:sp>
        <p:nvSpPr>
          <p:cNvPr id="4" name="Shape 2"/>
          <p:cNvSpPr/>
          <p:nvPr/>
        </p:nvSpPr>
        <p:spPr>
          <a:xfrm>
            <a:off x="566928" y="1965960"/>
            <a:ext cx="548640" cy="457200"/>
          </a:xfrm>
          <a:prstGeom prst="roundRect">
            <a:avLst>
              <a:gd name="adj" fmla="val 14000"/>
            </a:avLst>
          </a:prstGeom>
          <a:solidFill>
            <a:srgbClr val="1A56E8"/>
          </a:solidFill>
          <a:ln w="12700">
            <a:solidFill>
              <a:srgbClr val="1A56E8"/>
            </a:solidFill>
            <a:prstDash val="solid"/>
          </a:ln>
        </p:spPr>
      </p:sp>
      <p:sp>
        <p:nvSpPr>
          <p:cNvPr id="5" name="Text 3"/>
          <p:cNvSpPr/>
          <p:nvPr/>
        </p:nvSpPr>
        <p:spPr>
          <a:xfrm>
            <a:off x="566928" y="1965960"/>
            <a:ext cx="5486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01</a:t>
            </a:r>
            <a:endParaRPr lang="en-US" sz="1250" dirty="0"/>
          </a:p>
        </p:txBody>
      </p:sp>
      <p:sp>
        <p:nvSpPr>
          <p:cNvPr id="6" name="Text 4"/>
          <p:cNvSpPr/>
          <p:nvPr/>
        </p:nvSpPr>
        <p:spPr>
          <a:xfrm>
            <a:off x="1298448" y="1965960"/>
            <a:ext cx="3566160" cy="45720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Setup y datos</a:t>
            </a:r>
            <a:endParaRPr lang="en-US" sz="1350" dirty="0"/>
          </a:p>
        </p:txBody>
      </p:sp>
      <p:sp>
        <p:nvSpPr>
          <p:cNvPr id="7" name="Text 5"/>
          <p:cNvSpPr/>
          <p:nvPr/>
        </p:nvSpPr>
        <p:spPr>
          <a:xfrm>
            <a:off x="4937760" y="1965960"/>
            <a:ext cx="6675120" cy="457200"/>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numpy, scipy.stats, matplotlib · simulación de una semana de tráfico</a:t>
            </a:r>
            <a:endParaRPr lang="en-US" sz="1200" dirty="0"/>
          </a:p>
        </p:txBody>
      </p:sp>
      <p:sp>
        <p:nvSpPr>
          <p:cNvPr id="8" name="Shape 6"/>
          <p:cNvSpPr/>
          <p:nvPr/>
        </p:nvSpPr>
        <p:spPr>
          <a:xfrm>
            <a:off x="1298448" y="2496312"/>
            <a:ext cx="10314432" cy="0"/>
          </a:xfrm>
          <a:prstGeom prst="line">
            <a:avLst/>
          </a:prstGeom>
          <a:noFill/>
          <a:ln w="12700">
            <a:solidFill>
              <a:srgbClr val="DCE3F0"/>
            </a:solidFill>
            <a:prstDash val="solid"/>
          </a:ln>
        </p:spPr>
      </p:sp>
      <p:sp>
        <p:nvSpPr>
          <p:cNvPr id="9" name="Shape 7"/>
          <p:cNvSpPr/>
          <p:nvPr/>
        </p:nvSpPr>
        <p:spPr>
          <a:xfrm>
            <a:off x="566928" y="2560320"/>
            <a:ext cx="548640" cy="457200"/>
          </a:xfrm>
          <a:prstGeom prst="roundRect">
            <a:avLst>
              <a:gd name="adj" fmla="val 14000"/>
            </a:avLst>
          </a:prstGeom>
          <a:solidFill>
            <a:srgbClr val="1A56E8"/>
          </a:solidFill>
          <a:ln w="12700">
            <a:solidFill>
              <a:srgbClr val="1A56E8"/>
            </a:solidFill>
            <a:prstDash val="solid"/>
          </a:ln>
        </p:spPr>
      </p:sp>
      <p:sp>
        <p:nvSpPr>
          <p:cNvPr id="10" name="Text 8"/>
          <p:cNvSpPr/>
          <p:nvPr/>
        </p:nvSpPr>
        <p:spPr>
          <a:xfrm>
            <a:off x="566928" y="2560320"/>
            <a:ext cx="5486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02</a:t>
            </a:r>
            <a:endParaRPr lang="en-US" sz="1250" dirty="0"/>
          </a:p>
        </p:txBody>
      </p:sp>
      <p:sp>
        <p:nvSpPr>
          <p:cNvPr id="11" name="Text 9"/>
          <p:cNvSpPr/>
          <p:nvPr/>
        </p:nvSpPr>
        <p:spPr>
          <a:xfrm>
            <a:off x="1298448" y="2560320"/>
            <a:ext cx="3566160" cy="45720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La media miente</a:t>
            </a:r>
            <a:endParaRPr lang="en-US" sz="1350" dirty="0"/>
          </a:p>
        </p:txBody>
      </p:sp>
      <p:sp>
        <p:nvSpPr>
          <p:cNvPr id="12" name="Text 10"/>
          <p:cNvSpPr/>
          <p:nvPr/>
        </p:nvSpPr>
        <p:spPr>
          <a:xfrm>
            <a:off x="4937760" y="2560320"/>
            <a:ext cx="6675120" cy="457200"/>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Recalcular media, mediana y CV · inyectar un outlier y medir el daño</a:t>
            </a:r>
            <a:endParaRPr lang="en-US" sz="1200" dirty="0"/>
          </a:p>
        </p:txBody>
      </p:sp>
      <p:sp>
        <p:nvSpPr>
          <p:cNvPr id="13" name="Shape 11"/>
          <p:cNvSpPr/>
          <p:nvPr/>
        </p:nvSpPr>
        <p:spPr>
          <a:xfrm>
            <a:off x="1298448" y="3090672"/>
            <a:ext cx="10314432" cy="0"/>
          </a:xfrm>
          <a:prstGeom prst="line">
            <a:avLst/>
          </a:prstGeom>
          <a:noFill/>
          <a:ln w="12700">
            <a:solidFill>
              <a:srgbClr val="DCE3F0"/>
            </a:solidFill>
            <a:prstDash val="solid"/>
          </a:ln>
        </p:spPr>
      </p:sp>
      <p:sp>
        <p:nvSpPr>
          <p:cNvPr id="14" name="Shape 12"/>
          <p:cNvSpPr/>
          <p:nvPr/>
        </p:nvSpPr>
        <p:spPr>
          <a:xfrm>
            <a:off x="566928" y="3154680"/>
            <a:ext cx="548640" cy="457200"/>
          </a:xfrm>
          <a:prstGeom prst="roundRect">
            <a:avLst>
              <a:gd name="adj" fmla="val 14000"/>
            </a:avLst>
          </a:prstGeom>
          <a:solidFill>
            <a:srgbClr val="1A56E8"/>
          </a:solidFill>
          <a:ln w="12700">
            <a:solidFill>
              <a:srgbClr val="1A56E8"/>
            </a:solidFill>
            <a:prstDash val="solid"/>
          </a:ln>
        </p:spPr>
      </p:sp>
      <p:sp>
        <p:nvSpPr>
          <p:cNvPr id="15" name="Text 13"/>
          <p:cNvSpPr/>
          <p:nvPr/>
        </p:nvSpPr>
        <p:spPr>
          <a:xfrm>
            <a:off x="566928" y="3154680"/>
            <a:ext cx="5486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03</a:t>
            </a:r>
            <a:endParaRPr lang="en-US" sz="1250" dirty="0"/>
          </a:p>
        </p:txBody>
      </p:sp>
      <p:sp>
        <p:nvSpPr>
          <p:cNvPr id="16" name="Text 14"/>
          <p:cNvSpPr/>
          <p:nvPr/>
        </p:nvSpPr>
        <p:spPr>
          <a:xfrm>
            <a:off x="1298448" y="3154680"/>
            <a:ext cx="3566160" cy="45720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Ley de los grandes números</a:t>
            </a:r>
            <a:endParaRPr lang="en-US" sz="1350" dirty="0"/>
          </a:p>
        </p:txBody>
      </p:sp>
      <p:sp>
        <p:nvSpPr>
          <p:cNvPr id="17" name="Text 15"/>
          <p:cNvSpPr/>
          <p:nvPr/>
        </p:nvSpPr>
        <p:spPr>
          <a:xfrm>
            <a:off x="4937760" y="3154680"/>
            <a:ext cx="6675120" cy="457200"/>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Simular 10, 100, 20,000 Bernoulli y ver p̂ converger a p</a:t>
            </a:r>
            <a:endParaRPr lang="en-US" sz="1200" dirty="0"/>
          </a:p>
        </p:txBody>
      </p:sp>
      <p:sp>
        <p:nvSpPr>
          <p:cNvPr id="18" name="Shape 16"/>
          <p:cNvSpPr/>
          <p:nvPr/>
        </p:nvSpPr>
        <p:spPr>
          <a:xfrm>
            <a:off x="1298448" y="3685032"/>
            <a:ext cx="10314432" cy="0"/>
          </a:xfrm>
          <a:prstGeom prst="line">
            <a:avLst/>
          </a:prstGeom>
          <a:noFill/>
          <a:ln w="12700">
            <a:solidFill>
              <a:srgbClr val="DCE3F0"/>
            </a:solidFill>
            <a:prstDash val="solid"/>
          </a:ln>
        </p:spPr>
      </p:sp>
      <p:sp>
        <p:nvSpPr>
          <p:cNvPr id="19" name="Shape 17"/>
          <p:cNvSpPr/>
          <p:nvPr/>
        </p:nvSpPr>
        <p:spPr>
          <a:xfrm>
            <a:off x="566928" y="3749040"/>
            <a:ext cx="548640" cy="457200"/>
          </a:xfrm>
          <a:prstGeom prst="roundRect">
            <a:avLst>
              <a:gd name="adj" fmla="val 14000"/>
            </a:avLst>
          </a:prstGeom>
          <a:solidFill>
            <a:srgbClr val="1A56E8"/>
          </a:solidFill>
          <a:ln w="12700">
            <a:solidFill>
              <a:srgbClr val="1A56E8"/>
            </a:solidFill>
            <a:prstDash val="solid"/>
          </a:ln>
        </p:spPr>
      </p:sp>
      <p:sp>
        <p:nvSpPr>
          <p:cNvPr id="20" name="Text 18"/>
          <p:cNvSpPr/>
          <p:nvPr/>
        </p:nvSpPr>
        <p:spPr>
          <a:xfrm>
            <a:off x="566928" y="3749040"/>
            <a:ext cx="5486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04</a:t>
            </a:r>
            <a:endParaRPr lang="en-US" sz="1250" dirty="0"/>
          </a:p>
        </p:txBody>
      </p:sp>
      <p:sp>
        <p:nvSpPr>
          <p:cNvPr id="21" name="Text 19"/>
          <p:cNvSpPr/>
          <p:nvPr/>
        </p:nvSpPr>
        <p:spPr>
          <a:xfrm>
            <a:off x="1298448" y="3749040"/>
            <a:ext cx="3566160" cy="45720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PMF y CDF a mano vs scipy</a:t>
            </a:r>
            <a:endParaRPr lang="en-US" sz="1350" dirty="0"/>
          </a:p>
        </p:txBody>
      </p:sp>
      <p:sp>
        <p:nvSpPr>
          <p:cNvPr id="22" name="Text 20"/>
          <p:cNvSpPr/>
          <p:nvPr/>
        </p:nvSpPr>
        <p:spPr>
          <a:xfrm>
            <a:off x="4937760" y="3749040"/>
            <a:ext cx="6675120" cy="457200"/>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Implementar la Binomial desde cero y chocar con el bug del ±1</a:t>
            </a:r>
            <a:endParaRPr lang="en-US" sz="1200" dirty="0"/>
          </a:p>
        </p:txBody>
      </p:sp>
      <p:sp>
        <p:nvSpPr>
          <p:cNvPr id="23" name="Shape 21"/>
          <p:cNvSpPr/>
          <p:nvPr/>
        </p:nvSpPr>
        <p:spPr>
          <a:xfrm>
            <a:off x="1298448" y="4279392"/>
            <a:ext cx="10314432" cy="0"/>
          </a:xfrm>
          <a:prstGeom prst="line">
            <a:avLst/>
          </a:prstGeom>
          <a:noFill/>
          <a:ln w="12700">
            <a:solidFill>
              <a:srgbClr val="DCE3F0"/>
            </a:solidFill>
            <a:prstDash val="solid"/>
          </a:ln>
        </p:spPr>
      </p:sp>
      <p:sp>
        <p:nvSpPr>
          <p:cNvPr id="24" name="Shape 22"/>
          <p:cNvSpPr/>
          <p:nvPr/>
        </p:nvSpPr>
        <p:spPr>
          <a:xfrm>
            <a:off x="566928" y="4343400"/>
            <a:ext cx="548640" cy="457200"/>
          </a:xfrm>
          <a:prstGeom prst="roundRect">
            <a:avLst>
              <a:gd name="adj" fmla="val 14000"/>
            </a:avLst>
          </a:prstGeom>
          <a:solidFill>
            <a:srgbClr val="1A56E8"/>
          </a:solidFill>
          <a:ln w="12700">
            <a:solidFill>
              <a:srgbClr val="1A56E8"/>
            </a:solidFill>
            <a:prstDash val="solid"/>
          </a:ln>
        </p:spPr>
      </p:sp>
      <p:sp>
        <p:nvSpPr>
          <p:cNvPr id="25" name="Text 23"/>
          <p:cNvSpPr/>
          <p:nvPr/>
        </p:nvSpPr>
        <p:spPr>
          <a:xfrm>
            <a:off x="566928" y="4343400"/>
            <a:ext cx="5486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05</a:t>
            </a:r>
            <a:endParaRPr lang="en-US" sz="1250" dirty="0"/>
          </a:p>
        </p:txBody>
      </p:sp>
      <p:sp>
        <p:nvSpPr>
          <p:cNvPr id="26" name="Text 24"/>
          <p:cNvSpPr/>
          <p:nvPr/>
        </p:nvSpPr>
        <p:spPr>
          <a:xfrm>
            <a:off x="1298448" y="4343400"/>
            <a:ext cx="3566160" cy="45720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Poisson y sobredispersión</a:t>
            </a:r>
            <a:endParaRPr lang="en-US" sz="1350" dirty="0"/>
          </a:p>
        </p:txBody>
      </p:sp>
      <p:sp>
        <p:nvSpPr>
          <p:cNvPr id="27" name="Text 25"/>
          <p:cNvSpPr/>
          <p:nvPr/>
        </p:nvSpPr>
        <p:spPr>
          <a:xfrm>
            <a:off x="4937760" y="4343400"/>
            <a:ext cx="6675120" cy="457200"/>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Dos call centers de media idéntica · índice de dispersión · Chi²</a:t>
            </a:r>
            <a:endParaRPr lang="en-US" sz="1200" dirty="0"/>
          </a:p>
        </p:txBody>
      </p:sp>
      <p:sp>
        <p:nvSpPr>
          <p:cNvPr id="28" name="Shape 26"/>
          <p:cNvSpPr/>
          <p:nvPr/>
        </p:nvSpPr>
        <p:spPr>
          <a:xfrm>
            <a:off x="1298448" y="4873752"/>
            <a:ext cx="10314432" cy="0"/>
          </a:xfrm>
          <a:prstGeom prst="line">
            <a:avLst/>
          </a:prstGeom>
          <a:noFill/>
          <a:ln w="12700">
            <a:solidFill>
              <a:srgbClr val="DCE3F0"/>
            </a:solidFill>
            <a:prstDash val="solid"/>
          </a:ln>
        </p:spPr>
      </p:sp>
      <p:sp>
        <p:nvSpPr>
          <p:cNvPr id="29" name="Shape 27"/>
          <p:cNvSpPr/>
          <p:nvPr/>
        </p:nvSpPr>
        <p:spPr>
          <a:xfrm>
            <a:off x="566928" y="4937760"/>
            <a:ext cx="548640" cy="457200"/>
          </a:xfrm>
          <a:prstGeom prst="roundRect">
            <a:avLst>
              <a:gd name="adj" fmla="val 14000"/>
            </a:avLst>
          </a:prstGeom>
          <a:solidFill>
            <a:srgbClr val="1A56E8"/>
          </a:solidFill>
          <a:ln w="12700">
            <a:solidFill>
              <a:srgbClr val="1A56E8"/>
            </a:solidFill>
            <a:prstDash val="solid"/>
          </a:ln>
        </p:spPr>
      </p:sp>
      <p:sp>
        <p:nvSpPr>
          <p:cNvPr id="30" name="Text 28"/>
          <p:cNvSpPr/>
          <p:nvPr/>
        </p:nvSpPr>
        <p:spPr>
          <a:xfrm>
            <a:off x="566928" y="4937760"/>
            <a:ext cx="5486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06</a:t>
            </a:r>
            <a:endParaRPr lang="en-US" sz="1250" dirty="0"/>
          </a:p>
        </p:txBody>
      </p:sp>
      <p:sp>
        <p:nvSpPr>
          <p:cNvPr id="31" name="Text 29"/>
          <p:cNvSpPr/>
          <p:nvPr/>
        </p:nvSpPr>
        <p:spPr>
          <a:xfrm>
            <a:off x="1298448" y="4937760"/>
            <a:ext cx="3566160" cy="45720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Casos históricos reales</a:t>
            </a:r>
            <a:endParaRPr lang="en-US" sz="1350" dirty="0"/>
          </a:p>
        </p:txBody>
      </p:sp>
      <p:sp>
        <p:nvSpPr>
          <p:cNvPr id="32" name="Text 30"/>
          <p:cNvSpPr/>
          <p:nvPr/>
        </p:nvSpPr>
        <p:spPr>
          <a:xfrm>
            <a:off x="4937760" y="4937760"/>
            <a:ext cx="6675120" cy="457200"/>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Ajustar Poisson a Bortkiewicz (1898) y a las bombas de Londres (1946)</a:t>
            </a:r>
            <a:endParaRPr lang="en-US" sz="1200" dirty="0"/>
          </a:p>
        </p:txBody>
      </p:sp>
      <p:sp>
        <p:nvSpPr>
          <p:cNvPr id="33" name="Shape 31"/>
          <p:cNvSpPr/>
          <p:nvPr/>
        </p:nvSpPr>
        <p:spPr>
          <a:xfrm>
            <a:off x="1298448" y="5468112"/>
            <a:ext cx="10314432" cy="0"/>
          </a:xfrm>
          <a:prstGeom prst="line">
            <a:avLst/>
          </a:prstGeom>
          <a:noFill/>
          <a:ln w="12700">
            <a:solidFill>
              <a:srgbClr val="DCE3F0"/>
            </a:solidFill>
            <a:prstDash val="solid"/>
          </a:ln>
        </p:spPr>
      </p:sp>
      <p:sp>
        <p:nvSpPr>
          <p:cNvPr id="34" name="Shape 32"/>
          <p:cNvSpPr/>
          <p:nvPr/>
        </p:nvSpPr>
        <p:spPr>
          <a:xfrm>
            <a:off x="566928" y="5532120"/>
            <a:ext cx="548640" cy="457200"/>
          </a:xfrm>
          <a:prstGeom prst="roundRect">
            <a:avLst>
              <a:gd name="adj" fmla="val 14000"/>
            </a:avLst>
          </a:prstGeom>
          <a:solidFill>
            <a:srgbClr val="1A56E8"/>
          </a:solidFill>
          <a:ln w="12700">
            <a:solidFill>
              <a:srgbClr val="1A56E8"/>
            </a:solidFill>
            <a:prstDash val="solid"/>
          </a:ln>
        </p:spPr>
      </p:sp>
      <p:sp>
        <p:nvSpPr>
          <p:cNvPr id="35" name="Text 33"/>
          <p:cNvSpPr/>
          <p:nvPr/>
        </p:nvSpPr>
        <p:spPr>
          <a:xfrm>
            <a:off x="566928" y="5532120"/>
            <a:ext cx="5486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07</a:t>
            </a:r>
            <a:endParaRPr lang="en-US" sz="1250" dirty="0"/>
          </a:p>
        </p:txBody>
      </p:sp>
      <p:sp>
        <p:nvSpPr>
          <p:cNvPr id="36" name="Text 34"/>
          <p:cNvSpPr/>
          <p:nvPr/>
        </p:nvSpPr>
        <p:spPr>
          <a:xfrm>
            <a:off x="1298448" y="5532120"/>
            <a:ext cx="3566160" cy="45720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Reto guiado</a:t>
            </a:r>
            <a:endParaRPr lang="en-US" sz="1350" dirty="0"/>
          </a:p>
        </p:txBody>
      </p:sp>
      <p:sp>
        <p:nvSpPr>
          <p:cNvPr id="37" name="Text 35"/>
          <p:cNvSpPr/>
          <p:nvPr/>
        </p:nvSpPr>
        <p:spPr>
          <a:xfrm>
            <a:off x="4937760" y="5532120"/>
            <a:ext cx="6675120" cy="457200"/>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Elegir la distribución correcta para 3 casos de negocio y justificarlo en código</a:t>
            </a:r>
            <a:endParaRPr lang="en-US" sz="1200" dirty="0"/>
          </a:p>
        </p:txBody>
      </p:sp>
      <p:sp>
        <p:nvSpPr>
          <p:cNvPr id="38" name="Shape 36"/>
          <p:cNvSpPr/>
          <p:nvPr/>
        </p:nvSpPr>
        <p:spPr>
          <a:xfrm>
            <a:off x="548640" y="5596128"/>
            <a:ext cx="11064240" cy="685800"/>
          </a:xfrm>
          <a:prstGeom prst="roundRect">
            <a:avLst>
              <a:gd name="adj" fmla="val 8000"/>
            </a:avLst>
          </a:prstGeom>
          <a:solidFill>
            <a:srgbClr val="DCE6F8"/>
          </a:solidFill>
          <a:ln w="12700">
            <a:solidFill>
              <a:srgbClr val="C3D5F5"/>
            </a:solidFill>
            <a:prstDash val="solid"/>
          </a:ln>
        </p:spPr>
      </p:sp>
      <p:sp>
        <p:nvSpPr>
          <p:cNvPr id="39" name="Shape 37"/>
          <p:cNvSpPr/>
          <p:nvPr/>
        </p:nvSpPr>
        <p:spPr>
          <a:xfrm>
            <a:off x="786384" y="5879592"/>
            <a:ext cx="118872" cy="118872"/>
          </a:xfrm>
          <a:prstGeom prst="roundRect">
            <a:avLst>
              <a:gd name="adj" fmla="val 30769"/>
            </a:avLst>
          </a:prstGeom>
          <a:solidFill>
            <a:srgbClr val="E6115E"/>
          </a:solidFill>
          <a:ln w="12700">
            <a:solidFill>
              <a:srgbClr val="E6115E"/>
            </a:solidFill>
            <a:prstDash val="solid"/>
          </a:ln>
        </p:spPr>
      </p:sp>
      <p:sp>
        <p:nvSpPr>
          <p:cNvPr id="40" name="Text 38"/>
          <p:cNvSpPr/>
          <p:nvPr/>
        </p:nvSpPr>
        <p:spPr>
          <a:xfrm>
            <a:off x="1024128" y="5596128"/>
            <a:ext cx="10332720" cy="685800"/>
          </a:xfrm>
          <a:prstGeom prst="rect">
            <a:avLst/>
          </a:prstGeom>
          <a:noFill/>
          <a:ln/>
        </p:spPr>
        <p:txBody>
          <a:bodyPr wrap="square" lIns="0" tIns="0" rIns="0" bIns="0" rtlCol="0" anchor="ctr"/>
          <a:lstStyle/>
          <a:p>
            <a:pPr indent="0" marL="0">
              <a:lnSpc>
                <a:spcPts val="1656"/>
              </a:lnSpc>
              <a:buNone/>
            </a:pPr>
            <a:r>
              <a:rPr lang="en-US" sz="1000" b="1" spc="130" kern="0" dirty="0">
                <a:solidFill>
                  <a:srgbClr val="E6115E"/>
                </a:solidFill>
                <a:latin typeface="Calibri" pitchFamily="34" charset="0"/>
                <a:ea typeface="Calibri" pitchFamily="34" charset="-122"/>
                <a:cs typeface="Calibri" pitchFamily="34" charset="-120"/>
              </a:rPr>
              <a:t>ANALOGÍA   </a:t>
            </a:r>
            <a:pPr indent="0" marL="0">
              <a:lnSpc>
                <a:spcPts val="1656"/>
              </a:lnSpc>
              <a:buNone/>
            </a:pPr>
            <a:r>
              <a:rPr lang="en-US" sz="1200" dirty="0">
                <a:solidFill>
                  <a:srgbClr val="0A2559"/>
                </a:solidFill>
                <a:latin typeface="Calibri" pitchFamily="34" charset="0"/>
                <a:ea typeface="Calibri" pitchFamily="34" charset="-122"/>
                <a:cs typeface="Calibri" pitchFamily="34" charset="-120"/>
              </a:rPr>
              <a:t>Regla del bloque: nadie copia y pega sin ejecutar. Es como el simulador de vuelo — sirve justamente porque puedes estrellarte sin consecuencias. Si una celda no la puedes explicar en una frase, para y pregunta.</a:t>
            </a:r>
            <a:endParaRPr lang="en-US" sz="1000" dirty="0"/>
          </a:p>
        </p:txBody>
      </p:sp>
      <p:sp>
        <p:nvSpPr>
          <p:cNvPr id="41" name="Text 39"/>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42" name="Text 40"/>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B"/>
        </a:solidFill>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Para esta clase, capítulo por capítulo</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indent="0" marL="0">
              <a:buNone/>
            </a:pPr>
            <a:r>
              <a:rPr lang="en-US" sz="1450" i="1" dirty="0">
                <a:solidFill>
                  <a:srgbClr val="5B6B87"/>
                </a:solidFill>
                <a:latin typeface="Calibri" pitchFamily="34" charset="0"/>
                <a:ea typeface="Calibri" pitchFamily="34" charset="-122"/>
                <a:cs typeface="Calibri" pitchFamily="34" charset="-120"/>
              </a:rPr>
              <a:t>No hay que leer los cinco libros. Hay que leer el capítulo correcto</a:t>
            </a:r>
            <a:endParaRPr lang="en-US" sz="1450" dirty="0"/>
          </a:p>
        </p:txBody>
      </p:sp>
      <p:sp>
        <p:nvSpPr>
          <p:cNvPr id="4" name="Shape 2"/>
          <p:cNvSpPr/>
          <p:nvPr/>
        </p:nvSpPr>
        <p:spPr>
          <a:xfrm>
            <a:off x="548640" y="1874520"/>
            <a:ext cx="11064240" cy="457200"/>
          </a:xfrm>
          <a:prstGeom prst="roundRect">
            <a:avLst>
              <a:gd name="adj" fmla="val 12000"/>
            </a:avLst>
          </a:prstGeom>
          <a:solidFill>
            <a:srgbClr val="0A2559"/>
          </a:solidFill>
          <a:ln w="12700">
            <a:solidFill>
              <a:srgbClr val="0A2559"/>
            </a:solidFill>
            <a:prstDash val="solid"/>
          </a:ln>
        </p:spPr>
      </p:sp>
      <p:sp>
        <p:nvSpPr>
          <p:cNvPr id="5" name="Text 3"/>
          <p:cNvSpPr/>
          <p:nvPr/>
        </p:nvSpPr>
        <p:spPr>
          <a:xfrm>
            <a:off x="685800" y="1874520"/>
            <a:ext cx="306324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Tema de hoy</a:t>
            </a:r>
            <a:endParaRPr lang="en-US" sz="1250" dirty="0"/>
          </a:p>
        </p:txBody>
      </p:sp>
      <p:sp>
        <p:nvSpPr>
          <p:cNvPr id="6" name="Text 4"/>
          <p:cNvSpPr/>
          <p:nvPr/>
        </p:nvSpPr>
        <p:spPr>
          <a:xfrm>
            <a:off x="3840480" y="1874520"/>
            <a:ext cx="38862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Fuente principal</a:t>
            </a:r>
            <a:endParaRPr lang="en-US" sz="1250" dirty="0"/>
          </a:p>
        </p:txBody>
      </p:sp>
      <p:sp>
        <p:nvSpPr>
          <p:cNvPr id="7" name="Text 5"/>
          <p:cNvSpPr/>
          <p:nvPr/>
        </p:nvSpPr>
        <p:spPr>
          <a:xfrm>
            <a:off x="7863840" y="1874520"/>
            <a:ext cx="347472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Complemento</a:t>
            </a:r>
            <a:endParaRPr lang="en-US" sz="1250" dirty="0"/>
          </a:p>
        </p:txBody>
      </p:sp>
      <p:sp>
        <p:nvSpPr>
          <p:cNvPr id="8" name="Shape 6"/>
          <p:cNvSpPr/>
          <p:nvPr/>
        </p:nvSpPr>
        <p:spPr>
          <a:xfrm>
            <a:off x="548640" y="2377440"/>
            <a:ext cx="11064240" cy="502920"/>
          </a:xfrm>
          <a:prstGeom prst="roundRect">
            <a:avLst>
              <a:gd name="adj" fmla="val 10909"/>
            </a:avLst>
          </a:prstGeom>
          <a:solidFill>
            <a:srgbClr val="EDF1F9"/>
          </a:solidFill>
          <a:ln w="12700">
            <a:solidFill>
              <a:srgbClr val="EDF1F9"/>
            </a:solidFill>
            <a:prstDash val="solid"/>
          </a:ln>
        </p:spPr>
      </p:sp>
      <p:sp>
        <p:nvSpPr>
          <p:cNvPr id="9" name="Text 7"/>
          <p:cNvSpPr/>
          <p:nvPr/>
        </p:nvSpPr>
        <p:spPr>
          <a:xfrm>
            <a:off x="685800" y="2377440"/>
            <a:ext cx="3063240" cy="502920"/>
          </a:xfrm>
          <a:prstGeom prst="rect">
            <a:avLst/>
          </a:prstGeom>
          <a:noFill/>
          <a:ln/>
        </p:spPr>
        <p:txBody>
          <a:bodyPr wrap="square" lIns="0" tIns="0" rIns="0" bIns="0" rtlCol="0" anchor="ctr"/>
          <a:lstStyle/>
          <a:p>
            <a:pPr indent="0" marL="0">
              <a:buNone/>
            </a:pPr>
            <a:r>
              <a:rPr lang="en-US" sz="1200" b="1" dirty="0">
                <a:solidFill>
                  <a:srgbClr val="0A2559"/>
                </a:solidFill>
                <a:latin typeface="Calibri" pitchFamily="34" charset="0"/>
                <a:ea typeface="Calibri" pitchFamily="34" charset="-122"/>
                <a:cs typeface="Calibri" pitchFamily="34" charset="-120"/>
              </a:rPr>
              <a:t>Descriptiva y medidas robustas</a:t>
            </a:r>
            <a:endParaRPr lang="en-US" sz="1200" dirty="0"/>
          </a:p>
        </p:txBody>
      </p:sp>
      <p:sp>
        <p:nvSpPr>
          <p:cNvPr id="10" name="Text 8"/>
          <p:cNvSpPr/>
          <p:nvPr/>
        </p:nvSpPr>
        <p:spPr>
          <a:xfrm>
            <a:off x="3840480" y="2377440"/>
            <a:ext cx="3886200" cy="502920"/>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Bruce &amp; Gedeck, cap. 1</a:t>
            </a:r>
            <a:endParaRPr lang="en-US" sz="1200" dirty="0"/>
          </a:p>
        </p:txBody>
      </p:sp>
      <p:sp>
        <p:nvSpPr>
          <p:cNvPr id="11" name="Text 9"/>
          <p:cNvSpPr/>
          <p:nvPr/>
        </p:nvSpPr>
        <p:spPr>
          <a:xfrm>
            <a:off x="7863840" y="2377440"/>
            <a:ext cx="3474720" cy="502920"/>
          </a:xfrm>
          <a:prstGeom prst="rect">
            <a:avLst/>
          </a:prstGeom>
          <a:noFill/>
          <a:ln/>
        </p:spPr>
        <p:txBody>
          <a:bodyPr wrap="square" lIns="0" tIns="0" rIns="0" bIns="0" rtlCol="0" anchor="ctr"/>
          <a:lstStyle/>
          <a:p>
            <a:pPr indent="0" marL="0">
              <a:buNone/>
            </a:pPr>
            <a:r>
              <a:rPr lang="en-US" sz="1200" i="1" dirty="0">
                <a:solidFill>
                  <a:srgbClr val="5B6B87"/>
                </a:solidFill>
                <a:latin typeface="Calibri" pitchFamily="34" charset="0"/>
                <a:ea typeface="Calibri" pitchFamily="34" charset="-122"/>
                <a:cs typeface="Calibri" pitchFamily="34" charset="-120"/>
              </a:rPr>
              <a:t>OpenIntro Statistics, cap. 2 (gratuito)</a:t>
            </a:r>
            <a:endParaRPr lang="en-US" sz="1200" dirty="0"/>
          </a:p>
        </p:txBody>
      </p:sp>
      <p:sp>
        <p:nvSpPr>
          <p:cNvPr id="12" name="Text 10"/>
          <p:cNvSpPr/>
          <p:nvPr/>
        </p:nvSpPr>
        <p:spPr>
          <a:xfrm>
            <a:off x="685800" y="2926080"/>
            <a:ext cx="3063240" cy="502920"/>
          </a:xfrm>
          <a:prstGeom prst="rect">
            <a:avLst/>
          </a:prstGeom>
          <a:noFill/>
          <a:ln/>
        </p:spPr>
        <p:txBody>
          <a:bodyPr wrap="square" lIns="0" tIns="0" rIns="0" bIns="0" rtlCol="0" anchor="ctr"/>
          <a:lstStyle/>
          <a:p>
            <a:pPr indent="0" marL="0">
              <a:buNone/>
            </a:pPr>
            <a:r>
              <a:rPr lang="en-US" sz="1200" b="1" dirty="0">
                <a:solidFill>
                  <a:srgbClr val="0A2559"/>
                </a:solidFill>
                <a:latin typeface="Calibri" pitchFamily="34" charset="0"/>
                <a:ea typeface="Calibri" pitchFamily="34" charset="-122"/>
                <a:cs typeface="Calibri" pitchFamily="34" charset="-120"/>
              </a:rPr>
              <a:t>Población, muestra y sesgo</a:t>
            </a:r>
            <a:endParaRPr lang="en-US" sz="1200" dirty="0"/>
          </a:p>
        </p:txBody>
      </p:sp>
      <p:sp>
        <p:nvSpPr>
          <p:cNvPr id="13" name="Text 11"/>
          <p:cNvSpPr/>
          <p:nvPr/>
        </p:nvSpPr>
        <p:spPr>
          <a:xfrm>
            <a:off x="3840480" y="2926080"/>
            <a:ext cx="3886200" cy="502920"/>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Wasserman, cap. 6</a:t>
            </a:r>
            <a:endParaRPr lang="en-US" sz="1200" dirty="0"/>
          </a:p>
        </p:txBody>
      </p:sp>
      <p:sp>
        <p:nvSpPr>
          <p:cNvPr id="14" name="Text 12"/>
          <p:cNvSpPr/>
          <p:nvPr/>
        </p:nvSpPr>
        <p:spPr>
          <a:xfrm>
            <a:off x="7863840" y="2926080"/>
            <a:ext cx="3474720" cy="502920"/>
          </a:xfrm>
          <a:prstGeom prst="rect">
            <a:avLst/>
          </a:prstGeom>
          <a:noFill/>
          <a:ln/>
        </p:spPr>
        <p:txBody>
          <a:bodyPr wrap="square" lIns="0" tIns="0" rIns="0" bIns="0" rtlCol="0" anchor="ctr"/>
          <a:lstStyle/>
          <a:p>
            <a:pPr indent="0" marL="0">
              <a:buNone/>
            </a:pPr>
            <a:r>
              <a:rPr lang="en-US" sz="1200" i="1" dirty="0">
                <a:solidFill>
                  <a:srgbClr val="5B6B87"/>
                </a:solidFill>
                <a:latin typeface="Calibri" pitchFamily="34" charset="0"/>
                <a:ea typeface="Calibri" pitchFamily="34" charset="-122"/>
                <a:cs typeface="Calibri" pitchFamily="34" charset="-120"/>
              </a:rPr>
              <a:t>Bruce &amp; Gedeck, cap. 2</a:t>
            </a:r>
            <a:endParaRPr lang="en-US" sz="1200" dirty="0"/>
          </a:p>
        </p:txBody>
      </p:sp>
      <p:sp>
        <p:nvSpPr>
          <p:cNvPr id="15" name="Shape 13"/>
          <p:cNvSpPr/>
          <p:nvPr/>
        </p:nvSpPr>
        <p:spPr>
          <a:xfrm>
            <a:off x="548640" y="3474720"/>
            <a:ext cx="11064240" cy="502920"/>
          </a:xfrm>
          <a:prstGeom prst="roundRect">
            <a:avLst>
              <a:gd name="adj" fmla="val 10909"/>
            </a:avLst>
          </a:prstGeom>
          <a:solidFill>
            <a:srgbClr val="EDF1F9"/>
          </a:solidFill>
          <a:ln w="12700">
            <a:solidFill>
              <a:srgbClr val="EDF1F9"/>
            </a:solidFill>
            <a:prstDash val="solid"/>
          </a:ln>
        </p:spPr>
      </p:sp>
      <p:sp>
        <p:nvSpPr>
          <p:cNvPr id="16" name="Text 14"/>
          <p:cNvSpPr/>
          <p:nvPr/>
        </p:nvSpPr>
        <p:spPr>
          <a:xfrm>
            <a:off x="685800" y="3474720"/>
            <a:ext cx="3063240" cy="502920"/>
          </a:xfrm>
          <a:prstGeom prst="rect">
            <a:avLst/>
          </a:prstGeom>
          <a:noFill/>
          <a:ln/>
        </p:spPr>
        <p:txBody>
          <a:bodyPr wrap="square" lIns="0" tIns="0" rIns="0" bIns="0" rtlCol="0" anchor="ctr"/>
          <a:lstStyle/>
          <a:p>
            <a:pPr indent="0" marL="0">
              <a:buNone/>
            </a:pPr>
            <a:r>
              <a:rPr lang="en-US" sz="1200" b="1" dirty="0">
                <a:solidFill>
                  <a:srgbClr val="0A2559"/>
                </a:solidFill>
                <a:latin typeface="Calibri" pitchFamily="34" charset="0"/>
                <a:ea typeface="Calibri" pitchFamily="34" charset="-122"/>
                <a:cs typeface="Calibri" pitchFamily="34" charset="-120"/>
              </a:rPr>
              <a:t>Variable aleatoria y esperanza</a:t>
            </a:r>
            <a:endParaRPr lang="en-US" sz="1200" dirty="0"/>
          </a:p>
        </p:txBody>
      </p:sp>
      <p:sp>
        <p:nvSpPr>
          <p:cNvPr id="17" name="Text 15"/>
          <p:cNvSpPr/>
          <p:nvPr/>
        </p:nvSpPr>
        <p:spPr>
          <a:xfrm>
            <a:off x="3840480" y="3474720"/>
            <a:ext cx="3886200" cy="502920"/>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Blitzstein &amp; Hwang, cap. 3 y 4</a:t>
            </a:r>
            <a:endParaRPr lang="en-US" sz="1200" dirty="0"/>
          </a:p>
        </p:txBody>
      </p:sp>
      <p:sp>
        <p:nvSpPr>
          <p:cNvPr id="18" name="Text 16"/>
          <p:cNvSpPr/>
          <p:nvPr/>
        </p:nvSpPr>
        <p:spPr>
          <a:xfrm>
            <a:off x="7863840" y="3474720"/>
            <a:ext cx="3474720" cy="502920"/>
          </a:xfrm>
          <a:prstGeom prst="rect">
            <a:avLst/>
          </a:prstGeom>
          <a:noFill/>
          <a:ln/>
        </p:spPr>
        <p:txBody>
          <a:bodyPr wrap="square" lIns="0" tIns="0" rIns="0" bIns="0" rtlCol="0" anchor="ctr"/>
          <a:lstStyle/>
          <a:p>
            <a:pPr indent="0" marL="0">
              <a:buNone/>
            </a:pPr>
            <a:r>
              <a:rPr lang="en-US" sz="1200" i="1" dirty="0">
                <a:solidFill>
                  <a:srgbClr val="5B6B87"/>
                </a:solidFill>
                <a:latin typeface="Calibri" pitchFamily="34" charset="0"/>
                <a:ea typeface="Calibri" pitchFamily="34" charset="-122"/>
                <a:cs typeface="Calibri" pitchFamily="34" charset="-120"/>
              </a:rPr>
              <a:t>Wasserman, cap. 2 y 3</a:t>
            </a:r>
            <a:endParaRPr lang="en-US" sz="1200" dirty="0"/>
          </a:p>
        </p:txBody>
      </p:sp>
      <p:sp>
        <p:nvSpPr>
          <p:cNvPr id="19" name="Text 17"/>
          <p:cNvSpPr/>
          <p:nvPr/>
        </p:nvSpPr>
        <p:spPr>
          <a:xfrm>
            <a:off x="685800" y="4023360"/>
            <a:ext cx="3063240" cy="502920"/>
          </a:xfrm>
          <a:prstGeom prst="rect">
            <a:avLst/>
          </a:prstGeom>
          <a:noFill/>
          <a:ln/>
        </p:spPr>
        <p:txBody>
          <a:bodyPr wrap="square" lIns="0" tIns="0" rIns="0" bIns="0" rtlCol="0" anchor="ctr"/>
          <a:lstStyle/>
          <a:p>
            <a:pPr indent="0" marL="0">
              <a:buNone/>
            </a:pPr>
            <a:r>
              <a:rPr lang="en-US" sz="1200" b="1" dirty="0">
                <a:solidFill>
                  <a:srgbClr val="0A2559"/>
                </a:solidFill>
                <a:latin typeface="Calibri" pitchFamily="34" charset="0"/>
                <a:ea typeface="Calibri" pitchFamily="34" charset="-122"/>
                <a:cs typeface="Calibri" pitchFamily="34" charset="-120"/>
              </a:rPr>
              <a:t>Familias de distribuciones</a:t>
            </a:r>
            <a:endParaRPr lang="en-US" sz="1200" dirty="0"/>
          </a:p>
        </p:txBody>
      </p:sp>
      <p:sp>
        <p:nvSpPr>
          <p:cNvPr id="20" name="Text 18"/>
          <p:cNvSpPr/>
          <p:nvPr/>
        </p:nvSpPr>
        <p:spPr>
          <a:xfrm>
            <a:off x="3840480" y="4023360"/>
            <a:ext cx="3886200" cy="502920"/>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Casella &amp; Berger, cap. 3</a:t>
            </a:r>
            <a:endParaRPr lang="en-US" sz="1200" dirty="0"/>
          </a:p>
        </p:txBody>
      </p:sp>
      <p:sp>
        <p:nvSpPr>
          <p:cNvPr id="21" name="Text 19"/>
          <p:cNvSpPr/>
          <p:nvPr/>
        </p:nvSpPr>
        <p:spPr>
          <a:xfrm>
            <a:off x="7863840" y="4023360"/>
            <a:ext cx="3474720" cy="502920"/>
          </a:xfrm>
          <a:prstGeom prst="rect">
            <a:avLst/>
          </a:prstGeom>
          <a:noFill/>
          <a:ln/>
        </p:spPr>
        <p:txBody>
          <a:bodyPr wrap="square" lIns="0" tIns="0" rIns="0" bIns="0" rtlCol="0" anchor="ctr"/>
          <a:lstStyle/>
          <a:p>
            <a:pPr indent="0" marL="0">
              <a:buNone/>
            </a:pPr>
            <a:r>
              <a:rPr lang="en-US" sz="1200" i="1" dirty="0">
                <a:solidFill>
                  <a:srgbClr val="5B6B87"/>
                </a:solidFill>
                <a:latin typeface="Calibri" pitchFamily="34" charset="0"/>
                <a:ea typeface="Calibri" pitchFamily="34" charset="-122"/>
                <a:cs typeface="Calibri" pitchFamily="34" charset="-120"/>
              </a:rPr>
              <a:t>Blitzstein &amp; Hwang, cap. 3</a:t>
            </a:r>
            <a:endParaRPr lang="en-US" sz="1200" dirty="0"/>
          </a:p>
        </p:txBody>
      </p:sp>
      <p:sp>
        <p:nvSpPr>
          <p:cNvPr id="22" name="Shape 20"/>
          <p:cNvSpPr/>
          <p:nvPr/>
        </p:nvSpPr>
        <p:spPr>
          <a:xfrm>
            <a:off x="548640" y="4572000"/>
            <a:ext cx="11064240" cy="502920"/>
          </a:xfrm>
          <a:prstGeom prst="roundRect">
            <a:avLst>
              <a:gd name="adj" fmla="val 10909"/>
            </a:avLst>
          </a:prstGeom>
          <a:solidFill>
            <a:srgbClr val="EDF1F9"/>
          </a:solidFill>
          <a:ln w="12700">
            <a:solidFill>
              <a:srgbClr val="EDF1F9"/>
            </a:solidFill>
            <a:prstDash val="solid"/>
          </a:ln>
        </p:spPr>
      </p:sp>
      <p:sp>
        <p:nvSpPr>
          <p:cNvPr id="23" name="Text 21"/>
          <p:cNvSpPr/>
          <p:nvPr/>
        </p:nvSpPr>
        <p:spPr>
          <a:xfrm>
            <a:off x="685800" y="4572000"/>
            <a:ext cx="3063240" cy="502920"/>
          </a:xfrm>
          <a:prstGeom prst="rect">
            <a:avLst/>
          </a:prstGeom>
          <a:noFill/>
          <a:ln/>
        </p:spPr>
        <p:txBody>
          <a:bodyPr wrap="square" lIns="0" tIns="0" rIns="0" bIns="0" rtlCol="0" anchor="ctr"/>
          <a:lstStyle/>
          <a:p>
            <a:pPr indent="0" marL="0">
              <a:buNone/>
            </a:pPr>
            <a:r>
              <a:rPr lang="en-US" sz="1200" b="1" dirty="0">
                <a:solidFill>
                  <a:srgbClr val="0A2559"/>
                </a:solidFill>
                <a:latin typeface="Calibri" pitchFamily="34" charset="0"/>
                <a:ea typeface="Calibri" pitchFamily="34" charset="-122"/>
                <a:cs typeface="Calibri" pitchFamily="34" charset="-120"/>
              </a:rPr>
              <a:t>Poisson en la práctica</a:t>
            </a:r>
            <a:endParaRPr lang="en-US" sz="1200" dirty="0"/>
          </a:p>
        </p:txBody>
      </p:sp>
      <p:sp>
        <p:nvSpPr>
          <p:cNvPr id="24" name="Text 22"/>
          <p:cNvSpPr/>
          <p:nvPr/>
        </p:nvSpPr>
        <p:spPr>
          <a:xfrm>
            <a:off x="3840480" y="4572000"/>
            <a:ext cx="3886200" cy="502920"/>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Bruce &amp; Gedeck, cap. 2</a:t>
            </a:r>
            <a:endParaRPr lang="en-US" sz="1200" dirty="0"/>
          </a:p>
        </p:txBody>
      </p:sp>
      <p:sp>
        <p:nvSpPr>
          <p:cNvPr id="25" name="Text 23"/>
          <p:cNvSpPr/>
          <p:nvPr/>
        </p:nvSpPr>
        <p:spPr>
          <a:xfrm>
            <a:off x="7863840" y="4572000"/>
            <a:ext cx="3474720" cy="502920"/>
          </a:xfrm>
          <a:prstGeom prst="rect">
            <a:avLst/>
          </a:prstGeom>
          <a:noFill/>
          <a:ln/>
        </p:spPr>
        <p:txBody>
          <a:bodyPr wrap="square" lIns="0" tIns="0" rIns="0" bIns="0" rtlCol="0" anchor="ctr"/>
          <a:lstStyle/>
          <a:p>
            <a:pPr indent="0" marL="0">
              <a:buNone/>
            </a:pPr>
            <a:r>
              <a:rPr lang="en-US" sz="1200" i="1" dirty="0">
                <a:solidFill>
                  <a:srgbClr val="5B6B87"/>
                </a:solidFill>
                <a:latin typeface="Calibri" pitchFamily="34" charset="0"/>
                <a:ea typeface="Calibri" pitchFamily="34" charset="-122"/>
                <a:cs typeface="Calibri" pitchFamily="34" charset="-120"/>
              </a:rPr>
              <a:t>Downey, Think Stats (gratuito, en Python)</a:t>
            </a:r>
            <a:endParaRPr lang="en-US" sz="1200" dirty="0"/>
          </a:p>
        </p:txBody>
      </p:sp>
      <p:sp>
        <p:nvSpPr>
          <p:cNvPr id="26" name="Text 24"/>
          <p:cNvSpPr/>
          <p:nvPr/>
        </p:nvSpPr>
        <p:spPr>
          <a:xfrm>
            <a:off x="685800" y="5120640"/>
            <a:ext cx="3063240" cy="502920"/>
          </a:xfrm>
          <a:prstGeom prst="rect">
            <a:avLst/>
          </a:prstGeom>
          <a:noFill/>
          <a:ln/>
        </p:spPr>
        <p:txBody>
          <a:bodyPr wrap="square" lIns="0" tIns="0" rIns="0" bIns="0" rtlCol="0" anchor="ctr"/>
          <a:lstStyle/>
          <a:p>
            <a:pPr indent="0" marL="0">
              <a:buNone/>
            </a:pPr>
            <a:r>
              <a:rPr lang="en-US" sz="1200" b="1" dirty="0">
                <a:solidFill>
                  <a:srgbClr val="0A2559"/>
                </a:solidFill>
                <a:latin typeface="Calibri" pitchFamily="34" charset="0"/>
                <a:ea typeface="Calibri" pitchFamily="34" charset="-122"/>
                <a:cs typeface="Calibri" pitchFamily="34" charset="-120"/>
              </a:rPr>
              <a:t>Por qué esto paga (M3)</a:t>
            </a:r>
            <a:endParaRPr lang="en-US" sz="1200" dirty="0"/>
          </a:p>
        </p:txBody>
      </p:sp>
      <p:sp>
        <p:nvSpPr>
          <p:cNvPr id="27" name="Text 25"/>
          <p:cNvSpPr/>
          <p:nvPr/>
        </p:nvSpPr>
        <p:spPr>
          <a:xfrm>
            <a:off x="3840480" y="5120640"/>
            <a:ext cx="3886200" cy="502920"/>
          </a:xfrm>
          <a:prstGeom prst="rect">
            <a:avLst/>
          </a:prstGeom>
          <a:noFill/>
          <a:ln/>
        </p:spPr>
        <p:txBody>
          <a:bodyPr wrap="square" lIns="0" tIns="0" rIns="0" bIns="0" rtlCol="0" anchor="ctr"/>
          <a:lstStyle/>
          <a:p>
            <a:pPr indent="0" marL="0">
              <a:buNone/>
            </a:pPr>
            <a:r>
              <a:rPr lang="en-US" sz="1200" dirty="0">
                <a:solidFill>
                  <a:srgbClr val="2C3A55"/>
                </a:solidFill>
                <a:latin typeface="Calibri" pitchFamily="34" charset="0"/>
                <a:ea typeface="Calibri" pitchFamily="34" charset="-122"/>
                <a:cs typeface="Calibri" pitchFamily="34" charset="-120"/>
              </a:rPr>
              <a:t>Kohavi, Tang &amp; Xu, cap. 1</a:t>
            </a:r>
            <a:endParaRPr lang="en-US" sz="1200" dirty="0"/>
          </a:p>
        </p:txBody>
      </p:sp>
      <p:sp>
        <p:nvSpPr>
          <p:cNvPr id="28" name="Text 26"/>
          <p:cNvSpPr/>
          <p:nvPr/>
        </p:nvSpPr>
        <p:spPr>
          <a:xfrm>
            <a:off x="7863840" y="5120640"/>
            <a:ext cx="3474720" cy="502920"/>
          </a:xfrm>
          <a:prstGeom prst="rect">
            <a:avLst/>
          </a:prstGeom>
          <a:noFill/>
          <a:ln/>
        </p:spPr>
        <p:txBody>
          <a:bodyPr wrap="square" lIns="0" tIns="0" rIns="0" bIns="0" rtlCol="0" anchor="ctr"/>
          <a:lstStyle/>
          <a:p>
            <a:pPr indent="0" marL="0">
              <a:buNone/>
            </a:pPr>
            <a:r>
              <a:rPr lang="en-US" sz="1200" i="1" dirty="0">
                <a:solidFill>
                  <a:srgbClr val="5B6B87"/>
                </a:solidFill>
                <a:latin typeface="Calibri" pitchFamily="34" charset="0"/>
                <a:ea typeface="Calibri" pitchFamily="34" charset="-122"/>
                <a:cs typeface="Calibri" pitchFamily="34" charset="-120"/>
              </a:rPr>
              <a:t>Kohavi &amp; Thomke, HBR 2017</a:t>
            </a:r>
            <a:endParaRPr lang="en-US" sz="1200" dirty="0"/>
          </a:p>
        </p:txBody>
      </p:sp>
      <p:sp>
        <p:nvSpPr>
          <p:cNvPr id="29" name="Shape 27"/>
          <p:cNvSpPr/>
          <p:nvPr/>
        </p:nvSpPr>
        <p:spPr>
          <a:xfrm>
            <a:off x="548640" y="5760720"/>
            <a:ext cx="11064240" cy="502920"/>
          </a:xfrm>
          <a:prstGeom prst="roundRect">
            <a:avLst>
              <a:gd name="adj" fmla="val 10909"/>
            </a:avLst>
          </a:prstGeom>
          <a:solidFill>
            <a:srgbClr val="DCE6F8"/>
          </a:solidFill>
          <a:ln w="12700">
            <a:solidFill>
              <a:srgbClr val="DCE6F8"/>
            </a:solidFill>
            <a:prstDash val="solid"/>
          </a:ln>
        </p:spPr>
      </p:sp>
      <p:sp>
        <p:nvSpPr>
          <p:cNvPr id="30" name="Text 28"/>
          <p:cNvSpPr/>
          <p:nvPr/>
        </p:nvSpPr>
        <p:spPr>
          <a:xfrm>
            <a:off x="777240" y="5760720"/>
            <a:ext cx="10607040" cy="502920"/>
          </a:xfrm>
          <a:prstGeom prst="rect">
            <a:avLst/>
          </a:prstGeom>
          <a:noFill/>
          <a:ln/>
        </p:spPr>
        <p:txBody>
          <a:bodyPr wrap="square" lIns="0" tIns="0" rIns="0" bIns="0" rtlCol="0" anchor="ctr"/>
          <a:lstStyle/>
          <a:p>
            <a:pPr indent="0" marL="0">
              <a:buNone/>
            </a:pPr>
            <a:r>
              <a:rPr lang="en-US" sz="1150" dirty="0">
                <a:solidFill>
                  <a:srgbClr val="0A2559"/>
                </a:solidFill>
                <a:latin typeface="Calibri" pitchFamily="34" charset="0"/>
                <a:ea typeface="Calibri" pitchFamily="34" charset="-122"/>
                <a:cs typeface="Calibri" pitchFamily="34" charset="-120"/>
              </a:rPr>
              <a:t>Gratuitos y recomendados: OpenIntro Statistics (openintro.org) · Downey, Think Stats 2ª ed. (O'Reilly, libre) · Efron &amp; Hastie, Computer Age Statistical Inference (PDF libre, Stanford) · curso Stat 110 de Blitzstein (edX y YouTube)</a:t>
            </a:r>
            <a:endParaRPr lang="en-US" sz="1150" dirty="0"/>
          </a:p>
        </p:txBody>
      </p:sp>
      <p:sp>
        <p:nvSpPr>
          <p:cNvPr id="31" name="Text 29"/>
          <p:cNvSpPr/>
          <p:nvPr/>
        </p:nvSpPr>
        <p:spPr>
          <a:xfrm>
            <a:off x="548640" y="6382512"/>
            <a:ext cx="7772400" cy="274320"/>
          </a:xfrm>
          <a:prstGeom prst="rect">
            <a:avLst/>
          </a:prstGeom>
          <a:noFill/>
          <a:ln/>
        </p:spPr>
        <p:txBody>
          <a:bodyPr wrap="square" lIns="0" tIns="0" rIns="0" bIns="0" rtlCol="0" anchor="ctr"/>
          <a:lstStyle/>
          <a:p>
            <a:pPr indent="0" marL="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32" name="Text 30"/>
          <p:cNvSpPr/>
          <p:nvPr/>
        </p:nvSpPr>
        <p:spPr>
          <a:xfrm>
            <a:off x="11155680" y="6382512"/>
            <a:ext cx="457200" cy="274320"/>
          </a:xfrm>
          <a:prstGeom prst="rect">
            <a:avLst/>
          </a:prstGeom>
          <a:noFill/>
          <a:ln/>
        </p:spPr>
        <p:txBody>
          <a:bodyPr wrap="square" lIns="0" tIns="0" rIns="0" bIns="0" rtlCol="0" anchor="ctr"/>
          <a:lstStyle/>
          <a:p>
            <a:pPr algn="r" indent="0" marL="0">
              <a:buNone/>
            </a:pPr>
            <a:r>
              <a:rPr lang="en-US" sz="950" dirty="0">
                <a:solidFill>
                  <a:srgbClr val="8A98B2"/>
                </a:solidFill>
                <a:latin typeface="Calibri" pitchFamily="34" charset="0"/>
                <a:ea typeface="Calibri" pitchFamily="34" charset="-122"/>
                <a:cs typeface="Calibri"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9509760" y="3566160"/>
            <a:ext cx="4389120" cy="4389120"/>
          </a:xfrm>
          <a:prstGeom prst="ellipse">
            <a:avLst/>
          </a:prstGeom>
          <a:solidFill>
            <a:srgbClr val="1A56E8">
              <a:alpha val="40000"/>
            </a:srgbClr>
          </a:solidFill>
          <a:ln w="12700">
            <a:solidFill>
              <a:srgbClr val="1A56E8">
                <a:alpha val="0"/>
              </a:srgbClr>
            </a:solidFill>
            <a:prstDash val="solid"/>
          </a:ln>
        </p:spPr>
      </p:sp>
      <p:sp>
        <p:nvSpPr>
          <p:cNvPr id="3" name="Shape 1"/>
          <p:cNvSpPr/>
          <p:nvPr/>
        </p:nvSpPr>
        <p:spPr>
          <a:xfrm>
            <a:off x="685800" y="594360"/>
            <a:ext cx="1371600" cy="347472"/>
          </a:xfrm>
          <a:prstGeom prst="roundRect">
            <a:avLst>
              <a:gd name="adj" fmla="val 50000"/>
            </a:avLst>
          </a:prstGeom>
          <a:solidFill>
            <a:srgbClr val="E6115E"/>
          </a:solidFill>
          <a:ln w="12700">
            <a:solidFill>
              <a:srgbClr val="E6115E"/>
            </a:solidFill>
            <a:prstDash val="solid"/>
          </a:ln>
        </p:spPr>
      </p:sp>
      <p:sp>
        <p:nvSpPr>
          <p:cNvPr id="4" name="Text 2"/>
          <p:cNvSpPr/>
          <p:nvPr/>
        </p:nvSpPr>
        <p:spPr>
          <a:xfrm>
            <a:off x="685800" y="594360"/>
            <a:ext cx="1371600" cy="347472"/>
          </a:xfrm>
          <a:prstGeom prst="rect">
            <a:avLst/>
          </a:prstGeom>
          <a:noFill/>
          <a:ln/>
        </p:spPr>
        <p:txBody>
          <a:bodyPr wrap="square" lIns="0" tIns="0" rIns="0" bIns="0" rtlCol="0" anchor="ctr"/>
          <a:lstStyle/>
          <a:p>
            <a:pPr algn="ctr" indent="0" marL="0">
              <a:buNone/>
            </a:pPr>
            <a:r>
              <a:rPr lang="en-US" sz="1150" b="1" spc="120" kern="0" dirty="0">
                <a:solidFill>
                  <a:srgbClr val="FFFFFF"/>
                </a:solidFill>
                <a:latin typeface="Calibri" pitchFamily="34" charset="0"/>
                <a:ea typeface="Calibri" pitchFamily="34" charset="-122"/>
                <a:cs typeface="Calibri" pitchFamily="34" charset="-120"/>
              </a:rPr>
              <a:t>CIERRE</a:t>
            </a:r>
            <a:endParaRPr lang="en-US" sz="1150" dirty="0"/>
          </a:p>
        </p:txBody>
      </p:sp>
      <p:sp>
        <p:nvSpPr>
          <p:cNvPr id="5" name="Text 3"/>
          <p:cNvSpPr/>
          <p:nvPr/>
        </p:nvSpPr>
        <p:spPr>
          <a:xfrm>
            <a:off x="685800" y="1097280"/>
            <a:ext cx="8686800" cy="594360"/>
          </a:xfrm>
          <a:prstGeom prst="rect">
            <a:avLst/>
          </a:prstGeom>
          <a:noFill/>
          <a:ln/>
        </p:spPr>
        <p:txBody>
          <a:bodyPr wrap="square" lIns="0" tIns="0" rIns="0" bIns="0" rtlCol="0" anchor="ctr"/>
          <a:lstStyle/>
          <a:p>
            <a:pPr indent="0" marL="0">
              <a:buNone/>
            </a:pPr>
            <a:r>
              <a:rPr lang="en-US" sz="3100" b="1" dirty="0">
                <a:solidFill>
                  <a:srgbClr val="FFFFFF"/>
                </a:solidFill>
                <a:latin typeface="Calibri" pitchFamily="34" charset="0"/>
                <a:ea typeface="Calibri" pitchFamily="34" charset="-122"/>
                <a:cs typeface="Calibri" pitchFamily="34" charset="-120"/>
              </a:rPr>
              <a:t>Tres ideas que no se negocian</a:t>
            </a:r>
            <a:endParaRPr lang="en-US" sz="3100" dirty="0"/>
          </a:p>
        </p:txBody>
      </p:sp>
      <p:sp>
        <p:nvSpPr>
          <p:cNvPr id="6" name="Shape 4"/>
          <p:cNvSpPr/>
          <p:nvPr/>
        </p:nvSpPr>
        <p:spPr>
          <a:xfrm>
            <a:off x="731520" y="1965960"/>
            <a:ext cx="438912" cy="438912"/>
          </a:xfrm>
          <a:prstGeom prst="ellipse">
            <a:avLst/>
          </a:prstGeom>
          <a:solidFill>
            <a:srgbClr val="E6115E"/>
          </a:solidFill>
          <a:ln w="12700">
            <a:solidFill>
              <a:srgbClr val="E6115E"/>
            </a:solidFill>
            <a:prstDash val="solid"/>
          </a:ln>
        </p:spPr>
      </p:sp>
      <p:sp>
        <p:nvSpPr>
          <p:cNvPr id="7" name="Text 5"/>
          <p:cNvSpPr/>
          <p:nvPr/>
        </p:nvSpPr>
        <p:spPr>
          <a:xfrm>
            <a:off x="731520" y="19659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371600" y="1874520"/>
            <a:ext cx="768096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Nunca observas la población.</a:t>
            </a:r>
            <a:endParaRPr lang="en-US" sz="1450" dirty="0"/>
          </a:p>
        </p:txBody>
      </p:sp>
      <p:sp>
        <p:nvSpPr>
          <p:cNvPr id="9" name="Text 7"/>
          <p:cNvSpPr/>
          <p:nvPr/>
        </p:nvSpPr>
        <p:spPr>
          <a:xfrm>
            <a:off x="1371600" y="2185416"/>
            <a:ext cx="7680960" cy="502920"/>
          </a:xfrm>
          <a:prstGeom prst="rect">
            <a:avLst/>
          </a:prstGeom>
          <a:noFill/>
          <a:ln/>
        </p:spPr>
        <p:txBody>
          <a:bodyPr wrap="square" lIns="0" tIns="0" rIns="0" bIns="0" rtlCol="0" anchor="t"/>
          <a:lstStyle/>
          <a:p>
            <a:pPr indent="0" marL="0">
              <a:lnSpc>
                <a:spcPts val="1600"/>
              </a:lnSpc>
              <a:buNone/>
            </a:pPr>
            <a:r>
              <a:rPr lang="en-US" sz="1250" dirty="0">
                <a:solidFill>
                  <a:srgbClr val="B9C9E8"/>
                </a:solidFill>
                <a:latin typeface="Calibri" pitchFamily="34" charset="0"/>
                <a:ea typeface="Calibri" pitchFamily="34" charset="-122"/>
                <a:cs typeface="Calibri" pitchFamily="34" charset="-120"/>
              </a:rPr>
              <a:t>Todo lo que reportas es un estadístico con incertidumbre asociada. — el análisis de sangre</a:t>
            </a:r>
            <a:endParaRPr lang="en-US" sz="1250" dirty="0"/>
          </a:p>
        </p:txBody>
      </p:sp>
      <p:sp>
        <p:nvSpPr>
          <p:cNvPr id="10" name="Shape 8"/>
          <p:cNvSpPr/>
          <p:nvPr/>
        </p:nvSpPr>
        <p:spPr>
          <a:xfrm>
            <a:off x="731520" y="2880360"/>
            <a:ext cx="438912" cy="438912"/>
          </a:xfrm>
          <a:prstGeom prst="ellipse">
            <a:avLst/>
          </a:prstGeom>
          <a:solidFill>
            <a:srgbClr val="E6115E"/>
          </a:solidFill>
          <a:ln w="12700">
            <a:solidFill>
              <a:srgbClr val="E6115E"/>
            </a:solidFill>
            <a:prstDash val="solid"/>
          </a:ln>
        </p:spPr>
      </p:sp>
      <p:sp>
        <p:nvSpPr>
          <p:cNvPr id="11" name="Text 9"/>
          <p:cNvSpPr/>
          <p:nvPr/>
        </p:nvSpPr>
        <p:spPr>
          <a:xfrm>
            <a:off x="731520" y="28803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71600" y="2788920"/>
            <a:ext cx="768096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Una variable aleatoria es una función.</a:t>
            </a:r>
            <a:endParaRPr lang="en-US" sz="1450" dirty="0"/>
          </a:p>
        </p:txBody>
      </p:sp>
      <p:sp>
        <p:nvSpPr>
          <p:cNvPr id="13" name="Text 11"/>
          <p:cNvSpPr/>
          <p:nvPr/>
        </p:nvSpPr>
        <p:spPr>
          <a:xfrm>
            <a:off x="1371600" y="3099816"/>
            <a:ext cx="7680960" cy="502920"/>
          </a:xfrm>
          <a:prstGeom prst="rect">
            <a:avLst/>
          </a:prstGeom>
          <a:noFill/>
          <a:ln/>
        </p:spPr>
        <p:txBody>
          <a:bodyPr wrap="square" lIns="0" tIns="0" rIns="0" bIns="0" rtlCol="0" anchor="t"/>
          <a:lstStyle/>
          <a:p>
            <a:pPr indent="0" marL="0">
              <a:lnSpc>
                <a:spcPts val="1600"/>
              </a:lnSpc>
              <a:buNone/>
            </a:pPr>
            <a:r>
              <a:rPr lang="en-US" sz="1250" dirty="0">
                <a:solidFill>
                  <a:srgbClr val="B9C9E8"/>
                </a:solidFill>
                <a:latin typeface="Calibri" pitchFamily="34" charset="0"/>
                <a:ea typeface="Calibri" pitchFamily="34" charset="-122"/>
                <a:cs typeface="Calibri" pitchFamily="34" charset="-120"/>
              </a:rPr>
              <a:t>Elegir su distribución es una decisión de modelado que se defiende o se refuta con datos. — el marcador del partido</a:t>
            </a:r>
            <a:endParaRPr lang="en-US" sz="1250" dirty="0"/>
          </a:p>
        </p:txBody>
      </p:sp>
      <p:sp>
        <p:nvSpPr>
          <p:cNvPr id="14" name="Shape 12"/>
          <p:cNvSpPr/>
          <p:nvPr/>
        </p:nvSpPr>
        <p:spPr>
          <a:xfrm>
            <a:off x="731520" y="3794760"/>
            <a:ext cx="438912" cy="438912"/>
          </a:xfrm>
          <a:prstGeom prst="ellipse">
            <a:avLst/>
          </a:prstGeom>
          <a:solidFill>
            <a:srgbClr val="E6115E"/>
          </a:solidFill>
          <a:ln w="12700">
            <a:solidFill>
              <a:srgbClr val="E6115E"/>
            </a:solidFill>
            <a:prstDash val="solid"/>
          </a:ln>
        </p:spPr>
      </p:sp>
      <p:sp>
        <p:nvSpPr>
          <p:cNvPr id="15" name="Text 13"/>
          <p:cNvSpPr/>
          <p:nvPr/>
        </p:nvSpPr>
        <p:spPr>
          <a:xfrm>
            <a:off x="731520" y="37947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371600" y="3703320"/>
            <a:ext cx="768096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E[X] dice qué esperar; Var(X), cuánta muestra necesitas.</a:t>
            </a:r>
            <a:endParaRPr lang="en-US" sz="1450" dirty="0"/>
          </a:p>
        </p:txBody>
      </p:sp>
      <p:sp>
        <p:nvSpPr>
          <p:cNvPr id="17" name="Text 15"/>
          <p:cNvSpPr/>
          <p:nvPr/>
        </p:nvSpPr>
        <p:spPr>
          <a:xfrm>
            <a:off x="1371600" y="4014216"/>
            <a:ext cx="7680960" cy="502920"/>
          </a:xfrm>
          <a:prstGeom prst="rect">
            <a:avLst/>
          </a:prstGeom>
          <a:noFill/>
          <a:ln/>
        </p:spPr>
        <p:txBody>
          <a:bodyPr wrap="square" lIns="0" tIns="0" rIns="0" bIns="0" rtlCol="0" anchor="t"/>
          <a:lstStyle/>
          <a:p>
            <a:pPr indent="0" marL="0">
              <a:lnSpc>
                <a:spcPts val="1600"/>
              </a:lnSpc>
              <a:buNone/>
            </a:pPr>
            <a:r>
              <a:rPr lang="en-US" sz="1250" dirty="0">
                <a:solidFill>
                  <a:srgbClr val="B9C9E8"/>
                </a:solidFill>
                <a:latin typeface="Calibri" pitchFamily="34" charset="0"/>
                <a:ea typeface="Calibri" pitchFamily="34" charset="-122"/>
                <a:cs typeface="Calibri" pitchFamily="34" charset="-120"/>
              </a:rPr>
              <a:t>Y el azar produce racimos que parecen intención. — las bombas de Londres</a:t>
            </a:r>
            <a:endParaRPr lang="en-US" sz="1250" dirty="0"/>
          </a:p>
        </p:txBody>
      </p:sp>
      <p:sp>
        <p:nvSpPr>
          <p:cNvPr id="18" name="Shape 16"/>
          <p:cNvSpPr/>
          <p:nvPr/>
        </p:nvSpPr>
        <p:spPr>
          <a:xfrm>
            <a:off x="685800" y="4709160"/>
            <a:ext cx="5120640" cy="1371600"/>
          </a:xfrm>
          <a:prstGeom prst="roundRect">
            <a:avLst>
              <a:gd name="adj" fmla="val 4667"/>
            </a:avLst>
          </a:prstGeom>
          <a:solidFill>
            <a:srgbClr val="0F3573"/>
          </a:solidFill>
          <a:ln w="12700">
            <a:solidFill>
              <a:srgbClr val="1E4A94"/>
            </a:solidFill>
            <a:prstDash val="solid"/>
          </a:ln>
        </p:spPr>
      </p:sp>
      <p:sp>
        <p:nvSpPr>
          <p:cNvPr id="19" name="Text 17"/>
          <p:cNvSpPr/>
          <p:nvPr/>
        </p:nvSpPr>
        <p:spPr>
          <a:xfrm>
            <a:off x="914400" y="4828032"/>
            <a:ext cx="4709160" cy="274320"/>
          </a:xfrm>
          <a:prstGeom prst="rect">
            <a:avLst/>
          </a:prstGeom>
          <a:noFill/>
          <a:ln/>
        </p:spPr>
        <p:txBody>
          <a:bodyPr wrap="square" lIns="0" tIns="0" rIns="0" bIns="0" rtlCol="0" anchor="ctr"/>
          <a:lstStyle/>
          <a:p>
            <a:pPr indent="0" marL="0">
              <a:buNone/>
            </a:pPr>
            <a:r>
              <a:rPr lang="en-US" sz="1250" b="1" dirty="0">
                <a:solidFill>
                  <a:srgbClr val="E6115E"/>
                </a:solidFill>
                <a:latin typeface="Calibri" pitchFamily="34" charset="0"/>
                <a:ea typeface="Calibri" pitchFamily="34" charset="-122"/>
                <a:cs typeface="Calibri" pitchFamily="34" charset="-120"/>
              </a:rPr>
              <a:t>Reto para la próxima</a:t>
            </a:r>
            <a:endParaRPr lang="en-US" sz="1250" dirty="0"/>
          </a:p>
        </p:txBody>
      </p:sp>
      <p:sp>
        <p:nvSpPr>
          <p:cNvPr id="20" name="Text 18"/>
          <p:cNvSpPr/>
          <p:nvPr/>
        </p:nvSpPr>
        <p:spPr>
          <a:xfrm>
            <a:off x="914400" y="5138928"/>
            <a:ext cx="4754880" cy="868680"/>
          </a:xfrm>
          <a:prstGeom prst="rect">
            <a:avLst/>
          </a:prstGeom>
          <a:noFill/>
          <a:ln/>
        </p:spPr>
        <p:txBody>
          <a:bodyPr wrap="square" lIns="0" tIns="0" rIns="0" bIns="0" rtlCol="0" anchor="t"/>
          <a:lstStyle/>
          <a:p>
            <a:pPr indent="0" marL="0">
              <a:lnSpc>
                <a:spcPts val="1550"/>
              </a:lnSpc>
              <a:buNone/>
            </a:pPr>
            <a:r>
              <a:rPr lang="en-US" sz="1200" dirty="0">
                <a:solidFill>
                  <a:srgbClr val="C3D2EE"/>
                </a:solidFill>
                <a:latin typeface="Calibri" pitchFamily="34" charset="0"/>
                <a:ea typeface="Calibri" pitchFamily="34" charset="-122"/>
                <a:cs typeface="Calibri" pitchFamily="34" charset="-120"/>
              </a:rPr>
              <a:t>Elige una métrica real de tu trabajo, nombra su distribución y justifica en 5 líneas por qué esa y no otra. Si ninguna calza, explica qué supuesto se rompe.</a:t>
            </a:r>
            <a:endParaRPr lang="en-US" sz="1200" dirty="0"/>
          </a:p>
        </p:txBody>
      </p:sp>
      <p:sp>
        <p:nvSpPr>
          <p:cNvPr id="21" name="Shape 19"/>
          <p:cNvSpPr/>
          <p:nvPr/>
        </p:nvSpPr>
        <p:spPr>
          <a:xfrm>
            <a:off x="6035040" y="4709160"/>
            <a:ext cx="5212080" cy="1371600"/>
          </a:xfrm>
          <a:prstGeom prst="roundRect">
            <a:avLst>
              <a:gd name="adj" fmla="val 4667"/>
            </a:avLst>
          </a:prstGeom>
          <a:solidFill>
            <a:srgbClr val="0F3573"/>
          </a:solidFill>
          <a:ln w="12700">
            <a:solidFill>
              <a:srgbClr val="1E4A94"/>
            </a:solidFill>
            <a:prstDash val="solid"/>
          </a:ln>
        </p:spPr>
      </p:sp>
      <p:sp>
        <p:nvSpPr>
          <p:cNvPr id="22" name="Text 20"/>
          <p:cNvSpPr/>
          <p:nvPr/>
        </p:nvSpPr>
        <p:spPr>
          <a:xfrm>
            <a:off x="6263640" y="4828032"/>
            <a:ext cx="4709160" cy="274320"/>
          </a:xfrm>
          <a:prstGeom prst="rect">
            <a:avLst/>
          </a:prstGeom>
          <a:noFill/>
          <a:ln/>
        </p:spPr>
        <p:txBody>
          <a:bodyPr wrap="square" lIns="0" tIns="0" rIns="0" bIns="0" rtlCol="0" anchor="ctr"/>
          <a:lstStyle/>
          <a:p>
            <a:pPr indent="0" marL="0">
              <a:buNone/>
            </a:pPr>
            <a:r>
              <a:rPr lang="en-US" sz="1250" b="1" dirty="0">
                <a:solidFill>
                  <a:srgbClr val="E6115E"/>
                </a:solidFill>
                <a:latin typeface="Calibri" pitchFamily="34" charset="0"/>
                <a:ea typeface="Calibri" pitchFamily="34" charset="-122"/>
                <a:cs typeface="Calibri" pitchFamily="34" charset="-120"/>
              </a:rPr>
              <a:t>Clase 2 · Variables continuas</a:t>
            </a:r>
            <a:endParaRPr lang="en-US" sz="1250" dirty="0"/>
          </a:p>
        </p:txBody>
      </p:sp>
      <p:sp>
        <p:nvSpPr>
          <p:cNvPr id="23" name="Text 21"/>
          <p:cNvSpPr/>
          <p:nvPr/>
        </p:nvSpPr>
        <p:spPr>
          <a:xfrm>
            <a:off x="6263640" y="5138928"/>
            <a:ext cx="4754880" cy="868680"/>
          </a:xfrm>
          <a:prstGeom prst="rect">
            <a:avLst/>
          </a:prstGeom>
          <a:noFill/>
          <a:ln/>
        </p:spPr>
        <p:txBody>
          <a:bodyPr wrap="square" lIns="0" tIns="0" rIns="0" bIns="0" rtlCol="0" anchor="t"/>
          <a:lstStyle/>
          <a:p>
            <a:pPr indent="0" marL="0">
              <a:lnSpc>
                <a:spcPts val="1550"/>
              </a:lnSpc>
              <a:buNone/>
            </a:pPr>
            <a:r>
              <a:rPr lang="en-US" sz="1200" dirty="0">
                <a:solidFill>
                  <a:srgbClr val="C3D2EE"/>
                </a:solidFill>
                <a:latin typeface="Calibri" pitchFamily="34" charset="0"/>
                <a:ea typeface="Calibri" pitchFamily="34" charset="-122"/>
                <a:cs typeface="Calibri" pitchFamily="34" charset="-120"/>
              </a:rPr>
              <a:t>Densidades, esperanza como integral, Uniforme y Exponencial. Y la pregunta que dejamos abierta: si P(X = k) = 0, ¿qué significa entonces la densidad?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1 - Del dato a la variable aleatoria</dc:title>
  <dc:subject>PptxGenJS Presentation</dc:subject>
  <dc:creator>Data Science PE</dc:creator>
  <cp:lastModifiedBy>Data Science PE</cp:lastModifiedBy>
  <cp:revision>1</cp:revision>
  <dcterms:created xsi:type="dcterms:W3CDTF">2026-07-27T20:30:54Z</dcterms:created>
  <dcterms:modified xsi:type="dcterms:W3CDTF">2026-07-27T20:30:54Z</dcterms:modified>
</cp:coreProperties>
</file>