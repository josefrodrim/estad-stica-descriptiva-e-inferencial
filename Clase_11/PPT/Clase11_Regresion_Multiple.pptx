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222" d="100"/>
          <a:sy n="222" d="100"/>
        </p:scale>
        <p:origin x="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28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Arranca con la conexión a la Clase 9: '¿se acuerdan de que la app ganaba en cada segmento pero perdía en el total? Hoy tenemos la herramienta que resuelve eso'. Y anuncia la segunda mitad, que es nueva en todo el curso: hasta ahora describíamos e inferíamos; hoy además predecimos, y predecir obliga a comprobar que el modelo funcione con datos que no ha visto.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tarjeta de abajo plantea el caso y ya contiene la trampa. Léela completa y deja que la última frase quede en el aire: 'esos dos efectos se cancelan y no ves nada'. En la slide 5 lo van a ver con números.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Advierte del cambio de ritmo: el laboratorio es de 55 minutos porque hay dos temas. Si vas retrasado, el bloque 3 (R² ajustado) es el que se comprime: se puede decir en dos frases y dejar la tabla para el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el caso y deja clara la estructura: hay una variable que nos interesa (experiencia), una que hay que controlar (complejidad) y una que explicamos (tiempo). Los dos efectos opuestos son la clave, y conviene dibujarlos en la pizarra con dos flechas. Después pregunta: '¿qué creen que va a salir si hacemos la regresión solo con experiencia?'.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Muestra primero solo la tarjeta izquierda y deja que el grupo saque la conclusión: 'la experiencia no importa'. Es lo que diría cualquiera que hiciera ese análisis, y está bien calculado. Después la derecha. El contraste del coeficiente pasando de −0.006 a −0.223 es el momento de la clase. Y remata con la conexión a Simpson, que es el arco narrativo del módulo.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slide es corta pero es la que hay que decir despacio. La frase 'manteniendo lo demás constante' se repite tres veces en la slide a propósito. Pídeles que la digan en voz alta al interpretar el coeficiente de complejidad: '2.07 días más por punto de complejidad, para analistas con la misma experiencia'.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experimento es deliberadamente brutal: columnas de números aleatorios. Pregunta antes de mostrar la tabla: '¿qué creen que le pasa al R² si agrego 20 columnas de basura?'. Algunos dirán que baja, otros que se queda igual. Sube. Y ese es el motivo de que R² no sirva para comparar modelos de distinto tamaño.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analogía que funciona: 'es como estudiar para un examen. Si te evalúas con los mismos ejercicios que ya resolviste, vas a sacar excelente y no vas a saber nada. El examen de verdad son ejercicios que no viste.' Sobre random_state: sirve para que la división sea siempre la misma y el análisis sea reproducible. Sin él, cada ejecución da resultados un poco distintos.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tabla se lee por columnas: entrenamiento y prueba. Aquí los dos valores son parecidos, y eso es la señal de que el modelo está bien. En la slide siguiente van a ver qué pasa cuando NO lo están. La tarjeta magenta es lo más accionable: el RMSE está en días y se entiende sin explicación.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 la tabla en pantalla y recorre las dos columnas de R² con el puntero, de arriba abajo. Una sube, la otra se derrumba. El número que hay que decir en voz alta: el modelo de 22 variables tiene un R² de 0.85 en entrenamiento y de 0.21 en prueba. Si solo miraras el primero, dirías que es el mejor modelo de los cinco. Y el error en días pasó de 1.28 a 1.99: en la práctica, un 55 %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firmas son fáciles de recordar y se aplican a cualquier modelo, no solo a regresión. La regla de 10 a 20 observaciones por variable no es una ley, es una referencia. Y la tarjeta final conecta con la Clase 5: meter variables 'a ver qué pasa' es p-hacking con otro nombre.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ya se explicaron. Esta slide es el recordatorio antes del Colab. El tercero es el más frecuente en informes internos y el más fácil de corregir: basta con reportar la métrica de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 'slide para fotografiar'. El paso 1 va primero a propósito: separar ANTES de explorar evita que uno se contamine mirando los datos de prueba. El paso 4 está en magenta porque es el único número que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 el aula durante el bloque 4: ahí es donde se confunden con el orden de las cuatro cosas que devuelve train_test_split. El bloque 5 reutiliza los mismos índices de entrenamiento y prueba del bloque 4, lo cual es importante: si se dividieran otra vez, la comparación no sería justa.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las dos versiones en voz alta. El punto más importante del checklist es el segundo: decir explícitamente si la métrica es de entrenamiento o de prueba. En muchos informes no se aclara, y eso hace imposible juzgar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 los cinco números del día: cuentan la historia completa de la sesión. Las tres últimas filas son el mismo experimento visto de tres formas, y solo la tercera dice la verdad. El anuncio de la Clase 12 conviene hacerlo con el ejemplo de scorecard, porque conecta directo con su trabajo.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2798576"/>
            <a:ext cx="1005840" cy="0"/>
          </a:xfrm>
          <a:prstGeom prst="line">
            <a:avLst/>
          </a:prstGeom>
          <a:noFill/>
          <a:ln w="38100">
            <a:solidFill>
              <a:srgbClr val="3A6B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2897014"/>
            <a:ext cx="1005840" cy="430231"/>
          </a:xfrm>
          <a:prstGeom prst="line">
            <a:avLst/>
          </a:prstGeom>
          <a:noFill/>
          <a:ln w="38100">
            <a:solidFill>
              <a:srgbClr val="E611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58200" y="2625572"/>
            <a:ext cx="1005840" cy="0"/>
          </a:xfrm>
          <a:prstGeom prst="line">
            <a:avLst/>
          </a:prstGeom>
          <a:noFill/>
          <a:ln w="38100">
            <a:solidFill>
              <a:srgbClr val="3A6B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3327246"/>
            <a:ext cx="1005840" cy="353251"/>
          </a:xfrm>
          <a:prstGeom prst="line">
            <a:avLst/>
          </a:prstGeom>
          <a:noFill/>
          <a:ln w="38100">
            <a:solidFill>
              <a:srgbClr val="E611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2570854"/>
            <a:ext cx="1005840" cy="0"/>
          </a:xfrm>
          <a:prstGeom prst="line">
            <a:avLst/>
          </a:prstGeom>
          <a:noFill/>
          <a:ln w="38100">
            <a:solidFill>
              <a:srgbClr val="3A6B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0" y="3680497"/>
            <a:ext cx="1005840" cy="48280"/>
          </a:xfrm>
          <a:prstGeom prst="line">
            <a:avLst/>
          </a:prstGeom>
          <a:noFill/>
          <a:ln w="38100">
            <a:solidFill>
              <a:srgbClr val="E611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69880" y="2543763"/>
            <a:ext cx="1005840" cy="0"/>
          </a:xfrm>
          <a:prstGeom prst="line">
            <a:avLst/>
          </a:prstGeom>
          <a:noFill/>
          <a:ln w="38100">
            <a:solidFill>
              <a:srgbClr val="3A6B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69880" y="3728777"/>
            <a:ext cx="1005840" cy="416820"/>
          </a:xfrm>
          <a:prstGeom prst="line">
            <a:avLst/>
          </a:prstGeom>
          <a:noFill/>
          <a:ln w="38100">
            <a:solidFill>
              <a:srgbClr val="E611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97496" y="27437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A6BB5"/>
          </a:solidFill>
          <a:ln w="12700">
            <a:solidFill>
              <a:srgbClr val="3A6B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97496" y="284215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03336" y="257070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A6BB5"/>
          </a:solidFill>
          <a:ln w="12700">
            <a:solidFill>
              <a:srgbClr val="3A6B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03336" y="327238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09176" y="251599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A6BB5"/>
          </a:solidFill>
          <a:ln w="12700">
            <a:solidFill>
              <a:srgbClr val="3A6B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09176" y="362563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415016" y="2488899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A6BB5"/>
          </a:solidFill>
          <a:ln w="12700">
            <a:solidFill>
              <a:srgbClr val="3A6B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15016" y="367391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20856" y="235264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A6BB5"/>
          </a:solidFill>
          <a:ln w="12700">
            <a:solidFill>
              <a:srgbClr val="3A6B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20856" y="4090733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21240" y="2114897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6E9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921240" y="4200461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52360" y="44074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variables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188720"/>
            <a:ext cx="283464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11887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· CLASE 11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173736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variables,</a:t>
            </a:r>
            <a:endParaRPr lang="en-US" sz="37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 modelo que sirva</a:t>
            </a:r>
            <a:endParaRPr lang="en-US" sz="3700" dirty="0"/>
          </a:p>
        </p:txBody>
      </p:sp>
      <p:sp>
        <p:nvSpPr>
          <p:cNvPr id="26" name="Text 24"/>
          <p:cNvSpPr/>
          <p:nvPr/>
        </p:nvSpPr>
        <p:spPr>
          <a:xfrm>
            <a:off x="713232" y="356616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múltiple y validación de modelos:</a:t>
            </a:r>
            <a:endParaRPr lang="en-US" sz="15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5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variables, y comprobar que el modelo funciona con datos que nunca vio.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5029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" y="5394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sesión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044952" y="5029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mitades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3044952" y="5394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y validar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76672" y="50292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casos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76672" y="5394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fraude resueltos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C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Descriptiva e Inferencial · 37 horas académicas · 14 sesiones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ESTAMOS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temas en una clase, y los dos hacen falta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primero resuelve un problema que arrastramos desde la Clase 9. El segundo es nuevo en todo el curso.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22392" cy="2148840"/>
          </a:xfrm>
          <a:prstGeom prst="roundRect">
            <a:avLst>
              <a:gd name="adj" fmla="val 2553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579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MITAD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múltiple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04672" y="28712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meto varias variables en un modelo, y qué significa cada coeficiente?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" y="3584448"/>
            <a:ext cx="4846320" cy="0"/>
          </a:xfrm>
          <a:prstGeom prst="line">
            <a:avLst/>
          </a:prstGeom>
          <a:noFill/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6758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el problema de la variable de confusión: la paradoja de Simpson.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2011680"/>
            <a:ext cx="5422392" cy="2148840"/>
          </a:xfrm>
          <a:prstGeom prst="roundRect">
            <a:avLst>
              <a:gd name="adj" fmla="val 2553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1579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MITAD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73952" y="2432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73952" y="2871216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sé si mi modelo sirve de verdad, y no solo con los datos que ya vio?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73952" y="3584448"/>
            <a:ext cx="4846320" cy="0"/>
          </a:xfrm>
          <a:prstGeom prst="line">
            <a:avLst/>
          </a:prstGeom>
          <a:noFill/>
          <a:ln w="12700">
            <a:solidFill>
              <a:srgbClr val="2E5A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36758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pregunta que separa un análisis de un modelo que se pone en </a:t>
            </a:r>
            <a:r>
              <a:rPr lang="en-US" sz="1150" b="1" i="1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</a:t>
            </a:r>
            <a:r>
              <a:rPr lang="en-US" sz="1150" i="1" dirty="0">
                <a:solidFill>
                  <a:srgbClr val="8F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60857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4507992"/>
            <a:ext cx="10277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de hoy, que conecta las dos mitades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4873752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analistas de la Clase 10, pero ahora con 60 casos y una variable más: la complejidad del caso.</a:t>
            </a:r>
            <a:endParaRPr lang="en-US" sz="1250" dirty="0"/>
          </a:p>
          <a:p>
            <a:pPr marL="0" indent="0" algn="l">
              <a:lnSpc>
                <a:spcPct val="115000"/>
              </a:lnSpc>
              <a:buNone/>
            </a:pPr>
            <a:endParaRPr lang="en-US" sz="125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hay un detalle que lo cambia todo: a los analistas con más experiencia se les asignan los casos más difíciles. Si miras solo la experiencia, esos dos efectos se cancelan y no ves nada.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repartimos los 120 minutos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clase tiene dos temas, así que el laboratorio es un poco más largo de lo habitual.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7223760" cy="312724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caso y el problema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variable dice una cosa, dos dicen otra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leen los coeficientes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siempre sube · R² ajustado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Entrenamiento y prueba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Sobreajuste, demostrado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Laboratorio en Colab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01000" y="2011680"/>
            <a:ext cx="3639312" cy="2103120"/>
          </a:xfrm>
          <a:prstGeom prst="roundRect">
            <a:avLst>
              <a:gd name="adj" fmla="val 2609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47888" y="231343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85632" y="221284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te llevas hoy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47888" y="260604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una variable metiéndola al modelo.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coeficientes correctamente.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entrenamiento y prueba.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sobreajuste.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001000" y="4297680"/>
            <a:ext cx="3639312" cy="1892808"/>
          </a:xfrm>
          <a:prstGeom prst="roundRect">
            <a:avLst>
              <a:gd name="adj" fmla="val 2899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47888" y="456285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85632" y="446227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librerías de hoy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47888" y="4828032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 — para ver los coeficientes con sus p-valores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— para separar los datos y medir el error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vienen en Colab.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casos de fraude, tres columnas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analistas de la clase pasada, pero ahora sabemos también qué tan difícil era cada caso.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20116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 papel en el 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que lleva el analista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 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que nos interesa medir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puntaje del caso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 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que hay que controlar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que tardó en resolverse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A25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que queremos explicar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34924" y="4128516"/>
            <a:ext cx="5468112" cy="1207008"/>
          </a:xfrm>
          <a:prstGeom prst="roundRect">
            <a:avLst>
              <a:gd name="adj" fmla="val 4545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427024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416966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detalle que lo cambia todo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4535424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FF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 analistas con más experiencia se les asignan los casos más difíciles. La correlación entre experiencia y complejidad es de 0.81.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57900" y="4138162"/>
            <a:ext cx="5554980" cy="1207008"/>
          </a:xfrm>
          <a:prstGeom prst="roundRect">
            <a:avLst>
              <a:gd name="adj" fmla="val 4545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19088" y="427024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16966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por eso hay dos efectos opuestos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19088" y="4535424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experiencia  →  resuelve más rápido</a:t>
            </a:r>
            <a:endParaRPr lang="en-US" sz="12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experiencia  →  casos más difíciles  →  tarda más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54406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54406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efectos se cancelan. Si miras solo la experiencia, el resultado neto es casi cero — y concluirías que la experiencia no sirve de nada.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65760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EL DESCUBRIMIENTO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dato, dos modelos, conclusiones opuestas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cálculos están perfectamente bien hechos.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2064" y="2066544"/>
            <a:ext cx="5468112" cy="2057400"/>
          </a:xfrm>
          <a:prstGeom prst="roundRect">
            <a:avLst>
              <a:gd name="adj" fmla="val 2667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30428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20370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1 · solo experiencia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587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tiempo = a + b · experiencia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2889504"/>
            <a:ext cx="4983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 = −0.006</a:t>
            </a:r>
            <a:endParaRPr lang="en-US" sz="13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p-valor = 0.82</a:t>
            </a:r>
            <a:endParaRPr lang="en-US" sz="13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0.001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04672" y="380390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experiencia no tiene relación con el tiempo.»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057400"/>
            <a:ext cx="5468112" cy="2057400"/>
          </a:xfrm>
          <a:prstGeom prst="roundRect">
            <a:avLst>
              <a:gd name="adj" fmla="val 2667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19088" y="230428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56832" y="220370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2 · experiencia + complejidad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19088" y="2587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tiempo = a + b₁ · experiencia + b₂ · complejidad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19088" y="2889504"/>
            <a:ext cx="49834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coef. experiencia = −0.223</a:t>
            </a:r>
            <a:endParaRPr lang="en-US" sz="13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coef. complejidad = 2.069</a:t>
            </a:r>
            <a:endParaRPr lang="en-US" sz="13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0.708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19088" y="380390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i="1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«Cada mes de experiencia ahorra un cuarto de día.»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79392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27939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la experiencia pasó de −0.006 a −0.223.   De irrelevante (p = 0.82) a contundente (p &lt; 0.001).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5285232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51383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5413248"/>
            <a:ext cx="7077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pasa, y por qué ya lo conoces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" y="5742432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paradoja de Simpson de la Clase 9, con variables numéricas. La complejidad influye en el tiempo Y está relacionada con la experiencia. Al no incluirla, su efecto se cuela dentro del coeficiente de experiencia y lo contamina.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frase que hay que memorizar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único que distingue de verdad la regresión múltiple de la simple.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coeficiente dice cuánto cambia y cuando esa variable sube una unidad</a:t>
            </a:r>
            <a:endParaRPr lang="en-US" sz="15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TODAS LAS DEMÁS SE MANTIENEN CONSTANTES.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1546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A25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tiempo  =  11.78  −0.223 × experiencia  +  2.069 × complejidad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206240"/>
            <a:ext cx="542239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37083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5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−0.223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48840" y="43708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4828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mes más de experiencia, el caso se resuelve 0.22 días más rápido…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77240" y="5266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…para casos de la MISMA complejidad.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4206240"/>
            <a:ext cx="542239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437083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611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2.069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818120" y="43708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4828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cada punto más de complejidad, el caso tarda 2.07 días más…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46520" y="5266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…para analistas con la MISMA experiencia.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80644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80644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parte en negrita es todo el valor de la técnica. Sin ella, el coeficiente de experiencia era casi cero.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siempre sube, aunque agregues basura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comprobarlo agregando 20 columnas de números aleatorios que no miden nada.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949440" cy="241401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en el 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ellas, ruido puro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ajustado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5B6B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2057400"/>
            <a:ext cx="4005072" cy="1481328"/>
          </a:xfrm>
          <a:prstGeom prst="roundRect">
            <a:avLst>
              <a:gd name="adj" fmla="val 3704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6" name="Shape 5"/>
          <p:cNvSpPr/>
          <p:nvPr/>
        </p:nvSpPr>
        <p:spPr>
          <a:xfrm>
            <a:off x="7882128" y="232257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19872" y="222199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columna del R²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82128" y="258775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FF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siempre: de 0.708 a 0.794.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FF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todo lo que agregamos son números al azar que no miden absolutamente nada.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400507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82128" y="396849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19872" y="3867912"/>
            <a:ext cx="3328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del R² ajustado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882128" y="4233672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un poco y después baja: de 0.698 a 0.671.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castiga por cada variable que agregas.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617720"/>
            <a:ext cx="6949440" cy="960120"/>
          </a:xfrm>
          <a:prstGeom prst="roundRect">
            <a:avLst>
              <a:gd name="adj" fmla="val 5714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4672" y="4855464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42416" y="4754880"/>
            <a:ext cx="5705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pasa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04672" y="5084064"/>
            <a:ext cx="6446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suficientes variables, alguna se parecerá por azar a lo que quieres explicar. Con 60 datos y 22 variables, la recta tiene mucho margen para acomodarse.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571500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regla: nunca compares dos modelos con distinto número de variables usando R² a secas. Usa R² ajustado… o mejor aún, lo del bloque siguiente.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84048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LA SEGUNDA MITAD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datos que el modelo nunca verá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idea más importante del análisis predictivo, y es puro sentido común.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1091672" cy="914400"/>
          </a:xfrm>
          <a:prstGeom prst="roundRect">
            <a:avLst>
              <a:gd name="adj" fmla="val 6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116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modelo solo funciona con los datos que ya conoce, no sirve para nada.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200400"/>
            <a:ext cx="6592824" cy="777240"/>
          </a:xfrm>
          <a:prstGeom prst="rect">
            <a:avLst/>
          </a:prstGeom>
          <a:solidFill>
            <a:srgbClr val="1A56E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3200400"/>
            <a:ext cx="6592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  ·   42 casos   ·   70 %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64424" y="3200400"/>
            <a:ext cx="2825496" cy="777240"/>
          </a:xfrm>
          <a:prstGeom prst="rect">
            <a:avLst/>
          </a:prstGeom>
          <a:solidFill>
            <a:srgbClr val="E611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64424" y="3200400"/>
            <a:ext cx="28254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  ·   18   ·   30 %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71600" y="29077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casos en total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22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46227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389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aprende de aquí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86384" y="473659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estos datos, ajusta sus coeficientes y se queda con ellos.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4297680"/>
            <a:ext cx="542239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55664" y="446227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4389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NUNCA los ve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55664" y="473659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guardan aparte. Solo se usan al final, para comprobar si el modelo predice bien casos nuevos.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X_train, X_test, y_train, y_test = train_test_split(X, y, test_size=0.3, random_state=42)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números para medir qué tan bien predice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que importa es siempre el de la columna de prueba.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190195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mide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Entrenamiento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lee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fracción de variación explicada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alto es mejor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típico, en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bajo es mejor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absoluto promedio, en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bajo es mejor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058630"/>
            <a:ext cx="5468112" cy="1427770"/>
          </a:xfrm>
          <a:prstGeom prst="roundRect">
            <a:avLst>
              <a:gd name="adj" fmla="val 4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424281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414223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lee este resultado</a:t>
            </a:r>
            <a:endParaRPr lang="en-US" sz="1400" dirty="0"/>
          </a:p>
        </p:txBody>
      </p:sp>
      <p:sp>
        <p:nvSpPr>
          <p:cNvPr id="6" name="Text 7"/>
          <p:cNvSpPr/>
          <p:nvPr/>
        </p:nvSpPr>
        <p:spPr>
          <a:xfrm>
            <a:off x="804672" y="4507992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explica el 67 % de la variación en casos que nunca vio, con un error típico de 1.3 días.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su rendimiento en prueba es parecido al de entrenamiento: eso significa que generaliza.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72200" y="4058630"/>
            <a:ext cx="5468112" cy="142777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19088" y="424281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14223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o MAE, ¿cuál reportar?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19088" y="4507992"/>
            <a:ext cx="4983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castiga más los errores grandes, porque eleva al cuadrado. MAE los trata a todos igual.</a:t>
            </a: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endParaRPr lang="en-US" sz="115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error de 10 días duele mucho más que dos de 5, usa RMSE.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614416"/>
            <a:ext cx="11091672" cy="777240"/>
          </a:xfrm>
          <a:prstGeom prst="roundRect">
            <a:avLst>
              <a:gd name="adj" fmla="val 705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siempre el error en unidades del negocio. «RMSE = 1.28 días» se entiende; «R² = 0.67» hay que traducirlo.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EL CLÍMAX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que parece mejor y es mucho peor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mismas 20 columnas de ruido del bloque 3. Ahora medimos qué pasa en datos nuevos.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25237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en entrenamiento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en PRUEBA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en prueba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B8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1.282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1.564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1.762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1.788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5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1.994 días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617720"/>
            <a:ext cx="5468112" cy="1188720"/>
          </a:xfrm>
          <a:prstGeom prst="roundRect">
            <a:avLst>
              <a:gd name="adj" fmla="val 4615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486460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2416" y="476402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las dos columnas de R²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5093208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entrenamiento SUBE:  0.709 → 0.855</a:t>
            </a:r>
            <a:endParaRPr lang="en-US" sz="12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prueba SE DESPLOMA:  0.672 → 0.207</a:t>
            </a:r>
            <a:endParaRPr lang="en-US" sz="1250" dirty="0"/>
          </a:p>
        </p:txBody>
      </p:sp>
      <p:sp>
        <p:nvSpPr>
          <p:cNvPr id="6" name="Shape 8"/>
          <p:cNvSpPr/>
          <p:nvPr/>
        </p:nvSpPr>
        <p:spPr>
          <a:xfrm>
            <a:off x="6172200" y="4617720"/>
            <a:ext cx="5468112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19088" y="486460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764024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se llama SOBREAJUSTE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19088" y="509320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memorizó el ruido de los datos de entrenamiento en lugar de aprender el patrón. Y como el ruido es distinto en cada conjunto, lo memorizado no sirve.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589788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58978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rendimiento en los datos de entrenamiento NO dice si un modelo sirve. Solo lo dice el rendimiento en datos que nunca vio.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reconocerlo, y qué hacer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sobreajuste tiene una firma inconfundible cuando comparas las dos columnas.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7685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1854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ajustado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66160" y="2331720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E9EE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23317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≈ R² test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17920" y="2331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aprendió el patrón. Es lo que quieres.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191256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341071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319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Sobreajustado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566160" y="3465576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E611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34655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≫ R² test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17920" y="34655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Memorizó el ruido. Quita variables o consigue más datos.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25112"/>
            <a:ext cx="11091672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4544568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9A6B00"/>
          </a:solidFill>
          <a:ln w="12700">
            <a:solidFill>
              <a:srgbClr val="9A6B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Subajustado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66160" y="4599432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E9EE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459943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bajos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217920" y="45994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 demasiado simple. Faltan variables relevantes.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5468112" cy="868680"/>
          </a:xfrm>
          <a:prstGeom prst="roundRect">
            <a:avLst>
              <a:gd name="adj" fmla="val 6316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75157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565099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práctica de cuántas variables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59436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60 datos, más de 6 u 8 variables ya es arriesgado. La referencia habitual es al menos 10 o 20 observaciones por variable.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5532120"/>
            <a:ext cx="5468112" cy="868680"/>
          </a:xfrm>
          <a:prstGeom prst="roundRect">
            <a:avLst>
              <a:gd name="adj" fmla="val 6316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19088" y="575157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56832" y="565099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pregunta de siempre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19088" y="59436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agregar una variable: ¿tengo una razón para pensar que influye, o la estoy metiendo a ver qué pasa?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9184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LABORATORIO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errores que evita esta clase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se cometen con el código perfectamente correcto.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58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2585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89888" y="2221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Omitir una variable importante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22768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la que sí miras queda contaminado con el efecto de la que falta. En nuestro caso, la experiencia pasaba de irrelevante a contundente según se incluyera la complejidad.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3630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3630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89888" y="35935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modelos con R²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36484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gana el que tiene más variables, aunque sean basura. Usa R² ajustado o, mejor, el rendimiento en datos de prueba.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50017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5001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89888" y="49651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Reportar el rendimiento en entrenamiento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0" y="50200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como calificar un examen con las respuestas a la vista. El único número que cuenta es el de los datos que el modelo no vio.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26364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tienen la misma raíz: confundir «el modelo se ajusta bien a mis datos» con «el modelo funciona».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CHULETA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completo, y el código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slide que vas a fotografiar.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854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61872" y="208483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los datos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2121408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mirar nada, aparta el 30 %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0" y="2121408"/>
            <a:ext cx="4617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train_test_split(X, y, test_size=0.3, random_state=42)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798064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718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61872" y="287121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290779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 los datos de entrenamiento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12280" y="2907792"/>
            <a:ext cx="4617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 = LinearRegression().fit(X_train, y_train)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584448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75818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61872" y="36576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los coeficientes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3694176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«manteniendo lo demás constante»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12280" y="3694176"/>
            <a:ext cx="4617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modelo.coef_ , modelo.intercept_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370832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54456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544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261872" y="44439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 en PRUEBA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840480" y="4480560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único número que cuenta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12280" y="4480560"/>
            <a:ext cx="4617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r2_score(y_test, modelo.predict(X_test))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5157216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53309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261872" y="523036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en unidades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840480" y="526694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en días, en soles, en lo que sea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12280" y="5266944"/>
            <a:ext cx="4617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5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np.sqrt(mean_squared_error(...))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598932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5989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la pregunta que va antes de todo:  ¿qué variable falta en mi modelo, y está relacionada con la que me interesa?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55 MIN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cinco bloques del notebook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genera dentro del notebook: no hay que descargar nada.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1109167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2677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167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contra múltiple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0" y="216712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32120" y="21945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el coeficiente de experiencia pasar de −0.006 a −0.223 al añadir la complejidad.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07792"/>
            <a:ext cx="11091672" cy="731520"/>
          </a:xfrm>
          <a:prstGeom prst="roundRect">
            <a:avLst>
              <a:gd name="adj" fmla="val 7500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090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98448" y="29900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los coeficientes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299008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32120" y="30175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 la ecuación y traduces cada número a una frase de negocio.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30752"/>
            <a:ext cx="1109167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13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913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38130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y R² ajustado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0" y="381304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2120" y="384048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Agregas 20 columnas de ruido puro y ves subir el R².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553712"/>
            <a:ext cx="11091672" cy="731520"/>
          </a:xfrm>
          <a:prstGeom prst="roundRect">
            <a:avLst>
              <a:gd name="adj" fmla="val 7500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736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736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6360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 y prueba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72000" y="463600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32120" y="466344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Separas los datos, entrenas y mides R², RMSE y MAE.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376672"/>
            <a:ext cx="11091672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" y="555955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559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98448" y="545896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Sobreajuste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572000" y="5458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532120" y="548640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Repites el modelo con ruido y ves el R² de prueba caer de 0.67 a 0.21.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6263640"/>
            <a:ext cx="11091672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65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ESPERA DE TI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reporta un modelo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lo de hoy ya puedes escribir el informe completo de un modelo predictivo.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468112" cy="1600200"/>
          </a:xfrm>
          <a:prstGeom prst="roundRect">
            <a:avLst>
              <a:gd name="adj" fmla="val 3429"/>
            </a:avLst>
          </a:prstGeom>
          <a:solidFill>
            <a:srgbClr val="E9EEF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27685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17627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incompleta — la habitual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56032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i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«Se ajustó un modelo de regresión con R² = 0.79 que explica el tiempo de resolución.»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04672" y="312724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falta: si ese R² es de entrenamiento o de prueba, cuántas variables tiene, y cuánto se equivoca en días.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68112" cy="1600200"/>
          </a:xfrm>
          <a:prstGeom prst="roundRect">
            <a:avLst>
              <a:gd name="adj" fmla="val 3429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227685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56832" y="2176272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completa — la auditable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19088" y="2560320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050" i="1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«Modelo lineal con dos variables sobre 60 casos (42 de entrenamiento, 18 de prueba). En prueba: R² = 0.67, RMSE = 1.28 días. Manteniendo constante la complejidad, cada mes de experiencia reduce el tiempo en 0.22 días (p &lt; 0.001).»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96849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6791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datos y cómo se dividieron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" y="427024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casos, 70/30. Sin esto no se puede evaluar nada.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379476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98848" y="396849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6791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métrica en PRUEBA, no en entrenamiento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98848" y="427024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decir explícitamente cuál de las dos 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379476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396849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386791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en unidades del negocio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47888" y="427024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en días. El R² hay que traducirlo; el RMSE no.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928616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" y="510235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0017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coeficientes con su interpretación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49808" y="54041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Incluida la frase «manteniendo lo demás constante».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97680" y="4928616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8848" y="510235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50017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Cuántas variables tiene el modelo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498848" y="54041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juzgar si hay riesgo de sobreajuste.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092440" y="4928616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47888" y="510235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03920" y="50017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variables se consideraron y se descartaron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47888" y="54041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permite juzgar si falta alguna.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sexto punto es el que más cuesta y el que más credibilidad da: decir qué se consideró y no entró.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171566"/>
            <a:ext cx="617220" cy="0"/>
          </a:xfrm>
          <a:prstGeom prst="line">
            <a:avLst/>
          </a:prstGeom>
          <a:noFill/>
          <a:ln w="31750">
            <a:solidFill>
              <a:srgbClr val="3A6B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1229734"/>
            <a:ext cx="617220" cy="254228"/>
          </a:xfrm>
          <a:prstGeom prst="line">
            <a:avLst/>
          </a:prstGeom>
          <a:noFill/>
          <a:ln w="31750">
            <a:solidFill>
              <a:srgbClr val="E611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61220" y="1069336"/>
            <a:ext cx="617220" cy="0"/>
          </a:xfrm>
          <a:prstGeom prst="line">
            <a:avLst/>
          </a:prstGeom>
          <a:noFill/>
          <a:ln w="31750">
            <a:solidFill>
              <a:srgbClr val="3A6B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61220" y="1483961"/>
            <a:ext cx="617220" cy="208739"/>
          </a:xfrm>
          <a:prstGeom prst="line">
            <a:avLst/>
          </a:prstGeom>
          <a:noFill/>
          <a:ln w="31750">
            <a:solidFill>
              <a:srgbClr val="E611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78440" y="1037003"/>
            <a:ext cx="617220" cy="0"/>
          </a:xfrm>
          <a:prstGeom prst="line">
            <a:avLst/>
          </a:prstGeom>
          <a:noFill/>
          <a:ln w="31750">
            <a:solidFill>
              <a:srgbClr val="3A6B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1692701"/>
            <a:ext cx="617220" cy="28529"/>
          </a:xfrm>
          <a:prstGeom prst="line">
            <a:avLst/>
          </a:prstGeom>
          <a:noFill/>
          <a:ln w="31750">
            <a:solidFill>
              <a:srgbClr val="E611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95660" y="1020995"/>
            <a:ext cx="617220" cy="0"/>
          </a:xfrm>
          <a:prstGeom prst="line">
            <a:avLst/>
          </a:prstGeom>
          <a:noFill/>
          <a:ln w="31750">
            <a:solidFill>
              <a:srgbClr val="3A6B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95660" y="1721230"/>
            <a:ext cx="617220" cy="246303"/>
          </a:xfrm>
          <a:prstGeom prst="line">
            <a:avLst/>
          </a:prstGeom>
          <a:noFill/>
          <a:ln w="31750">
            <a:solidFill>
              <a:srgbClr val="E611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45720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572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8 MIN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 llevas una sola cosa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48640" y="15727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500" i="1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que se ajusta bien a tus datos no es un modelo que funciona. Solo lo demuestra prediciendo datos que nunca vio.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5468112" cy="2377440"/>
          </a:xfrm>
          <a:prstGeom prst="roundRect">
            <a:avLst>
              <a:gd name="adj" fmla="val 2308"/>
            </a:avLst>
          </a:prstGeom>
          <a:solidFill>
            <a:srgbClr val="061834"/>
          </a:solidFill>
          <a:ln w="12700">
            <a:solidFill>
              <a:srgbClr val="1A3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49631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2416" y="2395728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números del día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28346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Coef. experiencia, solo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2834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−0.006  (p = 0.82)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4672" y="31821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Coef. con complejidad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0" y="31821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−0.223  (p &lt; 0.001)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52958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con 2 → con 22 variables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0" y="352958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0.708 → 0.794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38770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ajustado, lo mismo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38770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8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 → 0.671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04672" y="42245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en PRUEBA, lo mismo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0" y="42245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0.672 → 0.207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72200" y="2212848"/>
            <a:ext cx="5468112" cy="2377440"/>
          </a:xfrm>
          <a:prstGeom prst="roundRect">
            <a:avLst>
              <a:gd name="adj" fmla="val 2308"/>
            </a:avLst>
          </a:prstGeom>
          <a:solidFill>
            <a:srgbClr val="061834"/>
          </a:solidFill>
          <a:ln w="12700">
            <a:solidFill>
              <a:srgbClr val="1A3B7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19088" y="2496312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2395728"/>
            <a:ext cx="4791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para la próxima clase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19088" y="2798064"/>
            <a:ext cx="4983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 un modelo o un análisis de tu trabajo donde se explique un número con otro.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Pregúntate: ¿qué variable falta? ¿Hay algo que influya en el resultado Y esté relacionado con la variable que estás usando?</a:t>
            </a: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endParaRPr lang="en-US" sz="115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encuentras, métela en el modelo y mira si el coeficiente original cambia.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0060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061834"/>
          </a:solidFill>
          <a:ln w="12700">
            <a:solidFill>
              <a:srgbClr val="1A3B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4672" y="5065776"/>
            <a:ext cx="118872" cy="118872"/>
          </a:xfrm>
          <a:prstGeom prst="roundRect">
            <a:avLst>
              <a:gd name="adj" fmla="val 30769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4965192"/>
            <a:ext cx="5248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12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4672" y="533095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rgbClr val="C9D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predijimos un NÚMERO: días. En la próxima predecimos un SÍ o un NO: ¿este cliente entrará en mora? ¿esta transacción es fraude? Eso es la regresión logística, el modelo que está detrás de casi todo scorecard de crédito. Y la validación cambia también: ya no sirve el RMSE, y entran la matriz de confusión y el AUC.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172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C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Estadística Descriptiva e Inferencial · Módulo 4 · Clase 11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2842</TotalTime>
  <Words>3523</Words>
  <Application>Microsoft Macintosh PowerPoint</Application>
  <PresentationFormat>Widescreen</PresentationFormat>
  <Paragraphs>405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11 — Regresión múltiple y validación</dc:title>
  <dc:subject>PptxGenJS Presentation</dc:subject>
  <dc:creator>Rodrigo</dc:creator>
  <cp:lastModifiedBy>Josef Rodriguez</cp:lastModifiedBy>
  <cp:revision>4</cp:revision>
  <dcterms:created xsi:type="dcterms:W3CDTF">2026-08-27T00:24:39Z</dcterms:created>
  <dcterms:modified xsi:type="dcterms:W3CDTF">2026-08-28T23:51:10Z</dcterms:modified>
</cp:coreProperties>
</file>